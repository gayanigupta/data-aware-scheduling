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I am going to walk you through my PhD proposal. The talk runs in seven parts: the motivation, the related work and the gap, a precise problem statement, the work we have already finished and what it showed, the research I am proposing, how I plan to evaluate it and when, and finally what the work contributes.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three sections set the problem up. Section four reports the completed work, which is two papers at this point. Sections five and six are the proposal itself, and the last section is what the work contributes.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one. The motivation in one paragraph: time-critical workflows have to run exactly when the network is at its worst, and nearby fog machines, federated together, are the only capacity left.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Imagine a river basin starting to flood. The response workflow, sense, model, forecast, plan, alert, runs as a DAG of dependent tasks. The deadline is not a preference: a forecast that arrives after the water has risen is a forecast nobody uses. And the same event that creates the deadline also degrades or kills the link to the cloud.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single fog site is rarely strong enough for the whole workflow. But nearby sites keep fast, stable links to each other even when the cloud link dies, so federating them creates a small local cloud. The price is a placement choice for every task, and every choice moves data across a link.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things make this problem genuinely hard. The first is data movement: every edge of the DAG carries data, and moving it across a link can take as long as the task itself, so the fastest node can end up being the worst choice. The second is approximation: tasks can run partially, a fraction of the work for a fraction of the accuracy. And the two interact, because placement decides the transfers while fractions decide the runtimes.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PhD is three papers on one arc. The first, published at Cloud Summit 2025, built the model and four schedulers. The second hardened it: data-aware, bounded, stress-tested. The third, which is this proposal, repairs the smallest affected region when a whole resource fails. Each paper answers the question the previous one left open.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two. I will go through four threads of related work: classic DAG scheduling, fog and edge placement, approximate computing, and failure recovery. Then the gap in one table.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reference point is HEFT: rank the tasks, place each one where it finishes earliest. It is a great algorithm, but it assumes tasks always run completely, transfers are static edge weights, and the plan is fixed before execution starts.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fog scheduling literature handles capacity, eligibility and heterogeneity across the continuum. What it does not do, for the most part, is treat data movement as a first-class cost, and it treats tasks as atomic: run completely or not at all.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Approximate computing trades quality for time, which is exactly what a tight deadline needs. But that literature assumes the data is already sitting where it needs to be; the cost of moving it is not part of the trade.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thread closest to the proposal. Rescheduling work reconsiders a workflow at chosen points but remaps it globally. Fog studies redistribute tasks when nodes join or leave. And on the graph side, dynamic shortest-path updates repair routing after a change. None of them couples a node failure to the smallest affected region of the task DAG.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column as a capability. The classic schedulers place tasks but neither price data per link nor approximate nor repair. Fog schedulers add some data awareness. Our first two papers add approximation. The last column, repairing only the affected region after a resource fails, is empty. That is the proposal.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three. Before any algorithm, let me define the system model and state the problem formally, both the static core that the completed work solved and the dynamic extension this proposal adds.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graphs. The task graph has the work: execution times, accuracies, eligibility, and data on every edge. The infrastructure graph has the machines and the links between them. A partition maps one onto the other; a failure deletes a node from one graph and strands work in the other.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completed work solved this problem: given the two graphs and a deadline, choose where each task runs and how much of it runs, finish before the deadline, and maximize the average accuracy. It is NP-hard, so the exact solver is the benchmark, not the product.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proposal adds one event to the same model: at time tau a resource fails. The unfinished tasks on it are stranded. Now the question is which part of the DAG actually needs repair and where the stranded work should go, at minimum disturbance. Done work is never redone and healthy placements never move.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four. The completed work as preliminary results: the published Cloud Summit study, then the current data-aware paper. I will show the formulation, the correctness argument, the four schedulers, the experimental setup, and then the five experiments, each with its take-away.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IEEE Cloud Summit 2025. It established the model, placement coupled with data movement, an MILP with correctness proofs, and three scalable schedulers built around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MILP itself. The communication cost is piecewise: D over B when the edge crosses nodes, zero when the tasks are co-located. Each task gets one eligible node; a task waits for its predecessors to finish and for their data to arrive; everything finishes by the deadline; the objective is mean accuracy.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technical details worth your attention. First, the product e times M is linearized with a big-M helper variable z. The subtle constraint is z at least zero: without it, an unassigned node could push z negative and fake an early completion time. Second, five lemmas chain from a unique assignment up to deadline feasibility, and the theorem follows.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method prices transfers the same way, so the differences are algorithmic, not accounting. The MILP is the reference. LP rounding samples each task's node from the fractional solution and then re-solves the fractions. The greedy places ready tasks by earliest finish and retries with a smaller fraction when the deadline is missed. The GA searches assignments and fractions together.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setup before the results. A discrete-event simulator in NumPy with SciPy HiGHS. The parameters are chosen so a transfer can genuinely rival a task, which is the regime that matters. Four datasets, five sweeps, five fresh instances per point, and the score is measured against a max-accuracy bound.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the deadline barely fits, the MILP leads and everything else trails. Once there is a little slack the greedy reaches the bound, and by alpha 1.5 the MILP joins it. So the method choice matters exactly where the deadline binds; at loose slack almost anything works.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Scaling the federation from two to ten nodes: the MILP and the greedy sit on the bound at every size. The GA and rounding drift further below as the placement space grows while their search budget stays fixed. Extra nodes buy feasible placements, not better scores.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Scaling the DAG: everyone is on the bound at ten tasks; at a thousand, only the greedy is still there, in a fifth of a second. Rounding survives but pays about ninety seconds per re-solve, and the GA falls to 1.10 while taking 159 seconds.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failure model is retry-once: a failed task reruns in place and keeps its accuracy if the retry still meets the deadline. The scores are flat for everyone; feasibility is where they separate. The greedy stays feasible at every rate because it finishes early and leaves room for the retry.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experiment the model was built for. Degrade every link down to five percent of nominal. The bandwidth-blind baseline reports bound-level scores at every level while its schedules go infeasible. The data-aware methods trade accuracy for feasibility and degrade gracefully.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per-dataset table says the same thing. On the small instance everyone ties and the greedy is fastest. On medium, the greedy's makespan is 43 versus about 61 for the rest. On the large instances only the greedy and the GA even fit, and the greedy holds the bound while the GA pays twenty to seventy seconds of search.</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Separately we stress-tested the generators: million-task DAGs in about three seconds with depth growing like log n, and million-node resource graphs in about seven. These are structural instances; the honest boundary is that schedulable dense instances stop where the constraint count and memory do.</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do not claim: the MILP is capped near 800 variables, the LP grows to a hundred thousand rows, the GA runs on one budget, and the failure model is retry-once-in-place. No replication, no checkpointing, no migration. That last limit is the bridge to the proposal.</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five is the proposal itself. The question in one line, the three research questions, and then the method in depth.</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proposal in one line, then the three research questions that decompose it: where the repair boundary lies, how to repartition that region, and how to update the paths without recomputing them.</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Monitoring detects the failed node. The stranded, unfinished tasks have to be rescued, and completed work is never redone. The subtle decision is the boundary: we check the parents and children of the stranded tasks, because sometimes a dependent has to move too, for data locality or to make the deadline.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steps. The existing schedulers make the initial partition. When a failure is detected we isolate the stranded tasks, grow the minimal affected subgraph under the boundary rule, pick replacements by capacity and short paths to the parents and children, repartition under the recovery cost model, assign and update only the affected paths, and resume from the last good point.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technical heart of the proposal. The stranded set S is mandatory. But some neighbors have to move too: a child whose input now crosses a long path, or a dependent that can no longer meet the deadline if it stays. The rule expands from S while a neighbor fails a stay-test, capped so the region stays small.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repair itself is a smaller instance of the same optimization family, which is the point: the paper-two schedulers become the region solvers. The recovery objective adds movement terms to the accuracy objective, and the boundary pins enter as fixed arrival times the repair has to respect.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Moved tasks need new paths to their parents and children. Recomputing all shortest paths mid-workflow is too slow, so we reuse the dynamic SPT updates from Riazi, Khanda and Bhowmick: only the paths through the deleted node and the moved tasks get updated. That is what makes partial repair fast enough to matter.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pieces exist separately: dynamic path updates, fog rescheduling, join-leave redistribution, partial reconsideration. Nobody couples them. The novelty is the two-graph mapping: a failure in the infrastructure becomes the smallest affected region in the task DAG.</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six. The evaluation design, then the twelve-month plan.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baselines: complete repartition as the naive upper bound on disturbance, a greedy rescue as the cheapest possible repair, a no-repair static baseline as the quality floor, and the MILP on small cases as the reference. The metrics cover recovery speed, schedule quality, and the cost of the disturbance.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vary what makes recovery hard: where the failure hits, how many resources fail at once, how much slack remains, and the scales. The interesting case is a late failure on the critical path. Three hypotheses, each falsifiable.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quarters: build, solve, evaluate, write. The deliverables land on the existing public repository and the paper targets the systems venues.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honest risks. The boundary rule might expand to most of the DAG; the incremental SPT might not pay off on small graphs; the region repair might trail the MILP quality. Each has a mitigation built into the plan.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The completed work gives a proved, data-aware formulation, four schedulers on one cost model, and a reproducible platform. The proposal adds three contributions: a principled boundary rule, a minimal-region repartitioning method, and the first use of incremental path updates for workflow recovery.</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welcome.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200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
            <a:ext cx="12191695" cy="82296"/>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309360"/>
            <a:ext cx="12191695" cy="5486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10515600" cy="2377440"/>
          </a:xfrm>
          <a:prstGeom prst="rect">
            <a:avLst/>
          </a:prstGeom>
          <a:noFill/>
        </p:spPr>
        <p:txBody>
          <a:bodyPr wrap="square">
            <a:spAutoFit/>
          </a:bodyPr>
          <a:lstStyle/>
          <a:p>
            <a:pPr algn="ctr">
              <a:defRPr sz="3400" b="1">
                <a:solidFill>
                  <a:srgbClr val="0B2A4A"/>
                </a:solidFill>
              </a:defRPr>
            </a:pPr>
            <a:r>
              <a:t>Dynamic Partial Repartitioning of DAG Workflows</a:t>
            </a:r>
          </a:p>
          <a:p>
            <a:pPr algn="ctr">
              <a:defRPr sz="3400" b="1">
                <a:solidFill>
                  <a:srgbClr val="0B2A4A"/>
                </a:solidFill>
              </a:defRPr>
            </a:pPr>
            <a:r>
              <a:t>After Resource Failures in Federated Fog Environments</a:t>
            </a:r>
          </a:p>
          <a:p>
            <a:pPr algn="ctr">
              <a:defRPr sz="2000" b="1">
                <a:solidFill>
                  <a:srgbClr val="0B2A4A"/>
                </a:solidFill>
              </a:defRPr>
            </a:pPr>
            <a:r>
              <a:t>PhD Research Proposal</a:t>
            </a:r>
          </a:p>
        </p:txBody>
      </p:sp>
      <p:sp>
        <p:nvSpPr>
          <p:cNvPr id="6" name="TextBox 5"/>
          <p:cNvSpPr txBox="1"/>
          <p:nvPr/>
        </p:nvSpPr>
        <p:spPr>
          <a:xfrm>
            <a:off x="822960" y="3931920"/>
            <a:ext cx="10515600" cy="2103120"/>
          </a:xfrm>
          <a:prstGeom prst="rect">
            <a:avLst/>
          </a:prstGeom>
          <a:noFill/>
        </p:spPr>
        <p:txBody>
          <a:bodyPr wrap="square">
            <a:spAutoFit/>
          </a:bodyPr>
          <a:lstStyle/>
          <a:p>
            <a:pPr algn="ctr">
              <a:defRPr sz="1800">
                <a:solidFill>
                  <a:srgbClr val="5A646E"/>
                </a:solidFill>
              </a:defRPr>
            </a:pPr>
            <a:r>
              <a:t>Gayani Gupta</a:t>
            </a:r>
          </a:p>
          <a:p>
            <a:pPr algn="ctr">
              <a:defRPr sz="1600">
                <a:solidFill>
                  <a:srgbClr val="5A646E"/>
                </a:solidFill>
              </a:defRPr>
            </a:pPr>
            <a:r>
              <a:t>Department of Computer Science and Engineering, University of North Texas</a:t>
            </a:r>
          </a:p>
          <a:p>
            <a:pPr algn="ctr">
              <a:defRPr sz="1500">
                <a:solidFill>
                  <a:srgbClr val="5A646E"/>
                </a:solidFill>
              </a:defRPr>
            </a:pPr>
            <a:r>
              <a:t>Advisors: Dr. Mohsen Amini Salehi and Dr. Sanjukta Bhowmick</a:t>
            </a:r>
          </a:p>
          <a:p>
            <a:pPr algn="ctr">
              <a:defRPr sz="1300">
                <a:solidFill>
                  <a:srgbClr val="5A646E"/>
                </a:solidFill>
              </a:defRPr>
            </a:pPr>
            <a:r>
              <a:t>github.com/gayanigupta/data-aware-scheduling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64592" cy="598932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11338560" cy="640080"/>
          </a:xfrm>
          <a:prstGeom prst="rect">
            <a:avLst/>
          </a:prstGeom>
          <a:noFill/>
        </p:spPr>
        <p:txBody>
          <a:bodyPr wrap="none" anchor="ctr">
            <a:spAutoFit/>
          </a:bodyPr>
          <a:lstStyle/>
          <a:p>
            <a:pPr>
              <a:defRPr sz="2700" b="1">
                <a:solidFill>
                  <a:srgbClr val="FFFFFF"/>
                </a:solidFill>
              </a:defRPr>
            </a:pPr>
            <a:r>
              <a:t>Outline</a:t>
            </a:r>
          </a:p>
        </p:txBody>
      </p:sp>
      <p:sp>
        <p:nvSpPr>
          <p:cNvPr id="5" name="Rectangle 4"/>
          <p:cNvSpPr/>
          <p:nvPr/>
        </p:nvSpPr>
        <p:spPr>
          <a:xfrm>
            <a:off x="1097280" y="1051560"/>
            <a:ext cx="128016" cy="5486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63040" y="1051560"/>
            <a:ext cx="9601200" cy="548640"/>
          </a:xfrm>
          <a:prstGeom prst="rect">
            <a:avLst/>
          </a:prstGeom>
          <a:noFill/>
        </p:spPr>
        <p:txBody>
          <a:bodyPr wrap="none" anchor="ctr">
            <a:spAutoFit/>
          </a:bodyPr>
          <a:lstStyle/>
          <a:p>
            <a:pPr>
              <a:defRPr sz="2000" b="0">
                <a:solidFill>
                  <a:srgbClr val="232B33"/>
                </a:solidFill>
              </a:defRPr>
            </a:pPr>
            <a:r>
              <a:t>1   Introduction and motivation</a:t>
            </a:r>
          </a:p>
        </p:txBody>
      </p:sp>
      <p:sp>
        <p:nvSpPr>
          <p:cNvPr id="7" name="Rectangle 6"/>
          <p:cNvSpPr/>
          <p:nvPr/>
        </p:nvSpPr>
        <p:spPr>
          <a:xfrm>
            <a:off x="1097280" y="1764792"/>
            <a:ext cx="128016" cy="5486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63040" y="1764792"/>
            <a:ext cx="9601200" cy="548640"/>
          </a:xfrm>
          <a:prstGeom prst="rect">
            <a:avLst/>
          </a:prstGeom>
          <a:noFill/>
        </p:spPr>
        <p:txBody>
          <a:bodyPr wrap="none" anchor="ctr">
            <a:spAutoFit/>
          </a:bodyPr>
          <a:lstStyle/>
          <a:p>
            <a:pPr>
              <a:defRPr sz="2000" b="0">
                <a:solidFill>
                  <a:srgbClr val="232B33"/>
                </a:solidFill>
              </a:defRPr>
            </a:pPr>
            <a:r>
              <a:t>2   Related work, and what is still missing</a:t>
            </a:r>
          </a:p>
        </p:txBody>
      </p:sp>
      <p:sp>
        <p:nvSpPr>
          <p:cNvPr id="9" name="Rectangle 8"/>
          <p:cNvSpPr/>
          <p:nvPr/>
        </p:nvSpPr>
        <p:spPr>
          <a:xfrm>
            <a:off x="1097280" y="2478024"/>
            <a:ext cx="128016" cy="5486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63040" y="2478024"/>
            <a:ext cx="9601200" cy="548640"/>
          </a:xfrm>
          <a:prstGeom prst="rect">
            <a:avLst/>
          </a:prstGeom>
          <a:noFill/>
        </p:spPr>
        <p:txBody>
          <a:bodyPr wrap="none" anchor="ctr">
            <a:spAutoFit/>
          </a:bodyPr>
          <a:lstStyle/>
          <a:p>
            <a:pPr>
              <a:defRPr sz="2000" b="0">
                <a:solidFill>
                  <a:srgbClr val="232B33"/>
                </a:solidFill>
              </a:defRPr>
            </a:pPr>
            <a:r>
              <a:t>3   Problem definition</a:t>
            </a:r>
          </a:p>
        </p:txBody>
      </p:sp>
      <p:sp>
        <p:nvSpPr>
          <p:cNvPr id="11" name="Rectangle 10"/>
          <p:cNvSpPr/>
          <p:nvPr/>
        </p:nvSpPr>
        <p:spPr>
          <a:xfrm>
            <a:off x="1097280" y="3191256"/>
            <a:ext cx="128016" cy="54864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63040" y="3191256"/>
            <a:ext cx="9601200" cy="548640"/>
          </a:xfrm>
          <a:prstGeom prst="rect">
            <a:avLst/>
          </a:prstGeom>
          <a:noFill/>
        </p:spPr>
        <p:txBody>
          <a:bodyPr wrap="none" anchor="ctr">
            <a:spAutoFit/>
          </a:bodyPr>
          <a:lstStyle/>
          <a:p>
            <a:pPr>
              <a:defRPr sz="2000" b="1">
                <a:solidFill>
                  <a:srgbClr val="232B33"/>
                </a:solidFill>
              </a:defRPr>
            </a:pPr>
            <a:r>
              <a:t>4   Completed work and preliminary results</a:t>
            </a:r>
          </a:p>
        </p:txBody>
      </p:sp>
      <p:sp>
        <p:nvSpPr>
          <p:cNvPr id="13" name="Rectangle 12"/>
          <p:cNvSpPr/>
          <p:nvPr/>
        </p:nvSpPr>
        <p:spPr>
          <a:xfrm>
            <a:off x="1097280" y="3904487"/>
            <a:ext cx="128016" cy="548640"/>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63040" y="3904487"/>
            <a:ext cx="9601200" cy="548640"/>
          </a:xfrm>
          <a:prstGeom prst="rect">
            <a:avLst/>
          </a:prstGeom>
          <a:noFill/>
        </p:spPr>
        <p:txBody>
          <a:bodyPr wrap="none" anchor="ctr">
            <a:spAutoFit/>
          </a:bodyPr>
          <a:lstStyle/>
          <a:p>
            <a:pPr>
              <a:defRPr sz="2000" b="1">
                <a:solidFill>
                  <a:srgbClr val="232B33"/>
                </a:solidFill>
              </a:defRPr>
            </a:pPr>
            <a:r>
              <a:t>5   Proposed research: dynamic partial repartitioning</a:t>
            </a:r>
          </a:p>
        </p:txBody>
      </p:sp>
      <p:sp>
        <p:nvSpPr>
          <p:cNvPr id="15" name="Rectangle 14"/>
          <p:cNvSpPr/>
          <p:nvPr/>
        </p:nvSpPr>
        <p:spPr>
          <a:xfrm>
            <a:off x="1097280" y="4617720"/>
            <a:ext cx="128016" cy="548640"/>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63040" y="4617720"/>
            <a:ext cx="9601200" cy="548640"/>
          </a:xfrm>
          <a:prstGeom prst="rect">
            <a:avLst/>
          </a:prstGeom>
          <a:noFill/>
        </p:spPr>
        <p:txBody>
          <a:bodyPr wrap="none" anchor="ctr">
            <a:spAutoFit/>
          </a:bodyPr>
          <a:lstStyle/>
          <a:p>
            <a:pPr>
              <a:defRPr sz="2000" b="0">
                <a:solidFill>
                  <a:srgbClr val="232B33"/>
                </a:solidFill>
              </a:defRPr>
            </a:pPr>
            <a:r>
              <a:t>6   Evaluation plan and timeline</a:t>
            </a:r>
          </a:p>
        </p:txBody>
      </p:sp>
      <p:sp>
        <p:nvSpPr>
          <p:cNvPr id="17" name="Rectangle 16"/>
          <p:cNvSpPr/>
          <p:nvPr/>
        </p:nvSpPr>
        <p:spPr>
          <a:xfrm>
            <a:off x="1097280" y="5330952"/>
            <a:ext cx="128016" cy="5486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63040" y="5330952"/>
            <a:ext cx="9601200" cy="548640"/>
          </a:xfrm>
          <a:prstGeom prst="rect">
            <a:avLst/>
          </a:prstGeom>
          <a:noFill/>
        </p:spPr>
        <p:txBody>
          <a:bodyPr wrap="none" anchor="ctr">
            <a:spAutoFit/>
          </a:bodyPr>
          <a:lstStyle/>
          <a:p>
            <a:pPr>
              <a:defRPr sz="2000" b="0">
                <a:solidFill>
                  <a:srgbClr val="232B33"/>
                </a:solidFill>
              </a:defRPr>
            </a:pPr>
            <a:r>
              <a:t>7   Conclusion: expected contributions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46120"/>
            <a:ext cx="12191695" cy="82296"/>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332720" cy="548640"/>
          </a:xfrm>
          <a:prstGeom prst="rect">
            <a:avLst/>
          </a:prstGeom>
          <a:noFill/>
        </p:spPr>
        <p:txBody>
          <a:bodyPr wrap="none">
            <a:spAutoFit/>
          </a:bodyPr>
          <a:lstStyle/>
          <a:p>
            <a:pPr>
              <a:defRPr sz="2000" b="1">
                <a:solidFill>
                  <a:srgbClr val="0B2A4A"/>
                </a:solidFill>
              </a:defRPr>
            </a:pPr>
            <a:r>
              <a:t>1  |  INTRODUCTION &amp; MOTIVATION</a:t>
            </a:r>
          </a:p>
        </p:txBody>
      </p:sp>
      <p:sp>
        <p:nvSpPr>
          <p:cNvPr id="5" name="TextBox 4"/>
          <p:cNvSpPr txBox="1"/>
          <p:nvPr/>
        </p:nvSpPr>
        <p:spPr>
          <a:xfrm>
            <a:off x="914400" y="2468880"/>
            <a:ext cx="10332720" cy="1463040"/>
          </a:xfrm>
          <a:prstGeom prst="rect">
            <a:avLst/>
          </a:prstGeom>
          <a:noFill/>
        </p:spPr>
        <p:txBody>
          <a:bodyPr wrap="square">
            <a:spAutoFit/>
          </a:bodyPr>
          <a:lstStyle/>
          <a:p>
            <a:pPr>
              <a:defRPr sz="4000" b="1">
                <a:solidFill>
                  <a:srgbClr val="FFFFFF"/>
                </a:solidFill>
              </a:defRPr>
            </a:pPr>
            <a:r>
              <a:t>Why this problem matters</a:t>
            </a:r>
          </a:p>
        </p:txBody>
      </p:sp>
      <p:sp>
        <p:nvSpPr>
          <p:cNvPr id="6" name="TextBox 5"/>
          <p:cNvSpPr txBox="1"/>
          <p:nvPr/>
        </p:nvSpPr>
        <p:spPr>
          <a:xfrm>
            <a:off x="914400" y="3749039"/>
            <a:ext cx="10332720" cy="1463040"/>
          </a:xfrm>
          <a:prstGeom prst="rect">
            <a:avLst/>
          </a:prstGeom>
          <a:noFill/>
        </p:spPr>
        <p:txBody>
          <a:bodyPr wrap="square">
            <a:spAutoFit/>
          </a:bodyPr>
          <a:lstStyle/>
          <a:p>
            <a:pPr>
              <a:defRPr sz="1900">
                <a:solidFill>
                  <a:srgbClr val="EDF2F7"/>
                </a:solidFill>
              </a:defRPr>
            </a:pPr>
            <a:r>
              <a:t>Time-critical workflows, unreliable networks, and the case for the federated fog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64592" cy="598932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11338560" cy="640080"/>
          </a:xfrm>
          <a:prstGeom prst="rect">
            <a:avLst/>
          </a:prstGeom>
          <a:noFill/>
        </p:spPr>
        <p:txBody>
          <a:bodyPr wrap="none" anchor="ctr">
            <a:spAutoFit/>
          </a:bodyPr>
          <a:lstStyle/>
          <a:p>
            <a:pPr>
              <a:defRPr sz="2700" b="1">
                <a:solidFill>
                  <a:srgbClr val="FFFFFF"/>
                </a:solidFill>
              </a:defRPr>
            </a:pPr>
            <a:r>
              <a:t>The scenario</a:t>
            </a:r>
          </a:p>
        </p:txBody>
      </p:sp>
      <p:sp>
        <p:nvSpPr>
          <p:cNvPr id="5" name="TextBox 4"/>
          <p:cNvSpPr txBox="1"/>
          <p:nvPr/>
        </p:nvSpPr>
        <p:spPr>
          <a:xfrm>
            <a:off x="457200" y="6473952"/>
            <a:ext cx="10515600" cy="320040"/>
          </a:xfrm>
          <a:prstGeom prst="rect">
            <a:avLst/>
          </a:prstGeom>
          <a:noFill/>
        </p:spPr>
        <p:txBody>
          <a:bodyPr wrap="none">
            <a:spAutoFit/>
          </a:bodyPr>
          <a:lstStyle/>
          <a:p>
            <a:pPr>
              <a:defRPr sz="1000">
                <a:solidFill>
                  <a:srgbClr val="5A646E"/>
                </a:solidFill>
              </a:defRPr>
            </a:pPr>
            <a:r>
              <a:t>1  |  Introduction &amp; motivation</a:t>
            </a:r>
          </a:p>
        </p:txBody>
      </p:sp>
      <p:sp>
        <p:nvSpPr>
          <p:cNvPr id="6" name="TextBox 5"/>
          <p:cNvSpPr txBox="1"/>
          <p:nvPr/>
        </p:nvSpPr>
        <p:spPr>
          <a:xfrm>
            <a:off x="11247120" y="6473952"/>
            <a:ext cx="731520" cy="320040"/>
          </a:xfrm>
          <a:prstGeom prst="rect">
            <a:avLst/>
          </a:prstGeom>
          <a:noFill/>
        </p:spPr>
        <p:txBody>
          <a:bodyPr wrap="none">
            <a:spAutoFit/>
          </a:bodyPr>
          <a:lstStyle/>
          <a:p>
            <a:pPr algn="r">
              <a:defRPr sz="1000">
                <a:solidFill>
                  <a:srgbClr val="5A646E"/>
                </a:solidFill>
              </a:defRPr>
            </a:pPr>
            <a:r>
              <a:t>3</a:t>
            </a:r>
          </a:p>
        </p:txBody>
      </p:sp>
      <p:sp>
        <p:nvSpPr>
          <p:cNvPr id="7" name="TextBox 6"/>
          <p:cNvSpPr txBox="1"/>
          <p:nvPr/>
        </p:nvSpPr>
        <p:spPr>
          <a:xfrm>
            <a:off x="594360" y="1143000"/>
            <a:ext cx="10972800" cy="5120640"/>
          </a:xfrm>
          <a:prstGeom prst="rect">
            <a:avLst/>
          </a:prstGeom>
          <a:noFill/>
        </p:spPr>
        <p:txBody>
          <a:bodyPr wrap="square">
            <a:spAutoFit/>
          </a:bodyPr>
          <a:lstStyle/>
          <a:p>
            <a:pPr>
              <a:spcAft>
                <a:spcPts val="800"/>
              </a:spcAft>
              <a:defRPr sz="1800">
                <a:solidFill>
                  <a:srgbClr val="232B33"/>
                </a:solidFill>
              </a:defRPr>
            </a:pPr>
            <a:r>
              <a:t>A disaster is unfolding: a flood, a wildfire, an offshore incident</a:t>
            </a:r>
          </a:p>
          <a:p>
            <a:pPr>
              <a:spcAft>
                <a:spcPts val="800"/>
              </a:spcAft>
              <a:defRPr sz="1800">
                <a:solidFill>
                  <a:srgbClr val="232B33"/>
                </a:solidFill>
              </a:defRPr>
            </a:pPr>
            <a:r>
              <a:t>The deadline is hard. A forecast that arrives late is a forecast nobody uses</a:t>
            </a:r>
          </a:p>
          <a:p>
            <a:pPr>
              <a:spcAft>
                <a:spcPts val="800"/>
              </a:spcAft>
              <a:defRPr sz="1800">
                <a:solidFill>
                  <a:srgbClr val="232B33"/>
                </a:solidFill>
              </a:defRPr>
            </a:pPr>
            <a:r>
              <a:t>And the same event that creates the deadline also degrades or kills the link to the cloud</a:t>
            </a:r>
          </a:p>
        </p:txBody>
      </p:sp>
      <p:sp>
        <p:nvSpPr>
          <p:cNvPr id="8" name="Rounded Rectangle 7"/>
          <p:cNvSpPr/>
          <p:nvPr/>
        </p:nvSpPr>
        <p:spPr>
          <a:xfrm>
            <a:off x="822960" y="3794760"/>
            <a:ext cx="1737360" cy="777240"/>
          </a:xfrm>
          <a:prstGeom prst="roundRect">
            <a:avLst/>
          </a:prstGeom>
          <a:solidFill>
            <a:srgbClr val="0E7C7B"/>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defRPr>
            </a:pPr>
            <a:r>
              <a:t>SENSE</a:t>
            </a:r>
          </a:p>
        </p:txBody>
      </p:sp>
      <p:sp>
        <p:nvSpPr>
          <p:cNvPr id="9" name="Rounded Rectangle 8"/>
          <p:cNvSpPr/>
          <p:nvPr/>
        </p:nvSpPr>
        <p:spPr>
          <a:xfrm>
            <a:off x="3063240" y="3794760"/>
            <a:ext cx="1737360" cy="777240"/>
          </a:xfrm>
          <a:prstGeom prst="roundRect">
            <a:avLst/>
          </a:prstGeom>
          <a:solidFill>
            <a:srgbClr val="0E7C7B"/>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defRPr>
            </a:pPr>
            <a:r>
              <a:t>MODEL</a:t>
            </a:r>
          </a:p>
        </p:txBody>
      </p:sp>
      <p:cxnSp>
        <p:nvCxnSpPr>
          <p:cNvPr id="10" name="Connector 9"/>
          <p:cNvCxnSpPr/>
          <p:nvPr/>
        </p:nvCxnSpPr>
        <p:spPr>
          <a:xfrm>
            <a:off x="2606040" y="4178808"/>
            <a:ext cx="457200" cy="0"/>
          </a:xfrm>
          <a:prstGeom prst="bentConnector3">
            <a:avLst/>
          </a:prstGeom>
          <a:ln w="28575">
            <a:solidFill>
              <a:srgbClr val="0B2A4A"/>
            </a:solidFill>
            <a:headEnd type="none"/>
            <a:tailEnd type="arrow"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303520" y="3794760"/>
            <a:ext cx="1737360" cy="777240"/>
          </a:xfrm>
          <a:prstGeom prst="roundRect">
            <a:avLst/>
          </a:prstGeom>
          <a:solidFill>
            <a:srgbClr val="0E7C7B"/>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defRPr>
            </a:pPr>
            <a:r>
              <a:t>FORECAST</a:t>
            </a:r>
          </a:p>
        </p:txBody>
      </p:sp>
      <p:cxnSp>
        <p:nvCxnSpPr>
          <p:cNvPr id="12" name="Connector 11"/>
          <p:cNvCxnSpPr/>
          <p:nvPr/>
        </p:nvCxnSpPr>
        <p:spPr>
          <a:xfrm>
            <a:off x="4846320" y="4178808"/>
            <a:ext cx="457200" cy="0"/>
          </a:xfrm>
          <a:prstGeom prst="bentConnector3">
            <a:avLst/>
          </a:prstGeom>
          <a:ln w="28575">
            <a:solidFill>
              <a:srgbClr val="0B2A4A"/>
            </a:solidFill>
            <a:headEnd type="none"/>
            <a:tailEnd type="arrow"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543800" y="3794760"/>
            <a:ext cx="1737360" cy="777240"/>
          </a:xfrm>
          <a:prstGeom prst="roundRect">
            <a:avLst/>
          </a:prstGeom>
          <a:solidFill>
            <a:srgbClr val="0E7C7B"/>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defRPr>
            </a:pPr>
            <a:r>
              <a:t>PLAN</a:t>
            </a:r>
          </a:p>
        </p:txBody>
      </p:sp>
      <p:cxnSp>
        <p:nvCxnSpPr>
          <p:cNvPr id="14" name="Connector 13"/>
          <p:cNvCxnSpPr/>
          <p:nvPr/>
        </p:nvCxnSpPr>
        <p:spPr>
          <a:xfrm>
            <a:off x="7086600" y="4178808"/>
            <a:ext cx="457200" cy="0"/>
          </a:xfrm>
          <a:prstGeom prst="bentConnector3">
            <a:avLst/>
          </a:prstGeom>
          <a:ln w="28575">
            <a:solidFill>
              <a:srgbClr val="0B2A4A"/>
            </a:solidFill>
            <a:headEnd type="none"/>
            <a:tailEnd type="arrow"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784080" y="3794760"/>
            <a:ext cx="1737360" cy="777240"/>
          </a:xfrm>
          <a:prstGeom prst="roundRect">
            <a:avLst/>
          </a:prstGeom>
          <a:solidFill>
            <a:srgbClr val="E0A41E"/>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defRPr>
            </a:pPr>
            <a:r>
              <a:t>ALERT</a:t>
            </a:r>
          </a:p>
        </p:txBody>
      </p:sp>
      <p:cxnSp>
        <p:nvCxnSpPr>
          <p:cNvPr id="16" name="Connector 15"/>
          <p:cNvCxnSpPr/>
          <p:nvPr/>
        </p:nvCxnSpPr>
        <p:spPr>
          <a:xfrm>
            <a:off x="9326880" y="4178808"/>
            <a:ext cx="457200" cy="0"/>
          </a:xfrm>
          <a:prstGeom prst="bentConnector3">
            <a:avLst/>
          </a:prstGeom>
          <a:ln w="28575">
            <a:solidFill>
              <a:srgbClr val="0B2A4A"/>
            </a:solidFill>
            <a:headEnd type="none"/>
            <a:tailEnd type="arrow"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846320" y="5029200"/>
            <a:ext cx="2468880" cy="548640"/>
          </a:xfrm>
          <a:prstGeom prst="roundRect">
            <a:avLst/>
          </a:prstGeom>
          <a:solidFill>
            <a:srgbClr val="0B2A4A"/>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deadline</a:t>
            </a:r>
          </a:p>
        </p:txBody>
      </p:sp>
      <p:cxnSp>
        <p:nvCxnSpPr>
          <p:cNvPr id="18" name="Connector 17"/>
          <p:cNvCxnSpPr/>
          <p:nvPr/>
        </p:nvCxnSpPr>
        <p:spPr>
          <a:xfrm flipV="1">
            <a:off x="6080760" y="4572000"/>
            <a:ext cx="0" cy="457200"/>
          </a:xfrm>
          <a:prstGeom prst="bentConnector3">
            <a:avLst/>
          </a:prstGeom>
          <a:ln w="22225">
            <a:solidFill>
              <a:srgbClr val="0B2A4A"/>
            </a:solidFill>
            <a:headEnd type="none"/>
            <a:tailEnd type="arrow"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509760" y="5074920"/>
            <a:ext cx="2103120" cy="685800"/>
          </a:xfrm>
          <a:prstGeom prst="roundRect">
            <a:avLst/>
          </a:prstGeom>
          <a:solidFill>
            <a:srgbClr val="EDF2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5A646E"/>
                </a:solidFill>
              </a:defRPr>
            </a:pPr>
            <a:r>
              <a:t>cloud uplink</a:t>
            </a:r>
          </a:p>
        </p:txBody>
      </p:sp>
      <p:cxnSp>
        <p:nvCxnSpPr>
          <p:cNvPr id="20" name="Connector 19"/>
          <p:cNvCxnSpPr/>
          <p:nvPr/>
        </p:nvCxnSpPr>
        <p:spPr>
          <a:xfrm>
            <a:off x="9509760" y="5074920"/>
            <a:ext cx="731520" cy="731520"/>
          </a:xfrm>
          <a:prstGeom prst="line">
            <a:avLst/>
          </a:prstGeom>
          <a:ln w="38100">
            <a:solidFill>
              <a:srgbClr val="C75B12"/>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9509760" y="5074920"/>
            <a:ext cx="731520" cy="731520"/>
          </a:xfrm>
          <a:prstGeom prst="line">
            <a:avLst/>
          </a:prstGeom>
          <a:ln w="38100">
            <a:solidFill>
              <a:srgbClr val="C75B1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64592" cy="598932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11338560" cy="640080"/>
          </a:xfrm>
          <a:prstGeom prst="rect">
            <a:avLst/>
          </a:prstGeom>
          <a:noFill/>
        </p:spPr>
        <p:txBody>
          <a:bodyPr wrap="none" anchor="ctr">
            <a:spAutoFit/>
          </a:bodyPr>
          <a:lstStyle/>
          <a:p>
            <a:pPr>
              <a:defRPr sz="2700" b="1">
                <a:solidFill>
                  <a:srgbClr val="FFFFFF"/>
                </a:solidFill>
              </a:defRPr>
            </a:pPr>
            <a:r>
              <a:t>Federation is the answer, and it comes with a scheduling price</a:t>
            </a:r>
          </a:p>
        </p:txBody>
      </p:sp>
      <p:sp>
        <p:nvSpPr>
          <p:cNvPr id="5" name="TextBox 4"/>
          <p:cNvSpPr txBox="1"/>
          <p:nvPr/>
        </p:nvSpPr>
        <p:spPr>
          <a:xfrm>
            <a:off x="457200" y="6473952"/>
            <a:ext cx="10515600" cy="320040"/>
          </a:xfrm>
          <a:prstGeom prst="rect">
            <a:avLst/>
          </a:prstGeom>
          <a:noFill/>
        </p:spPr>
        <p:txBody>
          <a:bodyPr wrap="none">
            <a:spAutoFit/>
          </a:bodyPr>
          <a:lstStyle/>
          <a:p>
            <a:pPr>
              <a:defRPr sz="1000">
                <a:solidFill>
                  <a:srgbClr val="5A646E"/>
                </a:solidFill>
              </a:defRPr>
            </a:pPr>
            <a:r>
              <a:t>1  |  Introduction &amp; motivation</a:t>
            </a:r>
          </a:p>
        </p:txBody>
      </p:sp>
      <p:sp>
        <p:nvSpPr>
          <p:cNvPr id="6" name="TextBox 5"/>
          <p:cNvSpPr txBox="1"/>
          <p:nvPr/>
        </p:nvSpPr>
        <p:spPr>
          <a:xfrm>
            <a:off x="11247120" y="6473952"/>
            <a:ext cx="731520" cy="320040"/>
          </a:xfrm>
          <a:prstGeom prst="rect">
            <a:avLst/>
          </a:prstGeom>
          <a:noFill/>
        </p:spPr>
        <p:txBody>
          <a:bodyPr wrap="none">
            <a:spAutoFit/>
          </a:bodyPr>
          <a:lstStyle/>
          <a:p>
            <a:pPr algn="r">
              <a:defRPr sz="1000">
                <a:solidFill>
                  <a:srgbClr val="5A646E"/>
                </a:solidFill>
              </a:defRPr>
            </a:pPr>
            <a:r>
              <a:t>4</a:t>
            </a:r>
          </a:p>
        </p:txBody>
      </p:sp>
      <p:sp>
        <p:nvSpPr>
          <p:cNvPr id="7" name="TextBox 6"/>
          <p:cNvSpPr txBox="1"/>
          <p:nvPr/>
        </p:nvSpPr>
        <p:spPr>
          <a:xfrm>
            <a:off x="594360" y="1143000"/>
            <a:ext cx="6309360" cy="5120640"/>
          </a:xfrm>
          <a:prstGeom prst="rect">
            <a:avLst/>
          </a:prstGeom>
          <a:noFill/>
        </p:spPr>
        <p:txBody>
          <a:bodyPr wrap="square">
            <a:spAutoFit/>
          </a:bodyPr>
          <a:lstStyle/>
          <a:p>
            <a:pPr>
              <a:spcAft>
                <a:spcPts val="800"/>
              </a:spcAft>
              <a:defRPr sz="1800">
                <a:solidFill>
                  <a:srgbClr val="232B33"/>
                </a:solidFill>
              </a:defRPr>
            </a:pPr>
            <a:r>
              <a:t>The fog sites near an event are things like cell-tower racks, roadside cabinets, platform servers</a:t>
            </a:r>
          </a:p>
          <a:p>
            <a:pPr>
              <a:spcAft>
                <a:spcPts val="800"/>
              </a:spcAft>
              <a:defRPr sz="1800">
                <a:solidFill>
                  <a:srgbClr val="232B33"/>
                </a:solidFill>
              </a:defRPr>
            </a:pPr>
            <a:r>
              <a:t>Each one alone is too weak for the whole workflow</a:t>
            </a:r>
          </a:p>
          <a:p>
            <a:pPr>
              <a:spcAft>
                <a:spcPts val="800"/>
              </a:spcAft>
              <a:defRPr sz="1800">
                <a:solidFill>
                  <a:srgbClr val="232B33"/>
                </a:solidFill>
              </a:defRPr>
            </a:pPr>
            <a:r>
              <a:t>But they keep fast, stable links to each other even when the cloud link fails</a:t>
            </a:r>
          </a:p>
          <a:p>
            <a:pPr>
              <a:spcAft>
                <a:spcPts val="800"/>
              </a:spcAft>
              <a:defRPr sz="1800">
                <a:solidFill>
                  <a:srgbClr val="232B33"/>
                </a:solidFill>
              </a:defRPr>
            </a:pPr>
            <a:r>
              <a:t>Federating them creates a small local cloud</a:t>
            </a:r>
          </a:p>
          <a:p>
            <a:pPr>
              <a:spcAft>
                <a:spcPts val="800"/>
              </a:spcAft>
              <a:defRPr sz="1800">
                <a:solidFill>
                  <a:srgbClr val="232B33"/>
                </a:solidFill>
              </a:defRPr>
            </a:pPr>
            <a:r>
              <a:t>The price: every task can now run in many places, and wherever it runs, its input data has to get there first</a:t>
            </a:r>
          </a:p>
        </p:txBody>
      </p:sp>
      <p:pic>
        <p:nvPicPr>
          <p:cNvPr id="8" name="Picture 7" descr="federated-fog-architecture.png"/>
          <p:cNvPicPr>
            <a:picLocks noChangeAspect="1"/>
          </p:cNvPicPr>
          <p:nvPr/>
        </p:nvPicPr>
        <p:blipFill>
          <a:blip r:embed="rId3"/>
          <a:stretch>
            <a:fillRect/>
          </a:stretch>
        </p:blipFill>
        <p:spPr>
          <a:xfrm>
            <a:off x="7040880" y="1234440"/>
            <a:ext cx="4754880" cy="3270552"/>
          </a:xfrm>
          <a:prstGeom prst="rect">
            <a:avLst/>
          </a:prstGeom>
        </p:spPr>
      </p:pic>
      <p:sp>
        <p:nvSpPr>
          <p:cNvPr id="9" name="TextBox 8"/>
          <p:cNvSpPr txBox="1"/>
          <p:nvPr/>
        </p:nvSpPr>
        <p:spPr>
          <a:xfrm>
            <a:off x="7040880" y="5897880"/>
            <a:ext cx="4754880" cy="548640"/>
          </a:xfrm>
          <a:prstGeom prst="rect">
            <a:avLst/>
          </a:prstGeom>
          <a:noFill/>
        </p:spPr>
        <p:txBody>
          <a:bodyPr wrap="none">
            <a:spAutoFit/>
          </a:bodyPr>
          <a:lstStyle/>
          <a:p>
            <a:pPr algn="ctr">
              <a:defRPr sz="1200" i="1">
                <a:solidFill>
                  <a:srgbClr val="5A646E"/>
                </a:solidFill>
              </a:defRPr>
            </a:pPr>
            <a:r>
              <a:t>Federated fog deployment around a disaster area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64592" cy="598932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11338560" cy="640080"/>
          </a:xfrm>
          <a:prstGeom prst="rect">
            <a:avLst/>
          </a:prstGeom>
          <a:noFill/>
        </p:spPr>
        <p:txBody>
          <a:bodyPr wrap="none" anchor="ctr">
            <a:spAutoFit/>
          </a:bodyPr>
          <a:lstStyle/>
          <a:p>
            <a:pPr>
              <a:defRPr sz="2700" b="1">
                <a:solidFill>
                  <a:srgbClr val="FFFFFF"/>
                </a:solidFill>
              </a:defRPr>
            </a:pPr>
            <a:r>
              <a:t>Two decisions, and they interact</a:t>
            </a:r>
          </a:p>
        </p:txBody>
      </p:sp>
      <p:sp>
        <p:nvSpPr>
          <p:cNvPr id="5" name="TextBox 4"/>
          <p:cNvSpPr txBox="1"/>
          <p:nvPr/>
        </p:nvSpPr>
        <p:spPr>
          <a:xfrm>
            <a:off x="457200" y="6473952"/>
            <a:ext cx="10515600" cy="320040"/>
          </a:xfrm>
          <a:prstGeom prst="rect">
            <a:avLst/>
          </a:prstGeom>
          <a:noFill/>
        </p:spPr>
        <p:txBody>
          <a:bodyPr wrap="none">
            <a:spAutoFit/>
          </a:bodyPr>
          <a:lstStyle/>
          <a:p>
            <a:pPr>
              <a:defRPr sz="1000">
                <a:solidFill>
                  <a:srgbClr val="5A646E"/>
                </a:solidFill>
              </a:defRPr>
            </a:pPr>
            <a:r>
              <a:t>1  |  Introduction &amp; motivation</a:t>
            </a:r>
          </a:p>
        </p:txBody>
      </p:sp>
      <p:sp>
        <p:nvSpPr>
          <p:cNvPr id="6" name="TextBox 5"/>
          <p:cNvSpPr txBox="1"/>
          <p:nvPr/>
        </p:nvSpPr>
        <p:spPr>
          <a:xfrm>
            <a:off x="11247120" y="6473952"/>
            <a:ext cx="731520" cy="320040"/>
          </a:xfrm>
          <a:prstGeom prst="rect">
            <a:avLst/>
          </a:prstGeom>
          <a:noFill/>
        </p:spPr>
        <p:txBody>
          <a:bodyPr wrap="none">
            <a:spAutoFit/>
          </a:bodyPr>
          <a:lstStyle/>
          <a:p>
            <a:pPr algn="r">
              <a:defRPr sz="1000">
                <a:solidFill>
                  <a:srgbClr val="5A646E"/>
                </a:solidFill>
              </a:defRPr>
            </a:pPr>
            <a:r>
              <a:t>5</a:t>
            </a:r>
          </a:p>
        </p:txBody>
      </p:sp>
      <p:sp>
        <p:nvSpPr>
          <p:cNvPr id="7" name="TextBox 6"/>
          <p:cNvSpPr txBox="1"/>
          <p:nvPr/>
        </p:nvSpPr>
        <p:spPr>
          <a:xfrm>
            <a:off x="594360" y="1143000"/>
            <a:ext cx="10972800" cy="5120640"/>
          </a:xfrm>
          <a:prstGeom prst="rect">
            <a:avLst/>
          </a:prstGeom>
          <a:noFill/>
        </p:spPr>
        <p:txBody>
          <a:bodyPr wrap="square">
            <a:spAutoFit/>
          </a:bodyPr>
          <a:lstStyle/>
          <a:p>
            <a:pPr>
              <a:spcAft>
                <a:spcPts val="800"/>
              </a:spcAft>
              <a:defRPr sz="1800">
                <a:solidFill>
                  <a:srgbClr val="232B33"/>
                </a:solidFill>
              </a:defRPr>
            </a:pPr>
            <a:r>
              <a:t>Data movement rivals computation</a:t>
            </a:r>
          </a:p>
          <a:p>
            <a:pPr lvl="1">
              <a:spcAft>
                <a:spcPts val="800"/>
              </a:spcAft>
              <a:defRPr sz="1600">
                <a:solidFill>
                  <a:srgbClr val="5A646E"/>
                </a:solidFill>
              </a:defRPr>
            </a:pPr>
            <a:r>
              <a:t>  every edge carries data that has to cross a link, and the transfer can take as long as the task itself</a:t>
            </a:r>
          </a:p>
          <a:p>
            <a:pPr>
              <a:spcAft>
                <a:spcPts val="800"/>
              </a:spcAft>
              <a:defRPr sz="1800">
                <a:solidFill>
                  <a:srgbClr val="232B33"/>
                </a:solidFill>
              </a:defRPr>
            </a:pPr>
            <a:r>
              <a:t>Accuracy is a tradeable resource</a:t>
            </a:r>
          </a:p>
          <a:p>
            <a:pPr lvl="1">
              <a:spcAft>
                <a:spcPts val="800"/>
              </a:spcAft>
              <a:defRPr sz="1600">
                <a:solidFill>
                  <a:srgbClr val="5A646E"/>
                </a:solidFill>
              </a:defRPr>
            </a:pPr>
            <a:r>
              <a:t>  running half of a task costs half the time and returns half the accuracy; a flood model at 80% fidelity still warns in time</a:t>
            </a:r>
          </a:p>
          <a:p>
            <a:pPr>
              <a:spcAft>
                <a:spcPts val="800"/>
              </a:spcAft>
              <a:defRPr sz="1800">
                <a:solidFill>
                  <a:srgbClr val="232B33"/>
                </a:solidFill>
              </a:defRPr>
            </a:pPr>
            <a:r>
              <a:t>And the two interact: placement decides the transfers, fractions decide the runtimes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64592" cy="598932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11338560" cy="640080"/>
          </a:xfrm>
          <a:prstGeom prst="rect">
            <a:avLst/>
          </a:prstGeom>
          <a:noFill/>
        </p:spPr>
        <p:txBody>
          <a:bodyPr wrap="none" anchor="ctr">
            <a:spAutoFit/>
          </a:bodyPr>
          <a:lstStyle/>
          <a:p>
            <a:pPr>
              <a:defRPr sz="2700" b="1">
                <a:solidFill>
                  <a:srgbClr val="FFFFFF"/>
                </a:solidFill>
              </a:defRPr>
            </a:pPr>
            <a:r>
              <a:t>The dissertation as three papers</a:t>
            </a:r>
          </a:p>
        </p:txBody>
      </p:sp>
      <p:sp>
        <p:nvSpPr>
          <p:cNvPr id="5" name="TextBox 4"/>
          <p:cNvSpPr txBox="1"/>
          <p:nvPr/>
        </p:nvSpPr>
        <p:spPr>
          <a:xfrm>
            <a:off x="457200" y="6473952"/>
            <a:ext cx="10515600" cy="320040"/>
          </a:xfrm>
          <a:prstGeom prst="rect">
            <a:avLst/>
          </a:prstGeom>
          <a:noFill/>
        </p:spPr>
        <p:txBody>
          <a:bodyPr wrap="none">
            <a:spAutoFit/>
          </a:bodyPr>
          <a:lstStyle/>
          <a:p>
            <a:pPr>
              <a:defRPr sz="1000">
                <a:solidFill>
                  <a:srgbClr val="5A646E"/>
                </a:solidFill>
              </a:defRPr>
            </a:pPr>
            <a:r>
              <a:t>1  |  Introduction &amp; motivation</a:t>
            </a:r>
          </a:p>
        </p:txBody>
      </p:sp>
      <p:sp>
        <p:nvSpPr>
          <p:cNvPr id="6" name="TextBox 5"/>
          <p:cNvSpPr txBox="1"/>
          <p:nvPr/>
        </p:nvSpPr>
        <p:spPr>
          <a:xfrm>
            <a:off x="11247120" y="6473952"/>
            <a:ext cx="731520" cy="320040"/>
          </a:xfrm>
          <a:prstGeom prst="rect">
            <a:avLst/>
          </a:prstGeom>
          <a:noFill/>
        </p:spPr>
        <p:txBody>
          <a:bodyPr wrap="none">
            <a:spAutoFit/>
          </a:bodyPr>
          <a:lstStyle/>
          <a:p>
            <a:pPr algn="r">
              <a:defRPr sz="1000">
                <a:solidFill>
                  <a:srgbClr val="5A646E"/>
                </a:solidFill>
              </a:defRPr>
            </a:pPr>
            <a:r>
              <a:t>6</a:t>
            </a:r>
          </a:p>
        </p:txBody>
      </p:sp>
      <p:sp>
        <p:nvSpPr>
          <p:cNvPr id="7" name="Rectangle 6"/>
          <p:cNvSpPr/>
          <p:nvPr/>
        </p:nvSpPr>
        <p:spPr>
          <a:xfrm>
            <a:off x="731520" y="1371600"/>
            <a:ext cx="2194560" cy="1143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371600"/>
            <a:ext cx="2194560" cy="1143000"/>
          </a:xfrm>
          <a:prstGeom prst="rect">
            <a:avLst/>
          </a:prstGeom>
          <a:noFill/>
        </p:spPr>
        <p:txBody>
          <a:bodyPr wrap="none" anchor="ctr">
            <a:spAutoFit/>
          </a:bodyPr>
          <a:lstStyle/>
          <a:p>
            <a:pPr algn="ctr">
              <a:defRPr sz="1500" b="1">
                <a:solidFill>
                  <a:srgbClr val="FFFFFF"/>
                </a:solidFill>
              </a:defRPr>
            </a:pPr>
            <a:r>
              <a:t>PAPER 1</a:t>
            </a:r>
          </a:p>
        </p:txBody>
      </p:sp>
      <p:sp>
        <p:nvSpPr>
          <p:cNvPr id="9" name="TextBox 8"/>
          <p:cNvSpPr txBox="1"/>
          <p:nvPr/>
        </p:nvSpPr>
        <p:spPr>
          <a:xfrm>
            <a:off x="3291840" y="1371600"/>
            <a:ext cx="8229600" cy="1143000"/>
          </a:xfrm>
          <a:prstGeom prst="rect">
            <a:avLst/>
          </a:prstGeom>
          <a:noFill/>
        </p:spPr>
        <p:txBody>
          <a:bodyPr wrap="square" anchor="ctr">
            <a:spAutoFit/>
          </a:bodyPr>
          <a:lstStyle/>
          <a:p>
            <a:pPr>
              <a:defRPr sz="1600">
                <a:solidFill>
                  <a:srgbClr val="232B33"/>
                </a:solidFill>
              </a:defRPr>
            </a:pPr>
            <a:r>
              <a:t>Efficient DAG task allocation across federated fog: the model plus four schedulers.  Published at IEEE Cloud Summit 2025</a:t>
            </a:r>
          </a:p>
        </p:txBody>
      </p:sp>
      <p:sp>
        <p:nvSpPr>
          <p:cNvPr id="10" name="Rectangle 9"/>
          <p:cNvSpPr/>
          <p:nvPr/>
        </p:nvSpPr>
        <p:spPr>
          <a:xfrm>
            <a:off x="731520" y="2971800"/>
            <a:ext cx="2194560" cy="1143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971800"/>
            <a:ext cx="2194560" cy="1143000"/>
          </a:xfrm>
          <a:prstGeom prst="rect">
            <a:avLst/>
          </a:prstGeom>
          <a:noFill/>
        </p:spPr>
        <p:txBody>
          <a:bodyPr wrap="none" anchor="ctr">
            <a:spAutoFit/>
          </a:bodyPr>
          <a:lstStyle/>
          <a:p>
            <a:pPr algn="ctr">
              <a:defRPr sz="1500" b="1">
                <a:solidFill>
                  <a:srgbClr val="FFFFFF"/>
                </a:solidFill>
              </a:defRPr>
            </a:pPr>
            <a:r>
              <a:t>PAPER 2</a:t>
            </a:r>
          </a:p>
        </p:txBody>
      </p:sp>
      <p:sp>
        <p:nvSpPr>
          <p:cNvPr id="12" name="TextBox 11"/>
          <p:cNvSpPr txBox="1"/>
          <p:nvPr/>
        </p:nvSpPr>
        <p:spPr>
          <a:xfrm>
            <a:off x="3291840" y="2971800"/>
            <a:ext cx="8229600" cy="1143000"/>
          </a:xfrm>
          <a:prstGeom prst="rect">
            <a:avLst/>
          </a:prstGeom>
          <a:noFill/>
        </p:spPr>
        <p:txBody>
          <a:bodyPr wrap="square" anchor="ctr">
            <a:spAutoFit/>
          </a:bodyPr>
          <a:lstStyle/>
          <a:p>
            <a:pPr>
              <a:defRPr sz="1600">
                <a:solidFill>
                  <a:srgbClr val="232B33"/>
                </a:solidFill>
              </a:defRPr>
            </a:pPr>
            <a:r>
              <a:t>Data-aware scheduling of approximate DAG workflows: an accuracy bound, retry semantics, bandwidth degradation, scalability limits.  In revision for CCGrid 2027</a:t>
            </a:r>
          </a:p>
        </p:txBody>
      </p:sp>
      <p:sp>
        <p:nvSpPr>
          <p:cNvPr id="13" name="Rectangle 12"/>
          <p:cNvSpPr/>
          <p:nvPr/>
        </p:nvSpPr>
        <p:spPr>
          <a:xfrm>
            <a:off x="731520" y="4572000"/>
            <a:ext cx="2194560" cy="1143000"/>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572000"/>
            <a:ext cx="2194560" cy="1143000"/>
          </a:xfrm>
          <a:prstGeom prst="rect">
            <a:avLst/>
          </a:prstGeom>
          <a:noFill/>
        </p:spPr>
        <p:txBody>
          <a:bodyPr wrap="none" anchor="ctr">
            <a:spAutoFit/>
          </a:bodyPr>
          <a:lstStyle/>
          <a:p>
            <a:pPr algn="ctr">
              <a:defRPr sz="1500" b="1">
                <a:solidFill>
                  <a:srgbClr val="FFFFFF"/>
                </a:solidFill>
              </a:defRPr>
            </a:pPr>
            <a:r>
              <a:t>PAPER 3</a:t>
            </a:r>
          </a:p>
        </p:txBody>
      </p:sp>
      <p:sp>
        <p:nvSpPr>
          <p:cNvPr id="15" name="TextBox 14"/>
          <p:cNvSpPr txBox="1"/>
          <p:nvPr/>
        </p:nvSpPr>
        <p:spPr>
          <a:xfrm>
            <a:off x="3291840" y="4572000"/>
            <a:ext cx="8229600" cy="1143000"/>
          </a:xfrm>
          <a:prstGeom prst="rect">
            <a:avLst/>
          </a:prstGeom>
          <a:noFill/>
        </p:spPr>
        <p:txBody>
          <a:bodyPr wrap="square" anchor="ctr">
            <a:spAutoFit/>
          </a:bodyPr>
          <a:lstStyle/>
          <a:p>
            <a:pPr>
              <a:defRPr sz="1600">
                <a:solidFill>
                  <a:srgbClr val="232B33"/>
                </a:solidFill>
              </a:defRPr>
            </a:pPr>
            <a:r>
              <a:t>Dynamic partial repartitioning after a resource fails mid-workflow.  This proposal; the target is IPDPS or CCGrid 2028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46120"/>
            <a:ext cx="12191695" cy="82296"/>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332720" cy="548640"/>
          </a:xfrm>
          <a:prstGeom prst="rect">
            <a:avLst/>
          </a:prstGeom>
          <a:noFill/>
        </p:spPr>
        <p:txBody>
          <a:bodyPr wrap="none">
            <a:spAutoFit/>
          </a:bodyPr>
          <a:lstStyle/>
          <a:p>
            <a:pPr>
              <a:defRPr sz="2000" b="1">
                <a:solidFill>
                  <a:srgbClr val="0B2A4A"/>
                </a:solidFill>
              </a:defRPr>
            </a:pPr>
            <a:r>
              <a:t>2  |  RELATED WORK</a:t>
            </a:r>
          </a:p>
        </p:txBody>
      </p:sp>
      <p:sp>
        <p:nvSpPr>
          <p:cNvPr id="5" name="TextBox 4"/>
          <p:cNvSpPr txBox="1"/>
          <p:nvPr/>
        </p:nvSpPr>
        <p:spPr>
          <a:xfrm>
            <a:off x="914400" y="2468880"/>
            <a:ext cx="10332720" cy="1463040"/>
          </a:xfrm>
          <a:prstGeom prst="rect">
            <a:avLst/>
          </a:prstGeom>
          <a:noFill/>
        </p:spPr>
        <p:txBody>
          <a:bodyPr wrap="square">
            <a:spAutoFit/>
          </a:bodyPr>
          <a:lstStyle/>
          <a:p>
            <a:pPr>
              <a:defRPr sz="4000" b="1">
                <a:solidFill>
                  <a:srgbClr val="FFFFFF"/>
                </a:solidFill>
              </a:defRPr>
            </a:pPr>
            <a:r>
              <a:t>What is known, and what is missing</a:t>
            </a:r>
          </a:p>
        </p:txBody>
      </p:sp>
      <p:sp>
        <p:nvSpPr>
          <p:cNvPr id="6" name="TextBox 5"/>
          <p:cNvSpPr txBox="1"/>
          <p:nvPr/>
        </p:nvSpPr>
        <p:spPr>
          <a:xfrm>
            <a:off x="914400" y="3749039"/>
            <a:ext cx="10332720" cy="1463040"/>
          </a:xfrm>
          <a:prstGeom prst="rect">
            <a:avLst/>
          </a:prstGeom>
          <a:noFill/>
        </p:spPr>
        <p:txBody>
          <a:bodyPr wrap="square">
            <a:spAutoFit/>
          </a:bodyPr>
          <a:lstStyle/>
          <a:p>
            <a:pPr>
              <a:defRPr sz="1900">
                <a:solidFill>
                  <a:srgbClr val="EDF2F7"/>
                </a:solidFill>
              </a:defRPr>
            </a:pPr>
            <a:r>
              <a:t>Four research threads converge; none covers the whole problem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64592" cy="598932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11338560" cy="640080"/>
          </a:xfrm>
          <a:prstGeom prst="rect">
            <a:avLst/>
          </a:prstGeom>
          <a:noFill/>
        </p:spPr>
        <p:txBody>
          <a:bodyPr wrap="none" anchor="ctr">
            <a:spAutoFit/>
          </a:bodyPr>
          <a:lstStyle/>
          <a:p>
            <a:pPr>
              <a:defRPr sz="2700" b="1">
                <a:solidFill>
                  <a:srgbClr val="FFFFFF"/>
                </a:solidFill>
              </a:defRPr>
            </a:pPr>
            <a:r>
              <a:t>Classic DAG scheduling</a:t>
            </a:r>
          </a:p>
        </p:txBody>
      </p:sp>
      <p:sp>
        <p:nvSpPr>
          <p:cNvPr id="5" name="TextBox 4"/>
          <p:cNvSpPr txBox="1"/>
          <p:nvPr/>
        </p:nvSpPr>
        <p:spPr>
          <a:xfrm>
            <a:off x="457200" y="6473952"/>
            <a:ext cx="10515600" cy="320040"/>
          </a:xfrm>
          <a:prstGeom prst="rect">
            <a:avLst/>
          </a:prstGeom>
          <a:noFill/>
        </p:spPr>
        <p:txBody>
          <a:bodyPr wrap="none">
            <a:spAutoFit/>
          </a:bodyPr>
          <a:lstStyle/>
          <a:p>
            <a:pPr>
              <a:defRPr sz="1000">
                <a:solidFill>
                  <a:srgbClr val="5A646E"/>
                </a:solidFill>
              </a:defRPr>
            </a:pPr>
            <a:r>
              <a:t>2  |  Related work</a:t>
            </a:r>
          </a:p>
        </p:txBody>
      </p:sp>
      <p:sp>
        <p:nvSpPr>
          <p:cNvPr id="6" name="TextBox 5"/>
          <p:cNvSpPr txBox="1"/>
          <p:nvPr/>
        </p:nvSpPr>
        <p:spPr>
          <a:xfrm>
            <a:off x="11247120" y="6473952"/>
            <a:ext cx="731520" cy="320040"/>
          </a:xfrm>
          <a:prstGeom prst="rect">
            <a:avLst/>
          </a:prstGeom>
          <a:noFill/>
        </p:spPr>
        <p:txBody>
          <a:bodyPr wrap="none">
            <a:spAutoFit/>
          </a:bodyPr>
          <a:lstStyle/>
          <a:p>
            <a:pPr algn="r">
              <a:defRPr sz="1000">
                <a:solidFill>
                  <a:srgbClr val="5A646E"/>
                </a:solidFill>
              </a:defRPr>
            </a:pPr>
            <a:r>
              <a:t>8</a:t>
            </a:r>
          </a:p>
        </p:txBody>
      </p:sp>
      <p:sp>
        <p:nvSpPr>
          <p:cNvPr id="7" name="TextBox 6"/>
          <p:cNvSpPr txBox="1"/>
          <p:nvPr/>
        </p:nvSpPr>
        <p:spPr>
          <a:xfrm>
            <a:off x="594360" y="1143000"/>
            <a:ext cx="10972800" cy="5120640"/>
          </a:xfrm>
          <a:prstGeom prst="rect">
            <a:avLst/>
          </a:prstGeom>
          <a:noFill/>
        </p:spPr>
        <p:txBody>
          <a:bodyPr wrap="square">
            <a:spAutoFit/>
          </a:bodyPr>
          <a:lstStyle/>
          <a:p>
            <a:pPr>
              <a:spcAft>
                <a:spcPts val="800"/>
              </a:spcAft>
              <a:defRPr sz="1800">
                <a:solidFill>
                  <a:srgbClr val="232B33"/>
                </a:solidFill>
              </a:defRPr>
            </a:pPr>
            <a:r>
              <a:t>HEFT (Topcuoglu et al., 2002) is the reference algorithm: rank tasks, place each where it finishes earliest</a:t>
            </a:r>
          </a:p>
          <a:p>
            <a:pPr>
              <a:spcAft>
                <a:spcPts val="800"/>
              </a:spcAft>
              <a:defRPr sz="1800">
                <a:solidFill>
                  <a:srgbClr val="232B33"/>
                </a:solidFill>
              </a:defRPr>
            </a:pPr>
            <a:r>
              <a:t>CPOP, PEFT and the rest of that family refine the same template</a:t>
            </a:r>
          </a:p>
          <a:p>
            <a:pPr>
              <a:spcAft>
                <a:spcPts val="800"/>
              </a:spcAft>
              <a:defRPr sz="1800">
                <a:solidFill>
                  <a:srgbClr val="232B33"/>
                </a:solidFill>
              </a:defRPr>
            </a:pPr>
            <a:r>
              <a:t>But all of them assume tasks run completely, transfers are static edge weights, and the plan is fixed before execution starts</a:t>
            </a:r>
          </a:p>
          <a:p>
            <a:pPr>
              <a:spcAft>
                <a:spcPts val="800"/>
              </a:spcAft>
              <a:defRPr sz="1800">
                <a:solidFill>
                  <a:srgbClr val="232B33"/>
                </a:solidFill>
              </a:defRPr>
            </a:pPr>
            <a:r>
              <a:t>Federated-fog variants add eligibility and federation constraints; that is where our first paper sits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64592" cy="598932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11338560" cy="640080"/>
          </a:xfrm>
          <a:prstGeom prst="rect">
            <a:avLst/>
          </a:prstGeom>
          <a:noFill/>
        </p:spPr>
        <p:txBody>
          <a:bodyPr wrap="none" anchor="ctr">
            <a:spAutoFit/>
          </a:bodyPr>
          <a:lstStyle/>
          <a:p>
            <a:pPr>
              <a:defRPr sz="2700" b="1">
                <a:solidFill>
                  <a:srgbClr val="FFFFFF"/>
                </a:solidFill>
              </a:defRPr>
            </a:pPr>
            <a:r>
              <a:t>Fog and edge scheduling</a:t>
            </a:r>
          </a:p>
        </p:txBody>
      </p:sp>
      <p:sp>
        <p:nvSpPr>
          <p:cNvPr id="5" name="TextBox 4"/>
          <p:cNvSpPr txBox="1"/>
          <p:nvPr/>
        </p:nvSpPr>
        <p:spPr>
          <a:xfrm>
            <a:off x="457200" y="6473952"/>
            <a:ext cx="10515600" cy="320040"/>
          </a:xfrm>
          <a:prstGeom prst="rect">
            <a:avLst/>
          </a:prstGeom>
          <a:noFill/>
        </p:spPr>
        <p:txBody>
          <a:bodyPr wrap="none">
            <a:spAutoFit/>
          </a:bodyPr>
          <a:lstStyle/>
          <a:p>
            <a:pPr>
              <a:defRPr sz="1000">
                <a:solidFill>
                  <a:srgbClr val="5A646E"/>
                </a:solidFill>
              </a:defRPr>
            </a:pPr>
            <a:r>
              <a:t>2  |  Related work</a:t>
            </a:r>
          </a:p>
        </p:txBody>
      </p:sp>
      <p:sp>
        <p:nvSpPr>
          <p:cNvPr id="6" name="TextBox 5"/>
          <p:cNvSpPr txBox="1"/>
          <p:nvPr/>
        </p:nvSpPr>
        <p:spPr>
          <a:xfrm>
            <a:off x="11247120" y="6473952"/>
            <a:ext cx="731520" cy="320040"/>
          </a:xfrm>
          <a:prstGeom prst="rect">
            <a:avLst/>
          </a:prstGeom>
          <a:noFill/>
        </p:spPr>
        <p:txBody>
          <a:bodyPr wrap="none">
            <a:spAutoFit/>
          </a:bodyPr>
          <a:lstStyle/>
          <a:p>
            <a:pPr algn="r">
              <a:defRPr sz="1000">
                <a:solidFill>
                  <a:srgbClr val="5A646E"/>
                </a:solidFill>
              </a:defRPr>
            </a:pPr>
            <a:r>
              <a:t>9</a:t>
            </a:r>
          </a:p>
        </p:txBody>
      </p:sp>
      <p:sp>
        <p:nvSpPr>
          <p:cNvPr id="7" name="TextBox 6"/>
          <p:cNvSpPr txBox="1"/>
          <p:nvPr/>
        </p:nvSpPr>
        <p:spPr>
          <a:xfrm>
            <a:off x="594360" y="1143000"/>
            <a:ext cx="10972800" cy="5120640"/>
          </a:xfrm>
          <a:prstGeom prst="rect">
            <a:avLst/>
          </a:prstGeom>
          <a:noFill/>
        </p:spPr>
        <p:txBody>
          <a:bodyPr wrap="square">
            <a:spAutoFit/>
          </a:bodyPr>
          <a:lstStyle/>
          <a:p>
            <a:pPr>
              <a:spcAft>
                <a:spcPts val="800"/>
              </a:spcAft>
              <a:defRPr sz="1800">
                <a:solidFill>
                  <a:srgbClr val="232B33"/>
                </a:solidFill>
              </a:defRPr>
            </a:pPr>
            <a:r>
              <a:t>Fog schedulers handle capacity, eligibility and heterogeneity across the edge, fog and cloud tiers</a:t>
            </a:r>
          </a:p>
          <a:p>
            <a:pPr>
              <a:spcAft>
                <a:spcPts val="800"/>
              </a:spcAft>
              <a:defRPr sz="1800">
                <a:solidFill>
                  <a:srgbClr val="232B33"/>
                </a:solidFill>
              </a:defRPr>
            </a:pPr>
            <a:r>
              <a:t>Surveys like Mouradian et al. (2018) catalog the placement policies</a:t>
            </a:r>
          </a:p>
          <a:p>
            <a:pPr>
              <a:spcAft>
                <a:spcPts val="800"/>
              </a:spcAft>
              <a:defRPr sz="1800">
                <a:solidFill>
                  <a:srgbClr val="232B33"/>
                </a:solidFill>
              </a:defRPr>
            </a:pPr>
            <a:r>
              <a:t>Locality is priced in, but per-link bandwidth rarely is</a:t>
            </a:r>
          </a:p>
          <a:p>
            <a:pPr>
              <a:spcAft>
                <a:spcPts val="800"/>
              </a:spcAft>
              <a:defRPr sz="1800">
                <a:solidFill>
                  <a:srgbClr val="232B33"/>
                </a:solidFill>
              </a:defRPr>
            </a:pPr>
            <a:r>
              <a:t>And tasks are atomic: they run completely or not at all</a:t>
            </a:r>
          </a:p>
          <a:p>
            <a:pPr>
              <a:spcAft>
                <a:spcPts val="800"/>
              </a:spcAft>
              <a:defRPr sz="1800">
                <a:solidFill>
                  <a:srgbClr val="232B33"/>
                </a:solidFill>
              </a:defRPr>
            </a:pPr>
            <a:r>
              <a:t>Failures are handled by restarting, not by repairing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64592" cy="598932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11338560" cy="640080"/>
          </a:xfrm>
          <a:prstGeom prst="rect">
            <a:avLst/>
          </a:prstGeom>
          <a:noFill/>
        </p:spPr>
        <p:txBody>
          <a:bodyPr wrap="none" anchor="ctr">
            <a:spAutoFit/>
          </a:bodyPr>
          <a:lstStyle/>
          <a:p>
            <a:pPr>
              <a:defRPr sz="2700" b="1">
                <a:solidFill>
                  <a:srgbClr val="FFFFFF"/>
                </a:solidFill>
              </a:defRPr>
            </a:pPr>
            <a:r>
              <a:t>Approximate computing</a:t>
            </a:r>
          </a:p>
        </p:txBody>
      </p:sp>
      <p:sp>
        <p:nvSpPr>
          <p:cNvPr id="5" name="TextBox 4"/>
          <p:cNvSpPr txBox="1"/>
          <p:nvPr/>
        </p:nvSpPr>
        <p:spPr>
          <a:xfrm>
            <a:off x="457200" y="6473952"/>
            <a:ext cx="10515600" cy="320040"/>
          </a:xfrm>
          <a:prstGeom prst="rect">
            <a:avLst/>
          </a:prstGeom>
          <a:noFill/>
        </p:spPr>
        <p:txBody>
          <a:bodyPr wrap="none">
            <a:spAutoFit/>
          </a:bodyPr>
          <a:lstStyle/>
          <a:p>
            <a:pPr>
              <a:defRPr sz="1000">
                <a:solidFill>
                  <a:srgbClr val="5A646E"/>
                </a:solidFill>
              </a:defRPr>
            </a:pPr>
            <a:r>
              <a:t>2  |  Related work</a:t>
            </a:r>
          </a:p>
        </p:txBody>
      </p:sp>
      <p:sp>
        <p:nvSpPr>
          <p:cNvPr id="6" name="TextBox 5"/>
          <p:cNvSpPr txBox="1"/>
          <p:nvPr/>
        </p:nvSpPr>
        <p:spPr>
          <a:xfrm>
            <a:off x="11247120" y="6473952"/>
            <a:ext cx="731520" cy="320040"/>
          </a:xfrm>
          <a:prstGeom prst="rect">
            <a:avLst/>
          </a:prstGeom>
          <a:noFill/>
        </p:spPr>
        <p:txBody>
          <a:bodyPr wrap="none">
            <a:spAutoFit/>
          </a:bodyPr>
          <a:lstStyle/>
          <a:p>
            <a:pPr algn="r">
              <a:defRPr sz="1000">
                <a:solidFill>
                  <a:srgbClr val="5A646E"/>
                </a:solidFill>
              </a:defRPr>
            </a:pPr>
            <a:r>
              <a:t>10</a:t>
            </a:r>
          </a:p>
        </p:txBody>
      </p:sp>
      <p:sp>
        <p:nvSpPr>
          <p:cNvPr id="7" name="TextBox 6"/>
          <p:cNvSpPr txBox="1"/>
          <p:nvPr/>
        </p:nvSpPr>
        <p:spPr>
          <a:xfrm>
            <a:off x="594360" y="1143000"/>
            <a:ext cx="10972800" cy="5120640"/>
          </a:xfrm>
          <a:prstGeom prst="rect">
            <a:avLst/>
          </a:prstGeom>
          <a:noFill/>
        </p:spPr>
        <p:txBody>
          <a:bodyPr wrap="square">
            <a:spAutoFit/>
          </a:bodyPr>
          <a:lstStyle/>
          <a:p>
            <a:pPr>
              <a:spcAft>
                <a:spcPts val="800"/>
              </a:spcAft>
              <a:defRPr sz="1800">
                <a:solidFill>
                  <a:srgbClr val="232B33"/>
                </a:solidFill>
              </a:defRPr>
            </a:pPr>
            <a:r>
              <a:t>Trades result quality for time or energy: loop truncation, reduced precision, early termination</a:t>
            </a:r>
          </a:p>
          <a:p>
            <a:pPr>
              <a:spcAft>
                <a:spcPts val="800"/>
              </a:spcAft>
              <a:defRPr sz="1800">
                <a:solidFill>
                  <a:srgbClr val="232B33"/>
                </a:solidFill>
              </a:defRPr>
            </a:pPr>
            <a:r>
              <a:t>That makes accuracy a schedulable resource, which is exactly what a tight deadline needs</a:t>
            </a:r>
          </a:p>
          <a:p>
            <a:pPr>
              <a:spcAft>
                <a:spcPts val="800"/>
              </a:spcAft>
              <a:defRPr sz="1800">
                <a:solidFill>
                  <a:srgbClr val="232B33"/>
                </a:solidFill>
              </a:defRPr>
            </a:pPr>
            <a:r>
              <a:t>But the literature assumes the data is already where it needs to be; the transfer cost is not part of the trade</a:t>
            </a:r>
          </a:p>
          <a:p>
            <a:pPr>
              <a:spcAft>
                <a:spcPts val="800"/>
              </a:spcAft>
              <a:defRPr sz="1800">
                <a:solidFill>
                  <a:srgbClr val="232B33"/>
                </a:solidFill>
              </a:defRPr>
            </a:pPr>
            <a:r>
              <a:t>We put the two together: approximation and data movement in one model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64592" cy="598932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11338560" cy="640080"/>
          </a:xfrm>
          <a:prstGeom prst="rect">
            <a:avLst/>
          </a:prstGeom>
          <a:noFill/>
        </p:spPr>
        <p:txBody>
          <a:bodyPr wrap="none" anchor="ctr">
            <a:spAutoFit/>
          </a:bodyPr>
          <a:lstStyle/>
          <a:p>
            <a:pPr>
              <a:defRPr sz="2700" b="1">
                <a:solidFill>
                  <a:srgbClr val="FFFFFF"/>
                </a:solidFill>
              </a:defRPr>
            </a:pPr>
            <a:r>
              <a:t>Failure recovery and rescheduling</a:t>
            </a:r>
          </a:p>
        </p:txBody>
      </p:sp>
      <p:sp>
        <p:nvSpPr>
          <p:cNvPr id="5" name="TextBox 4"/>
          <p:cNvSpPr txBox="1"/>
          <p:nvPr/>
        </p:nvSpPr>
        <p:spPr>
          <a:xfrm>
            <a:off x="457200" y="6473952"/>
            <a:ext cx="10515600" cy="320040"/>
          </a:xfrm>
          <a:prstGeom prst="rect">
            <a:avLst/>
          </a:prstGeom>
          <a:noFill/>
        </p:spPr>
        <p:txBody>
          <a:bodyPr wrap="none">
            <a:spAutoFit/>
          </a:bodyPr>
          <a:lstStyle/>
          <a:p>
            <a:pPr>
              <a:defRPr sz="1000">
                <a:solidFill>
                  <a:srgbClr val="5A646E"/>
                </a:solidFill>
              </a:defRPr>
            </a:pPr>
            <a:r>
              <a:t>2  |  Related work</a:t>
            </a:r>
          </a:p>
        </p:txBody>
      </p:sp>
      <p:sp>
        <p:nvSpPr>
          <p:cNvPr id="6" name="TextBox 5"/>
          <p:cNvSpPr txBox="1"/>
          <p:nvPr/>
        </p:nvSpPr>
        <p:spPr>
          <a:xfrm>
            <a:off x="11247120" y="6473952"/>
            <a:ext cx="731520" cy="320040"/>
          </a:xfrm>
          <a:prstGeom prst="rect">
            <a:avLst/>
          </a:prstGeom>
          <a:noFill/>
        </p:spPr>
        <p:txBody>
          <a:bodyPr wrap="none">
            <a:spAutoFit/>
          </a:bodyPr>
          <a:lstStyle/>
          <a:p>
            <a:pPr algn="r">
              <a:defRPr sz="1000">
                <a:solidFill>
                  <a:srgbClr val="5A646E"/>
                </a:solidFill>
              </a:defRPr>
            </a:pPr>
            <a:r>
              <a:t>11</a:t>
            </a:r>
          </a:p>
        </p:txBody>
      </p:sp>
      <p:sp>
        <p:nvSpPr>
          <p:cNvPr id="7" name="TextBox 6"/>
          <p:cNvSpPr txBox="1"/>
          <p:nvPr/>
        </p:nvSpPr>
        <p:spPr>
          <a:xfrm>
            <a:off x="594360" y="1143000"/>
            <a:ext cx="10972800" cy="5120640"/>
          </a:xfrm>
          <a:prstGeom prst="rect">
            <a:avLst/>
          </a:prstGeom>
          <a:noFill/>
        </p:spPr>
        <p:txBody>
          <a:bodyPr wrap="square">
            <a:spAutoFit/>
          </a:bodyPr>
          <a:lstStyle/>
          <a:p>
            <a:pPr>
              <a:spcAft>
                <a:spcPts val="800"/>
              </a:spcAft>
              <a:defRPr sz="1800">
                <a:solidFill>
                  <a:srgbClr val="232B33"/>
                </a:solidFill>
              </a:defRPr>
            </a:pPr>
            <a:r>
              <a:t>Workflow rescheduling (Sakellariou and Zhao, 2004) reconsiders the plan at chosen points, but remaps it globally</a:t>
            </a:r>
          </a:p>
          <a:p>
            <a:pPr>
              <a:spcAft>
                <a:spcPts val="800"/>
              </a:spcAft>
              <a:defRPr sz="1800">
                <a:solidFill>
                  <a:srgbClr val="232B33"/>
                </a:solidFill>
              </a:defRPr>
            </a:pPr>
            <a:r>
              <a:t>Fog studies redistribute tasks when nodes join or leave, or when uncertain events hit</a:t>
            </a:r>
          </a:p>
          <a:p>
            <a:pPr>
              <a:spcAft>
                <a:spcPts val="800"/>
              </a:spcAft>
              <a:defRPr sz="1800">
                <a:solidFill>
                  <a:srgbClr val="232B33"/>
                </a:solidFill>
              </a:defRPr>
            </a:pPr>
            <a:r>
              <a:t>Checkpointing and replication recover the work, at a real recompute or replication cost</a:t>
            </a:r>
          </a:p>
          <a:p>
            <a:pPr>
              <a:spcAft>
                <a:spcPts val="800"/>
              </a:spcAft>
              <a:defRPr sz="1800">
                <a:solidFill>
                  <a:srgbClr val="232B33"/>
                </a:solidFill>
              </a:defRPr>
            </a:pPr>
            <a:r>
              <a:t>Dynamic shortest-path updates (Riazi, Khanda, Bhowmick and colleagues) repair routing after a graph change; nobody has used them for workflow repartitioning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64592" cy="598932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11338560" cy="640080"/>
          </a:xfrm>
          <a:prstGeom prst="rect">
            <a:avLst/>
          </a:prstGeom>
          <a:noFill/>
        </p:spPr>
        <p:txBody>
          <a:bodyPr wrap="none" anchor="ctr">
            <a:spAutoFit/>
          </a:bodyPr>
          <a:lstStyle/>
          <a:p>
            <a:pPr>
              <a:defRPr sz="2700" b="1">
                <a:solidFill>
                  <a:srgbClr val="FFFFFF"/>
                </a:solidFill>
              </a:defRPr>
            </a:pPr>
            <a:r>
              <a:t>The gap, in one table</a:t>
            </a:r>
          </a:p>
        </p:txBody>
      </p:sp>
      <p:sp>
        <p:nvSpPr>
          <p:cNvPr id="5" name="TextBox 4"/>
          <p:cNvSpPr txBox="1"/>
          <p:nvPr/>
        </p:nvSpPr>
        <p:spPr>
          <a:xfrm>
            <a:off x="457200" y="6473952"/>
            <a:ext cx="10515600" cy="320040"/>
          </a:xfrm>
          <a:prstGeom prst="rect">
            <a:avLst/>
          </a:prstGeom>
          <a:noFill/>
        </p:spPr>
        <p:txBody>
          <a:bodyPr wrap="none">
            <a:spAutoFit/>
          </a:bodyPr>
          <a:lstStyle/>
          <a:p>
            <a:pPr>
              <a:defRPr sz="1000">
                <a:solidFill>
                  <a:srgbClr val="5A646E"/>
                </a:solidFill>
              </a:defRPr>
            </a:pPr>
            <a:r>
              <a:t>2  |  Related work</a:t>
            </a:r>
          </a:p>
        </p:txBody>
      </p:sp>
      <p:sp>
        <p:nvSpPr>
          <p:cNvPr id="6" name="TextBox 5"/>
          <p:cNvSpPr txBox="1"/>
          <p:nvPr/>
        </p:nvSpPr>
        <p:spPr>
          <a:xfrm>
            <a:off x="11247120" y="6473952"/>
            <a:ext cx="731520" cy="320040"/>
          </a:xfrm>
          <a:prstGeom prst="rect">
            <a:avLst/>
          </a:prstGeom>
          <a:noFill/>
        </p:spPr>
        <p:txBody>
          <a:bodyPr wrap="none">
            <a:spAutoFit/>
          </a:bodyPr>
          <a:lstStyle/>
          <a:p>
            <a:pPr algn="r">
              <a:defRPr sz="1000">
                <a:solidFill>
                  <a:srgbClr val="5A646E"/>
                </a:solidFill>
              </a:defRPr>
            </a:pPr>
            <a:r>
              <a:t>12</a:t>
            </a:r>
          </a:p>
        </p:txBody>
      </p:sp>
      <p:graphicFrame>
        <p:nvGraphicFramePr>
          <p:cNvPr id="7" name="Table 6"/>
          <p:cNvGraphicFramePr>
            <a:graphicFrameLocks noGrp="1"/>
          </p:cNvGraphicFramePr>
          <p:nvPr/>
        </p:nvGraphicFramePr>
        <p:xfrm>
          <a:off x="731520" y="1234440"/>
          <a:ext cx="10698480" cy="3108960"/>
        </p:xfrm>
        <a:graphic>
          <a:graphicData uri="http://schemas.openxmlformats.org/drawingml/2006/table">
            <a:tbl>
              <a:tblPr firstRow="1" bandRow="1">
                <a:tableStyleId>{5C22544A-7EE6-4342-B048-85BDC9FD1C3A}</a:tableStyleId>
              </a:tblPr>
              <a:tblGrid>
                <a:gridCol w="3931920"/>
                <a:gridCol w="1691640"/>
                <a:gridCol w="1691640"/>
                <a:gridCol w="1691640"/>
                <a:gridCol w="1691640"/>
              </a:tblGrid>
              <a:tr h="621792">
                <a:tc>
                  <a:txBody>
                    <a:bodyPr wrap="square"/>
                    <a:lstStyle/>
                    <a:p>
                      <a:pPr>
                        <a:defRPr sz="1400" b="1">
                          <a:solidFill>
                            <a:srgbClr val="FFFFFF"/>
                          </a:solidFill>
                        </a:defRPr>
                      </a:pPr>
                      <a:r>
                        <a:t>Capability</a:t>
                      </a:r>
                    </a:p>
                  </a:txBody>
                  <a:tcPr marT="38100" marB="38100" marL="76200" marR="76200">
                    <a:solidFill>
                      <a:srgbClr val="0B2A4A"/>
                    </a:solidFill>
                  </a:tcPr>
                </a:tc>
                <a:tc>
                  <a:txBody>
                    <a:bodyPr wrap="square"/>
                    <a:lstStyle/>
                    <a:p>
                      <a:pPr>
                        <a:defRPr sz="1400" b="1">
                          <a:solidFill>
                            <a:srgbClr val="FFFFFF"/>
                          </a:solidFill>
                        </a:defRPr>
                      </a:pPr>
                      <a:r>
                        <a:t>HEFT / classic</a:t>
                      </a:r>
                    </a:p>
                  </a:txBody>
                  <a:tcPr marT="38100" marB="38100" marL="76200" marR="76200">
                    <a:solidFill>
                      <a:srgbClr val="0B2A4A"/>
                    </a:solidFill>
                  </a:tcPr>
                </a:tc>
                <a:tc>
                  <a:txBody>
                    <a:bodyPr wrap="square"/>
                    <a:lstStyle/>
                    <a:p>
                      <a:pPr>
                        <a:defRPr sz="1400" b="1">
                          <a:solidFill>
                            <a:srgbClr val="FFFFFF"/>
                          </a:solidFill>
                        </a:defRPr>
                      </a:pPr>
                      <a:r>
                        <a:t>Fog schedulers</a:t>
                      </a:r>
                    </a:p>
                  </a:txBody>
                  <a:tcPr marT="38100" marB="38100" marL="76200" marR="76200">
                    <a:solidFill>
                      <a:srgbClr val="0B2A4A"/>
                    </a:solidFill>
                  </a:tcPr>
                </a:tc>
                <a:tc>
                  <a:txBody>
                    <a:bodyPr wrap="square"/>
                    <a:lstStyle/>
                    <a:p>
                      <a:pPr>
                        <a:defRPr sz="1400" b="1">
                          <a:solidFill>
                            <a:srgbClr val="FFFFFF"/>
                          </a:solidFill>
                        </a:defRPr>
                      </a:pPr>
                      <a:r>
                        <a:t>Papers 1 + 2</a:t>
                      </a:r>
                    </a:p>
                  </a:txBody>
                  <a:tcPr marT="38100" marB="38100" marL="76200" marR="76200">
                    <a:solidFill>
                      <a:srgbClr val="0B2A4A"/>
                    </a:solidFill>
                  </a:tcPr>
                </a:tc>
                <a:tc>
                  <a:txBody>
                    <a:bodyPr wrap="square"/>
                    <a:lstStyle/>
                    <a:p>
                      <a:pPr>
                        <a:defRPr sz="1400" b="1">
                          <a:solidFill>
                            <a:srgbClr val="FFFFFF"/>
                          </a:solidFill>
                        </a:defRPr>
                      </a:pPr>
                      <a:r>
                        <a:t>Proposed work</a:t>
                      </a:r>
                    </a:p>
                  </a:txBody>
                  <a:tcPr marT="38100" marB="38100" marL="76200" marR="76200">
                    <a:solidFill>
                      <a:srgbClr val="0B2A4A"/>
                    </a:solidFill>
                  </a:tcPr>
                </a:tc>
              </a:tr>
              <a:tr h="621792">
                <a:tc>
                  <a:txBody>
                    <a:bodyPr wrap="square"/>
                    <a:lstStyle/>
                    <a:p>
                      <a:pPr>
                        <a:defRPr sz="1400" b="0">
                          <a:solidFill>
                            <a:srgbClr val="232B33"/>
                          </a:solidFill>
                        </a:defRPr>
                      </a:pPr>
                      <a:r>
                        <a:t>Placement on heterogeneous nodes</a:t>
                      </a:r>
                    </a:p>
                  </a:txBody>
                  <a:tcPr marT="38100" marB="38100" marL="76200" marR="76200">
                    <a:solidFill>
                      <a:srgbClr val="FFFFFF"/>
                    </a:solidFill>
                  </a:tcPr>
                </a:tc>
                <a:tc>
                  <a:txBody>
                    <a:bodyPr wrap="square"/>
                    <a:lstStyle/>
                    <a:p>
                      <a:pPr>
                        <a:defRPr sz="1400" b="0">
                          <a:solidFill>
                            <a:srgbClr val="232B33"/>
                          </a:solidFill>
                        </a:defRPr>
                      </a:pPr>
                      <a:r>
                        <a:t>yes</a:t>
                      </a:r>
                    </a:p>
                  </a:txBody>
                  <a:tcPr marT="38100" marB="38100" marL="76200" marR="76200">
                    <a:solidFill>
                      <a:srgbClr val="FFFFFF"/>
                    </a:solidFill>
                  </a:tcPr>
                </a:tc>
                <a:tc>
                  <a:txBody>
                    <a:bodyPr wrap="square"/>
                    <a:lstStyle/>
                    <a:p>
                      <a:pPr>
                        <a:defRPr sz="1400" b="0">
                          <a:solidFill>
                            <a:srgbClr val="232B33"/>
                          </a:solidFill>
                        </a:defRPr>
                      </a:pPr>
                      <a:r>
                        <a:t>yes</a:t>
                      </a:r>
                    </a:p>
                  </a:txBody>
                  <a:tcPr marT="38100" marB="38100" marL="76200" marR="76200">
                    <a:solidFill>
                      <a:srgbClr val="FFFFFF"/>
                    </a:solidFill>
                  </a:tcPr>
                </a:tc>
                <a:tc>
                  <a:txBody>
                    <a:bodyPr wrap="square"/>
                    <a:lstStyle/>
                    <a:p>
                      <a:pPr>
                        <a:defRPr sz="1400" b="0">
                          <a:solidFill>
                            <a:srgbClr val="232B33"/>
                          </a:solidFill>
                        </a:defRPr>
                      </a:pPr>
                      <a:r>
                        <a:t>yes</a:t>
                      </a:r>
                    </a:p>
                  </a:txBody>
                  <a:tcPr marT="38100" marB="38100" marL="76200" marR="76200">
                    <a:solidFill>
                      <a:srgbClr val="FFFFFF"/>
                    </a:solidFill>
                  </a:tcPr>
                </a:tc>
                <a:tc>
                  <a:txBody>
                    <a:bodyPr wrap="square"/>
                    <a:lstStyle/>
                    <a:p>
                      <a:pPr>
                        <a:defRPr sz="1400" b="0">
                          <a:solidFill>
                            <a:srgbClr val="232B33"/>
                          </a:solidFill>
                        </a:defRPr>
                      </a:pPr>
                      <a:r>
                        <a:t>yes</a:t>
                      </a:r>
                    </a:p>
                  </a:txBody>
                  <a:tcPr marT="38100" marB="38100" marL="76200" marR="76200">
                    <a:solidFill>
                      <a:srgbClr val="FFFFFF"/>
                    </a:solidFill>
                  </a:tcPr>
                </a:tc>
              </a:tr>
              <a:tr h="621792">
                <a:tc>
                  <a:txBody>
                    <a:bodyPr wrap="square"/>
                    <a:lstStyle/>
                    <a:p>
                      <a:pPr>
                        <a:defRPr sz="1400" b="0">
                          <a:solidFill>
                            <a:srgbClr val="232B33"/>
                          </a:solidFill>
                        </a:defRPr>
                      </a:pPr>
                      <a:r>
                        <a:t>Per-edge data + per-link bandwidth</a:t>
                      </a:r>
                    </a:p>
                  </a:txBody>
                  <a:tcPr marT="38100" marB="38100" marL="76200" marR="76200">
                    <a:solidFill>
                      <a:srgbClr val="EDF2F7"/>
                    </a:solidFill>
                  </a:tcPr>
                </a:tc>
                <a:tc>
                  <a:txBody>
                    <a:bodyPr wrap="square"/>
                    <a:lstStyle/>
                    <a:p>
                      <a:pPr>
                        <a:defRPr sz="1400" b="0">
                          <a:solidFill>
                            <a:srgbClr val="232B33"/>
                          </a:solidFill>
                        </a:defRPr>
                      </a:pPr>
                      <a:r>
                        <a:t>no</a:t>
                      </a:r>
                    </a:p>
                  </a:txBody>
                  <a:tcPr marT="38100" marB="38100" marL="76200" marR="76200">
                    <a:solidFill>
                      <a:srgbClr val="EDF2F7"/>
                    </a:solidFill>
                  </a:tcPr>
                </a:tc>
                <a:tc>
                  <a:txBody>
                    <a:bodyPr wrap="square"/>
                    <a:lstStyle/>
                    <a:p>
                      <a:pPr>
                        <a:defRPr sz="1400" b="0">
                          <a:solidFill>
                            <a:srgbClr val="232B33"/>
                          </a:solidFill>
                        </a:defRPr>
                      </a:pPr>
                      <a:r>
                        <a:t>partial</a:t>
                      </a:r>
                    </a:p>
                  </a:txBody>
                  <a:tcPr marT="38100" marB="38100" marL="76200" marR="76200">
                    <a:solidFill>
                      <a:srgbClr val="EDF2F7"/>
                    </a:solidFill>
                  </a:tcPr>
                </a:tc>
                <a:tc>
                  <a:txBody>
                    <a:bodyPr wrap="square"/>
                    <a:lstStyle/>
                    <a:p>
                      <a:pPr>
                        <a:defRPr sz="1400" b="0">
                          <a:solidFill>
                            <a:srgbClr val="232B33"/>
                          </a:solidFill>
                        </a:defRPr>
                      </a:pPr>
                      <a:r>
                        <a:t>yes</a:t>
                      </a:r>
                    </a:p>
                  </a:txBody>
                  <a:tcPr marT="38100" marB="38100" marL="76200" marR="76200">
                    <a:solidFill>
                      <a:srgbClr val="EDF2F7"/>
                    </a:solidFill>
                  </a:tcPr>
                </a:tc>
                <a:tc>
                  <a:txBody>
                    <a:bodyPr wrap="square"/>
                    <a:lstStyle/>
                    <a:p>
                      <a:pPr>
                        <a:defRPr sz="1400" b="0">
                          <a:solidFill>
                            <a:srgbClr val="232B33"/>
                          </a:solidFill>
                        </a:defRPr>
                      </a:pPr>
                      <a:r>
                        <a:t>yes</a:t>
                      </a:r>
                    </a:p>
                  </a:txBody>
                  <a:tcPr marT="38100" marB="38100" marL="76200" marR="76200">
                    <a:solidFill>
                      <a:srgbClr val="EDF2F7"/>
                    </a:solidFill>
                  </a:tcPr>
                </a:tc>
              </a:tr>
              <a:tr h="621792">
                <a:tc>
                  <a:txBody>
                    <a:bodyPr wrap="square"/>
                    <a:lstStyle/>
                    <a:p>
                      <a:pPr>
                        <a:defRPr sz="1400" b="0">
                          <a:solidFill>
                            <a:srgbClr val="232B33"/>
                          </a:solidFill>
                        </a:defRPr>
                      </a:pPr>
                      <a:r>
                        <a:t>Approximate execution fractions</a:t>
                      </a:r>
                    </a:p>
                  </a:txBody>
                  <a:tcPr marT="38100" marB="38100" marL="76200" marR="76200">
                    <a:solidFill>
                      <a:srgbClr val="FFFFFF"/>
                    </a:solidFill>
                  </a:tcPr>
                </a:tc>
                <a:tc>
                  <a:txBody>
                    <a:bodyPr wrap="square"/>
                    <a:lstStyle/>
                    <a:p>
                      <a:pPr>
                        <a:defRPr sz="1400" b="0">
                          <a:solidFill>
                            <a:srgbClr val="232B33"/>
                          </a:solidFill>
                        </a:defRPr>
                      </a:pPr>
                      <a:r>
                        <a:t>no</a:t>
                      </a:r>
                    </a:p>
                  </a:txBody>
                  <a:tcPr marT="38100" marB="38100" marL="76200" marR="76200">
                    <a:solidFill>
                      <a:srgbClr val="FFFFFF"/>
                    </a:solidFill>
                  </a:tcPr>
                </a:tc>
                <a:tc>
                  <a:txBody>
                    <a:bodyPr wrap="square"/>
                    <a:lstStyle/>
                    <a:p>
                      <a:pPr>
                        <a:defRPr sz="1400" b="0">
                          <a:solidFill>
                            <a:srgbClr val="232B33"/>
                          </a:solidFill>
                        </a:defRPr>
                      </a:pPr>
                      <a:r>
                        <a:t>no</a:t>
                      </a:r>
                    </a:p>
                  </a:txBody>
                  <a:tcPr marT="38100" marB="38100" marL="76200" marR="76200">
                    <a:solidFill>
                      <a:srgbClr val="FFFFFF"/>
                    </a:solidFill>
                  </a:tcPr>
                </a:tc>
                <a:tc>
                  <a:txBody>
                    <a:bodyPr wrap="square"/>
                    <a:lstStyle/>
                    <a:p>
                      <a:pPr>
                        <a:defRPr sz="1400" b="0">
                          <a:solidFill>
                            <a:srgbClr val="232B33"/>
                          </a:solidFill>
                        </a:defRPr>
                      </a:pPr>
                      <a:r>
                        <a:t>yes</a:t>
                      </a:r>
                    </a:p>
                  </a:txBody>
                  <a:tcPr marT="38100" marB="38100" marL="76200" marR="76200">
                    <a:solidFill>
                      <a:srgbClr val="FFFFFF"/>
                    </a:solidFill>
                  </a:tcPr>
                </a:tc>
                <a:tc>
                  <a:txBody>
                    <a:bodyPr wrap="square"/>
                    <a:lstStyle/>
                    <a:p>
                      <a:pPr>
                        <a:defRPr sz="1400" b="0">
                          <a:solidFill>
                            <a:srgbClr val="232B33"/>
                          </a:solidFill>
                        </a:defRPr>
                      </a:pPr>
                      <a:r>
                        <a:t>yes</a:t>
                      </a:r>
                    </a:p>
                  </a:txBody>
                  <a:tcPr marT="38100" marB="38100" marL="76200" marR="76200">
                    <a:solidFill>
                      <a:srgbClr val="FFFFFF"/>
                    </a:solidFill>
                  </a:tcPr>
                </a:tc>
              </a:tr>
              <a:tr h="621792">
                <a:tc>
                  <a:txBody>
                    <a:bodyPr wrap="square"/>
                    <a:lstStyle/>
                    <a:p>
                      <a:pPr>
                        <a:defRPr sz="1400" b="0">
                          <a:solidFill>
                            <a:srgbClr val="232B33"/>
                          </a:solidFill>
                        </a:defRPr>
                      </a:pPr>
                      <a:r>
                        <a:t>Recovery after resource failure</a:t>
                      </a:r>
                    </a:p>
                  </a:txBody>
                  <a:tcPr marT="38100" marB="38100" marL="76200" marR="76200">
                    <a:solidFill>
                      <a:srgbClr val="EDF2F7"/>
                    </a:solidFill>
                  </a:tcPr>
                </a:tc>
                <a:tc>
                  <a:txBody>
                    <a:bodyPr wrap="square"/>
                    <a:lstStyle/>
                    <a:p>
                      <a:pPr>
                        <a:defRPr sz="1400" b="0">
                          <a:solidFill>
                            <a:srgbClr val="232B33"/>
                          </a:solidFill>
                        </a:defRPr>
                      </a:pPr>
                      <a:r>
                        <a:t>restart</a:t>
                      </a:r>
                    </a:p>
                  </a:txBody>
                  <a:tcPr marT="38100" marB="38100" marL="76200" marR="76200">
                    <a:solidFill>
                      <a:srgbClr val="EDF2F7"/>
                    </a:solidFill>
                  </a:tcPr>
                </a:tc>
                <a:tc>
                  <a:txBody>
                    <a:bodyPr wrap="square"/>
                    <a:lstStyle/>
                    <a:p>
                      <a:pPr>
                        <a:defRPr sz="1400" b="0">
                          <a:solidFill>
                            <a:srgbClr val="232B33"/>
                          </a:solidFill>
                        </a:defRPr>
                      </a:pPr>
                      <a:r>
                        <a:t>reschedule all</a:t>
                      </a:r>
                    </a:p>
                  </a:txBody>
                  <a:tcPr marT="38100" marB="38100" marL="76200" marR="76200">
                    <a:solidFill>
                      <a:srgbClr val="EDF2F7"/>
                    </a:solidFill>
                  </a:tcPr>
                </a:tc>
                <a:tc>
                  <a:txBody>
                    <a:bodyPr wrap="square"/>
                    <a:lstStyle/>
                    <a:p>
                      <a:pPr>
                        <a:defRPr sz="1400" b="0">
                          <a:solidFill>
                            <a:srgbClr val="232B33"/>
                          </a:solidFill>
                        </a:defRPr>
                      </a:pPr>
                      <a:r>
                        <a:t>retry task</a:t>
                      </a:r>
                    </a:p>
                  </a:txBody>
                  <a:tcPr marT="38100" marB="38100" marL="76200" marR="76200">
                    <a:solidFill>
                      <a:srgbClr val="EDF2F7"/>
                    </a:solidFill>
                  </a:tcPr>
                </a:tc>
                <a:tc>
                  <a:txBody>
                    <a:bodyPr wrap="square"/>
                    <a:lstStyle/>
                    <a:p>
                      <a:pPr>
                        <a:defRPr sz="1400" b="0">
                          <a:solidFill>
                            <a:srgbClr val="232B33"/>
                          </a:solidFill>
                        </a:defRPr>
                      </a:pPr>
                      <a:r>
                        <a:t>repair region only</a:t>
                      </a:r>
                    </a:p>
                  </a:txBody>
                  <a:tcPr marT="38100" marB="38100" marL="76200" marR="76200">
                    <a:solidFill>
                      <a:srgbClr val="EDF2F7"/>
                    </a:solidFill>
                  </a:tcPr>
                </a:tc>
              </a:tr>
            </a:tbl>
          </a:graphicData>
        </a:graphic>
      </p:graphicFrame>
      <p:sp>
        <p:nvSpPr>
          <p:cNvPr id="8" name="Rectangle 7"/>
          <p:cNvSpPr/>
          <p:nvPr/>
        </p:nvSpPr>
        <p:spPr>
          <a:xfrm>
            <a:off x="731520" y="4846320"/>
            <a:ext cx="10698480" cy="868680"/>
          </a:xfrm>
          <a:prstGeom prst="rect">
            <a:avLst/>
          </a:prstGeom>
          <a:solidFill>
            <a:srgbClr val="ED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4846320"/>
            <a:ext cx="109728" cy="868680"/>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919472"/>
            <a:ext cx="10241280" cy="722375"/>
          </a:xfrm>
          <a:prstGeom prst="rect">
            <a:avLst/>
          </a:prstGeom>
          <a:noFill/>
        </p:spPr>
        <p:txBody>
          <a:bodyPr wrap="square" anchor="ctr">
            <a:spAutoFit/>
          </a:bodyPr>
          <a:lstStyle/>
          <a:p>
            <a:pPr>
              <a:defRPr sz="1600" b="1">
                <a:solidFill>
                  <a:srgbClr val="232B33"/>
                </a:solidFill>
              </a:defRPr>
            </a:pPr>
            <a:r>
              <a:t>The gap: nobody couples an infrastructure-node failure to the smallest affected region of the task DAG.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46120"/>
            <a:ext cx="12191695" cy="82296"/>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332720" cy="548640"/>
          </a:xfrm>
          <a:prstGeom prst="rect">
            <a:avLst/>
          </a:prstGeom>
          <a:noFill/>
        </p:spPr>
        <p:txBody>
          <a:bodyPr wrap="none">
            <a:spAutoFit/>
          </a:bodyPr>
          <a:lstStyle/>
          <a:p>
            <a:pPr>
              <a:defRPr sz="2000" b="1">
                <a:solidFill>
                  <a:srgbClr val="0B2A4A"/>
                </a:solidFill>
              </a:defRPr>
            </a:pPr>
            <a:r>
              <a:t>3  |  PROBLEM DEFINITION</a:t>
            </a:r>
          </a:p>
        </p:txBody>
      </p:sp>
      <p:sp>
        <p:nvSpPr>
          <p:cNvPr id="5" name="TextBox 4"/>
          <p:cNvSpPr txBox="1"/>
          <p:nvPr/>
        </p:nvSpPr>
        <p:spPr>
          <a:xfrm>
            <a:off x="914400" y="2468880"/>
            <a:ext cx="10332720" cy="1463040"/>
          </a:xfrm>
          <a:prstGeom prst="rect">
            <a:avLst/>
          </a:prstGeom>
          <a:noFill/>
        </p:spPr>
        <p:txBody>
          <a:bodyPr wrap="square">
            <a:spAutoFit/>
          </a:bodyPr>
          <a:lstStyle/>
          <a:p>
            <a:pPr>
              <a:defRPr sz="4000" b="1">
                <a:solidFill>
                  <a:srgbClr val="FFFFFF"/>
                </a:solidFill>
              </a:defRPr>
            </a:pPr>
            <a:r>
              <a:t>The problem, stated precisely</a:t>
            </a:r>
          </a:p>
        </p:txBody>
      </p:sp>
      <p:sp>
        <p:nvSpPr>
          <p:cNvPr id="6" name="TextBox 5"/>
          <p:cNvSpPr txBox="1"/>
          <p:nvPr/>
        </p:nvSpPr>
        <p:spPr>
          <a:xfrm>
            <a:off x="914400" y="3749039"/>
            <a:ext cx="10332720" cy="1463040"/>
          </a:xfrm>
          <a:prstGeom prst="rect">
            <a:avLst/>
          </a:prstGeom>
          <a:noFill/>
        </p:spPr>
        <p:txBody>
          <a:bodyPr wrap="square">
            <a:spAutoFit/>
          </a:bodyPr>
          <a:lstStyle/>
          <a:p>
            <a:pPr>
              <a:defRPr sz="1900">
                <a:solidFill>
                  <a:srgbClr val="EDF2F7"/>
                </a:solidFill>
              </a:defRPr>
            </a:pPr>
            <a:r>
              <a:t>Two graphs, one coupling, a hard deadline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64592" cy="598932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11338560" cy="640080"/>
          </a:xfrm>
          <a:prstGeom prst="rect">
            <a:avLst/>
          </a:prstGeom>
          <a:noFill/>
        </p:spPr>
        <p:txBody>
          <a:bodyPr wrap="none" anchor="ctr">
            <a:spAutoFit/>
          </a:bodyPr>
          <a:lstStyle/>
          <a:p>
            <a:pPr>
              <a:defRPr sz="2700" b="1">
                <a:solidFill>
                  <a:srgbClr val="FFFFFF"/>
                </a:solidFill>
              </a:defRPr>
            </a:pPr>
            <a:r>
              <a:t>System model: two graphs</a:t>
            </a:r>
          </a:p>
        </p:txBody>
      </p:sp>
      <p:sp>
        <p:nvSpPr>
          <p:cNvPr id="5" name="TextBox 4"/>
          <p:cNvSpPr txBox="1"/>
          <p:nvPr/>
        </p:nvSpPr>
        <p:spPr>
          <a:xfrm>
            <a:off x="457200" y="6473952"/>
            <a:ext cx="10515600" cy="320040"/>
          </a:xfrm>
          <a:prstGeom prst="rect">
            <a:avLst/>
          </a:prstGeom>
          <a:noFill/>
        </p:spPr>
        <p:txBody>
          <a:bodyPr wrap="none">
            <a:spAutoFit/>
          </a:bodyPr>
          <a:lstStyle/>
          <a:p>
            <a:pPr>
              <a:defRPr sz="1000">
                <a:solidFill>
                  <a:srgbClr val="5A646E"/>
                </a:solidFill>
              </a:defRPr>
            </a:pPr>
            <a:r>
              <a:t>3  |  Problem definition</a:t>
            </a:r>
          </a:p>
        </p:txBody>
      </p:sp>
      <p:sp>
        <p:nvSpPr>
          <p:cNvPr id="6" name="TextBox 5"/>
          <p:cNvSpPr txBox="1"/>
          <p:nvPr/>
        </p:nvSpPr>
        <p:spPr>
          <a:xfrm>
            <a:off x="11247120" y="6473952"/>
            <a:ext cx="731520" cy="320040"/>
          </a:xfrm>
          <a:prstGeom prst="rect">
            <a:avLst/>
          </a:prstGeom>
          <a:noFill/>
        </p:spPr>
        <p:txBody>
          <a:bodyPr wrap="none">
            <a:spAutoFit/>
          </a:bodyPr>
          <a:lstStyle/>
          <a:p>
            <a:pPr algn="r">
              <a:defRPr sz="1000">
                <a:solidFill>
                  <a:srgbClr val="5A646E"/>
                </a:solidFill>
              </a:defRPr>
            </a:pPr>
            <a:r>
              <a:t>14</a:t>
            </a:r>
          </a:p>
        </p:txBody>
      </p:sp>
      <p:sp>
        <p:nvSpPr>
          <p:cNvPr id="7" name="TextBox 6"/>
          <p:cNvSpPr txBox="1"/>
          <p:nvPr/>
        </p:nvSpPr>
        <p:spPr>
          <a:xfrm>
            <a:off x="594360" y="1143000"/>
            <a:ext cx="6309360" cy="5120640"/>
          </a:xfrm>
          <a:prstGeom prst="rect">
            <a:avLst/>
          </a:prstGeom>
          <a:noFill/>
        </p:spPr>
        <p:txBody>
          <a:bodyPr wrap="square">
            <a:spAutoFit/>
          </a:bodyPr>
          <a:lstStyle/>
          <a:p>
            <a:pPr>
              <a:spcAft>
                <a:spcPts val="800"/>
              </a:spcAft>
              <a:defRPr sz="1600">
                <a:solidFill>
                  <a:srgbClr val="232B33"/>
                </a:solidFill>
              </a:defRPr>
            </a:pPr>
            <a:r>
              <a:t>The task graph has the work: each task has an execution time, a full-run accuracy, and a set of nodes it is allowed to run on</a:t>
            </a:r>
          </a:p>
          <a:p>
            <a:pPr lvl="1">
              <a:spcAft>
                <a:spcPts val="800"/>
              </a:spcAft>
              <a:defRPr sz="1400">
                <a:solidFill>
                  <a:srgbClr val="5A646E"/>
                </a:solidFill>
              </a:defRPr>
            </a:pPr>
            <a:r>
              <a:t>  every edge carries a chunk of dependency data</a:t>
            </a:r>
          </a:p>
          <a:p>
            <a:pPr>
              <a:spcAft>
                <a:spcPts val="800"/>
              </a:spcAft>
              <a:defRPr sz="1600">
                <a:solidFill>
                  <a:srgbClr val="232B33"/>
                </a:solidFill>
              </a:defRPr>
            </a:pPr>
            <a:r>
              <a:t>The infrastructure graph has the machines: each node has capacity, memory and availability; each link has a bandwidth and a delay</a:t>
            </a:r>
          </a:p>
          <a:p>
            <a:pPr>
              <a:spcAft>
                <a:spcPts val="800"/>
              </a:spcAft>
              <a:defRPr sz="1600">
                <a:solidFill>
                  <a:srgbClr val="232B33"/>
                </a:solidFill>
              </a:defRPr>
            </a:pPr>
            <a:r>
              <a:t>A placement maps tasks onto nodes, one eligible node per task</a:t>
            </a:r>
          </a:p>
          <a:p>
            <a:pPr>
              <a:spcAft>
                <a:spcPts val="800"/>
              </a:spcAft>
              <a:defRPr sz="1600">
                <a:solidFill>
                  <a:srgbClr val="232B33"/>
                </a:solidFill>
              </a:defRPr>
            </a:pPr>
            <a:r>
              <a:t>A failure deletes a node from one graph and strands work in the other</a:t>
            </a:r>
          </a:p>
        </p:txBody>
      </p:sp>
      <p:sp>
        <p:nvSpPr>
          <p:cNvPr id="8" name="Rounded Rectangle 7"/>
          <p:cNvSpPr/>
          <p:nvPr/>
        </p:nvSpPr>
        <p:spPr>
          <a:xfrm>
            <a:off x="6903720" y="2377439"/>
            <a:ext cx="2194560" cy="457200"/>
          </a:xfrm>
          <a:prstGeom prst="roundRect">
            <a:avLst/>
          </a:prstGeom>
          <a:solidFill>
            <a:srgbClr val="0B2A4A"/>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Task DAG</a:t>
            </a:r>
          </a:p>
        </p:txBody>
      </p:sp>
      <p:sp>
        <p:nvSpPr>
          <p:cNvPr id="9" name="Rounded Rectangle 8"/>
          <p:cNvSpPr/>
          <p:nvPr/>
        </p:nvSpPr>
        <p:spPr>
          <a:xfrm>
            <a:off x="9418320" y="2377439"/>
            <a:ext cx="2194560" cy="457200"/>
          </a:xfrm>
          <a:prstGeom prst="roundRect">
            <a:avLst/>
          </a:prstGeom>
          <a:solidFill>
            <a:srgbClr val="C75B12"/>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Infrastructure</a:t>
            </a:r>
          </a:p>
        </p:txBody>
      </p:sp>
      <p:sp>
        <p:nvSpPr>
          <p:cNvPr id="10" name="Rounded Rectangle 9"/>
          <p:cNvSpPr/>
          <p:nvPr/>
        </p:nvSpPr>
        <p:spPr>
          <a:xfrm>
            <a:off x="6949440" y="3200400"/>
            <a:ext cx="640080" cy="502920"/>
          </a:xfrm>
          <a:prstGeom prst="roundRect">
            <a:avLst/>
          </a:prstGeom>
          <a:solidFill>
            <a:srgbClr val="EDF2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B2A4A"/>
                </a:solidFill>
              </a:defRPr>
            </a:pPr>
            <a:r>
              <a:t>T1</a:t>
            </a:r>
          </a:p>
        </p:txBody>
      </p:sp>
      <p:sp>
        <p:nvSpPr>
          <p:cNvPr id="11" name="Rounded Rectangle 10"/>
          <p:cNvSpPr/>
          <p:nvPr/>
        </p:nvSpPr>
        <p:spPr>
          <a:xfrm>
            <a:off x="7955279" y="2880360"/>
            <a:ext cx="640080" cy="502920"/>
          </a:xfrm>
          <a:prstGeom prst="roundRect">
            <a:avLst/>
          </a:prstGeom>
          <a:solidFill>
            <a:srgbClr val="EDF2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B2A4A"/>
                </a:solidFill>
              </a:defRPr>
            </a:pPr>
            <a:r>
              <a:t>T2</a:t>
            </a:r>
          </a:p>
        </p:txBody>
      </p:sp>
      <p:sp>
        <p:nvSpPr>
          <p:cNvPr id="12" name="Rounded Rectangle 11"/>
          <p:cNvSpPr/>
          <p:nvPr/>
        </p:nvSpPr>
        <p:spPr>
          <a:xfrm>
            <a:off x="7955279" y="3703320"/>
            <a:ext cx="640080" cy="502920"/>
          </a:xfrm>
          <a:prstGeom prst="roundRect">
            <a:avLst/>
          </a:prstGeom>
          <a:solidFill>
            <a:srgbClr val="EDF2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B2A4A"/>
                </a:solidFill>
              </a:defRPr>
            </a:pPr>
            <a:r>
              <a:t>T3</a:t>
            </a:r>
          </a:p>
        </p:txBody>
      </p:sp>
      <p:sp>
        <p:nvSpPr>
          <p:cNvPr id="13" name="Rounded Rectangle 12"/>
          <p:cNvSpPr/>
          <p:nvPr/>
        </p:nvSpPr>
        <p:spPr>
          <a:xfrm>
            <a:off x="8961120" y="3291839"/>
            <a:ext cx="640080" cy="502920"/>
          </a:xfrm>
          <a:prstGeom prst="roundRect">
            <a:avLst/>
          </a:prstGeom>
          <a:solidFill>
            <a:srgbClr val="EDF2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B2A4A"/>
                </a:solidFill>
              </a:defRPr>
            </a:pPr>
            <a:r>
              <a:t>T4</a:t>
            </a:r>
          </a:p>
        </p:txBody>
      </p:sp>
      <p:cxnSp>
        <p:nvCxnSpPr>
          <p:cNvPr id="14" name="Connector 13"/>
          <p:cNvCxnSpPr/>
          <p:nvPr/>
        </p:nvCxnSpPr>
        <p:spPr>
          <a:xfrm flipV="1">
            <a:off x="7589520" y="3154679"/>
            <a:ext cx="365759" cy="301753"/>
          </a:xfrm>
          <a:prstGeom prst="bentConnector3">
            <a:avLst/>
          </a:prstGeom>
          <a:ln w="19050">
            <a:solidFill>
              <a:srgbClr val="0B2A4A"/>
            </a:solidFill>
            <a:headEnd type="none"/>
            <a:tailEnd type="arrow"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589520" y="3456432"/>
            <a:ext cx="365759" cy="475488"/>
          </a:xfrm>
          <a:prstGeom prst="bentConnector3">
            <a:avLst/>
          </a:prstGeom>
          <a:ln w="19050">
            <a:solidFill>
              <a:srgbClr val="0B2A4A"/>
            </a:solidFill>
            <a:headEnd type="none"/>
            <a:tailEnd type="arrow"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595360" y="3136391"/>
            <a:ext cx="365760" cy="338329"/>
          </a:xfrm>
          <a:prstGeom prst="bentConnector3">
            <a:avLst/>
          </a:prstGeom>
          <a:ln w="19050">
            <a:solidFill>
              <a:srgbClr val="0B2A4A"/>
            </a:solidFill>
            <a:headEnd type="none"/>
            <a:tailEnd type="arrow"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8595360" y="3703320"/>
            <a:ext cx="365760" cy="256032"/>
          </a:xfrm>
          <a:prstGeom prst="bentConnector3">
            <a:avLst/>
          </a:prstGeom>
          <a:ln w="19050">
            <a:solidFill>
              <a:srgbClr val="0B2A4A"/>
            </a:solidFill>
            <a:headEnd type="none"/>
            <a:tailEnd type="arrow"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464040" y="3200400"/>
            <a:ext cx="640080" cy="502920"/>
          </a:xfrm>
          <a:prstGeom prst="roundRect">
            <a:avLst/>
          </a:prstGeom>
          <a:solidFill>
            <a:srgbClr val="EDF2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C75B12"/>
                </a:solidFill>
              </a:defRPr>
            </a:pPr>
            <a:r>
              <a:t>R1</a:t>
            </a:r>
          </a:p>
        </p:txBody>
      </p:sp>
      <p:sp>
        <p:nvSpPr>
          <p:cNvPr id="19" name="Rounded Rectangle 18"/>
          <p:cNvSpPr/>
          <p:nvPr/>
        </p:nvSpPr>
        <p:spPr>
          <a:xfrm>
            <a:off x="10424160" y="2880360"/>
            <a:ext cx="640080" cy="502920"/>
          </a:xfrm>
          <a:prstGeom prst="roundRect">
            <a:avLst/>
          </a:prstGeom>
          <a:solidFill>
            <a:srgbClr val="EDF2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C75B12"/>
                </a:solidFill>
              </a:defRPr>
            </a:pPr>
            <a:r>
              <a:t>R2</a:t>
            </a:r>
          </a:p>
        </p:txBody>
      </p:sp>
      <p:sp>
        <p:nvSpPr>
          <p:cNvPr id="20" name="Rounded Rectangle 19"/>
          <p:cNvSpPr/>
          <p:nvPr/>
        </p:nvSpPr>
        <p:spPr>
          <a:xfrm>
            <a:off x="10424160" y="3703320"/>
            <a:ext cx="640080" cy="502920"/>
          </a:xfrm>
          <a:prstGeom prst="roundRect">
            <a:avLst/>
          </a:prstGeom>
          <a:solidFill>
            <a:srgbClr val="EDF2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C75B12"/>
                </a:solidFill>
              </a:defRPr>
            </a:pPr>
            <a:r>
              <a:t>R3</a:t>
            </a:r>
          </a:p>
        </p:txBody>
      </p:sp>
      <p:sp>
        <p:nvSpPr>
          <p:cNvPr id="21" name="Rounded Rectangle 20"/>
          <p:cNvSpPr/>
          <p:nvPr/>
        </p:nvSpPr>
        <p:spPr>
          <a:xfrm>
            <a:off x="11384280" y="3291839"/>
            <a:ext cx="640080" cy="502920"/>
          </a:xfrm>
          <a:prstGeom prst="roundRect">
            <a:avLst/>
          </a:prstGeom>
          <a:solidFill>
            <a:srgbClr val="EDF2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C75B12"/>
                </a:solidFill>
              </a:defRPr>
            </a:pPr>
            <a:r>
              <a:t>R4</a:t>
            </a:r>
          </a:p>
        </p:txBody>
      </p:sp>
      <p:cxnSp>
        <p:nvCxnSpPr>
          <p:cNvPr id="22" name="Connector 21"/>
          <p:cNvCxnSpPr/>
          <p:nvPr/>
        </p:nvCxnSpPr>
        <p:spPr>
          <a:xfrm flipV="1">
            <a:off x="10104120" y="3154679"/>
            <a:ext cx="320040" cy="301753"/>
          </a:xfrm>
          <a:prstGeom prst="bentConnector3">
            <a:avLst/>
          </a:prstGeom>
          <a:ln w="15875">
            <a:solidFill>
              <a:srgbClr val="5A646E"/>
            </a:solidFill>
            <a:headEnd type="none"/>
            <a:tailEnd type="arrow"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0104120" y="3456432"/>
            <a:ext cx="320040" cy="475488"/>
          </a:xfrm>
          <a:prstGeom prst="bentConnector3">
            <a:avLst/>
          </a:prstGeom>
          <a:ln w="15875">
            <a:solidFill>
              <a:srgbClr val="5A646E"/>
            </a:solidFill>
            <a:headEnd type="none"/>
            <a:tailEnd type="arrow"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1064240" y="3136391"/>
            <a:ext cx="320040" cy="338329"/>
          </a:xfrm>
          <a:prstGeom prst="bentConnector3">
            <a:avLst/>
          </a:prstGeom>
          <a:ln w="15875">
            <a:solidFill>
              <a:srgbClr val="5A646E"/>
            </a:solidFill>
            <a:headEnd type="none"/>
            <a:tailEnd type="arrow"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1064240" y="3703320"/>
            <a:ext cx="320040" cy="256032"/>
          </a:xfrm>
          <a:prstGeom prst="bentConnector3">
            <a:avLst/>
          </a:prstGeom>
          <a:ln w="15875">
            <a:solidFill>
              <a:srgbClr val="5A646E"/>
            </a:solidFill>
            <a:headEnd type="none"/>
            <a:tailEnd type="arrow"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9464040" y="3456432"/>
            <a:ext cx="137160" cy="0"/>
          </a:xfrm>
          <a:prstGeom prst="bentConnector3">
            <a:avLst/>
          </a:prstGeom>
          <a:ln w="22225">
            <a:solidFill>
              <a:srgbClr val="0E7C7B"/>
            </a:solidFill>
            <a:prstDash val="sysDash"/>
            <a:headEnd type="none"/>
            <a:tailEnd type="arrow"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64592" cy="598932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11338560" cy="640080"/>
          </a:xfrm>
          <a:prstGeom prst="rect">
            <a:avLst/>
          </a:prstGeom>
          <a:noFill/>
        </p:spPr>
        <p:txBody>
          <a:bodyPr wrap="none" anchor="ctr">
            <a:spAutoFit/>
          </a:bodyPr>
          <a:lstStyle/>
          <a:p>
            <a:pPr>
              <a:defRPr sz="2700" b="1">
                <a:solidFill>
                  <a:srgbClr val="FFFFFF"/>
                </a:solidFill>
              </a:defRPr>
            </a:pPr>
            <a:r>
              <a:t>The static core of the problem</a:t>
            </a:r>
          </a:p>
        </p:txBody>
      </p:sp>
      <p:sp>
        <p:nvSpPr>
          <p:cNvPr id="5" name="TextBox 4"/>
          <p:cNvSpPr txBox="1"/>
          <p:nvPr/>
        </p:nvSpPr>
        <p:spPr>
          <a:xfrm>
            <a:off x="457200" y="6473952"/>
            <a:ext cx="10515600" cy="320040"/>
          </a:xfrm>
          <a:prstGeom prst="rect">
            <a:avLst/>
          </a:prstGeom>
          <a:noFill/>
        </p:spPr>
        <p:txBody>
          <a:bodyPr wrap="none">
            <a:spAutoFit/>
          </a:bodyPr>
          <a:lstStyle/>
          <a:p>
            <a:pPr>
              <a:defRPr sz="1000">
                <a:solidFill>
                  <a:srgbClr val="5A646E"/>
                </a:solidFill>
              </a:defRPr>
            </a:pPr>
            <a:r>
              <a:t>3  |  Problem definition</a:t>
            </a:r>
          </a:p>
        </p:txBody>
      </p:sp>
      <p:sp>
        <p:nvSpPr>
          <p:cNvPr id="6" name="TextBox 5"/>
          <p:cNvSpPr txBox="1"/>
          <p:nvPr/>
        </p:nvSpPr>
        <p:spPr>
          <a:xfrm>
            <a:off x="11247120" y="6473952"/>
            <a:ext cx="731520" cy="320040"/>
          </a:xfrm>
          <a:prstGeom prst="rect">
            <a:avLst/>
          </a:prstGeom>
          <a:noFill/>
        </p:spPr>
        <p:txBody>
          <a:bodyPr wrap="none">
            <a:spAutoFit/>
          </a:bodyPr>
          <a:lstStyle/>
          <a:p>
            <a:pPr algn="r">
              <a:defRPr sz="1000">
                <a:solidFill>
                  <a:srgbClr val="5A646E"/>
                </a:solidFill>
              </a:defRPr>
            </a:pPr>
            <a:r>
              <a:t>15</a:t>
            </a:r>
          </a:p>
        </p:txBody>
      </p:sp>
      <p:sp>
        <p:nvSpPr>
          <p:cNvPr id="7" name="Rectangle 6"/>
          <p:cNvSpPr/>
          <p:nvPr/>
        </p:nvSpPr>
        <p:spPr>
          <a:xfrm>
            <a:off x="731520" y="1234440"/>
            <a:ext cx="10698480" cy="822960"/>
          </a:xfrm>
          <a:prstGeom prst="rect">
            <a:avLst/>
          </a:prstGeom>
          <a:solidFill>
            <a:srgbClr val="ED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234440"/>
            <a:ext cx="109728" cy="82296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307592"/>
            <a:ext cx="10241280" cy="676656"/>
          </a:xfrm>
          <a:prstGeom prst="rect">
            <a:avLst/>
          </a:prstGeom>
          <a:noFill/>
        </p:spPr>
        <p:txBody>
          <a:bodyPr wrap="square" anchor="ctr">
            <a:spAutoFit/>
          </a:bodyPr>
          <a:lstStyle/>
          <a:p>
            <a:pPr>
              <a:defRPr sz="1500" b="0">
                <a:solidFill>
                  <a:srgbClr val="232B33"/>
                </a:solidFill>
              </a:defRPr>
            </a:pPr>
            <a:r>
              <a:t>GIVEN   the two graphs (tasks with times, accuracies, eligibility; nodes with capacities, links with bandwidths) and a deadline t_max</a:t>
            </a:r>
          </a:p>
        </p:txBody>
      </p:sp>
      <p:sp>
        <p:nvSpPr>
          <p:cNvPr id="10" name="Rectangle 9"/>
          <p:cNvSpPr/>
          <p:nvPr/>
        </p:nvSpPr>
        <p:spPr>
          <a:xfrm>
            <a:off x="731520" y="2194560"/>
            <a:ext cx="10698480" cy="822960"/>
          </a:xfrm>
          <a:prstGeom prst="rect">
            <a:avLst/>
          </a:prstGeom>
          <a:solidFill>
            <a:srgbClr val="ED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2194560"/>
            <a:ext cx="109728" cy="82296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2267712"/>
            <a:ext cx="10241280" cy="676656"/>
          </a:xfrm>
          <a:prstGeom prst="rect">
            <a:avLst/>
          </a:prstGeom>
          <a:noFill/>
        </p:spPr>
        <p:txBody>
          <a:bodyPr wrap="square" anchor="ctr">
            <a:spAutoFit/>
          </a:bodyPr>
          <a:lstStyle/>
          <a:p>
            <a:pPr>
              <a:defRPr sz="1500" b="0">
                <a:solidFill>
                  <a:srgbClr val="232B33"/>
                </a:solidFill>
              </a:defRPr>
            </a:pPr>
            <a:r>
              <a:t>DECIDE   for every task: which eligible node it runs on (e_ia) and how much of it runs (l_ia)</a:t>
            </a:r>
          </a:p>
        </p:txBody>
      </p:sp>
      <p:sp>
        <p:nvSpPr>
          <p:cNvPr id="13" name="Rectangle 12"/>
          <p:cNvSpPr/>
          <p:nvPr/>
        </p:nvSpPr>
        <p:spPr>
          <a:xfrm>
            <a:off x="731520" y="3154680"/>
            <a:ext cx="10698480" cy="822960"/>
          </a:xfrm>
          <a:prstGeom prst="rect">
            <a:avLst/>
          </a:prstGeom>
          <a:solidFill>
            <a:srgbClr val="ED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3154680"/>
            <a:ext cx="109728" cy="822960"/>
          </a:xfrm>
          <a:prstGeom prst="rect">
            <a:avLst/>
          </a:prstGeom>
          <a:solidFill>
            <a:srgbClr val="5A64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3227832"/>
            <a:ext cx="10241280" cy="676656"/>
          </a:xfrm>
          <a:prstGeom prst="rect">
            <a:avLst/>
          </a:prstGeom>
          <a:noFill/>
        </p:spPr>
        <p:txBody>
          <a:bodyPr wrap="square" anchor="ctr">
            <a:spAutoFit/>
          </a:bodyPr>
          <a:lstStyle/>
          <a:p>
            <a:pPr>
              <a:defRPr sz="1500" b="0">
                <a:solidFill>
                  <a:srgbClr val="232B33"/>
                </a:solidFill>
              </a:defRPr>
            </a:pPr>
            <a:r>
              <a:t>SUBJECT TO   one node per task; predecessors finish and their data arrives first; everything done by the deadline</a:t>
            </a:r>
          </a:p>
        </p:txBody>
      </p:sp>
      <p:sp>
        <p:nvSpPr>
          <p:cNvPr id="16" name="Rectangle 15"/>
          <p:cNvSpPr/>
          <p:nvPr/>
        </p:nvSpPr>
        <p:spPr>
          <a:xfrm>
            <a:off x="731520" y="4114800"/>
            <a:ext cx="10698480" cy="822960"/>
          </a:xfrm>
          <a:prstGeom prst="rect">
            <a:avLst/>
          </a:prstGeom>
          <a:solidFill>
            <a:srgbClr val="ED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4114800"/>
            <a:ext cx="109728" cy="822960"/>
          </a:xfrm>
          <a:prstGeom prst="rect">
            <a:avLst/>
          </a:prstGeom>
          <a:solidFill>
            <a:srgbClr val="E0A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4187952"/>
            <a:ext cx="10241280" cy="676656"/>
          </a:xfrm>
          <a:prstGeom prst="rect">
            <a:avLst/>
          </a:prstGeom>
          <a:noFill/>
        </p:spPr>
        <p:txBody>
          <a:bodyPr wrap="square" anchor="ctr">
            <a:spAutoFit/>
          </a:bodyPr>
          <a:lstStyle/>
          <a:p>
            <a:pPr>
              <a:defRPr sz="1500" b="1">
                <a:solidFill>
                  <a:srgbClr val="232B33"/>
                </a:solidFill>
              </a:defRPr>
            </a:pPr>
            <a:r>
              <a:t>MAXIMIZE   the average accuracy  A_bar = (1/n) sum_i A_i l_i</a:t>
            </a:r>
          </a:p>
        </p:txBody>
      </p:sp>
      <p:sp>
        <p:nvSpPr>
          <p:cNvPr id="19" name="TextBox 18"/>
          <p:cNvSpPr txBox="1"/>
          <p:nvPr/>
        </p:nvSpPr>
        <p:spPr>
          <a:xfrm>
            <a:off x="594360" y="5212080"/>
            <a:ext cx="10972800" cy="5120640"/>
          </a:xfrm>
          <a:prstGeom prst="rect">
            <a:avLst/>
          </a:prstGeom>
          <a:noFill/>
        </p:spPr>
        <p:txBody>
          <a:bodyPr wrap="square">
            <a:spAutoFit/>
          </a:bodyPr>
          <a:lstStyle/>
          <a:p>
            <a:pPr>
              <a:spcAft>
                <a:spcPts val="800"/>
              </a:spcAft>
              <a:defRPr sz="1500">
                <a:solidFill>
                  <a:srgbClr val="232B33"/>
                </a:solidFill>
              </a:defRPr>
            </a:pPr>
            <a:r>
              <a:t>It is NP-hard even on unrelated parallel machines, so the exact solver is the benchmark, not the product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64592" cy="598932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11338560" cy="640080"/>
          </a:xfrm>
          <a:prstGeom prst="rect">
            <a:avLst/>
          </a:prstGeom>
          <a:noFill/>
        </p:spPr>
        <p:txBody>
          <a:bodyPr wrap="none" anchor="ctr">
            <a:spAutoFit/>
          </a:bodyPr>
          <a:lstStyle/>
          <a:p>
            <a:pPr>
              <a:defRPr sz="2700" b="1">
                <a:solidFill>
                  <a:srgbClr val="FFFFFF"/>
                </a:solidFill>
              </a:defRPr>
            </a:pPr>
            <a:r>
              <a:t>The dynamic extension (the proposal)</a:t>
            </a:r>
          </a:p>
        </p:txBody>
      </p:sp>
      <p:sp>
        <p:nvSpPr>
          <p:cNvPr id="5" name="TextBox 4"/>
          <p:cNvSpPr txBox="1"/>
          <p:nvPr/>
        </p:nvSpPr>
        <p:spPr>
          <a:xfrm>
            <a:off x="457200" y="6473952"/>
            <a:ext cx="10515600" cy="320040"/>
          </a:xfrm>
          <a:prstGeom prst="rect">
            <a:avLst/>
          </a:prstGeom>
          <a:noFill/>
        </p:spPr>
        <p:txBody>
          <a:bodyPr wrap="none">
            <a:spAutoFit/>
          </a:bodyPr>
          <a:lstStyle/>
          <a:p>
            <a:pPr>
              <a:defRPr sz="1000">
                <a:solidFill>
                  <a:srgbClr val="5A646E"/>
                </a:solidFill>
              </a:defRPr>
            </a:pPr>
            <a:r>
              <a:t>3  |  Problem definition</a:t>
            </a:r>
          </a:p>
        </p:txBody>
      </p:sp>
      <p:sp>
        <p:nvSpPr>
          <p:cNvPr id="6" name="TextBox 5"/>
          <p:cNvSpPr txBox="1"/>
          <p:nvPr/>
        </p:nvSpPr>
        <p:spPr>
          <a:xfrm>
            <a:off x="11247120" y="6473952"/>
            <a:ext cx="731520" cy="320040"/>
          </a:xfrm>
          <a:prstGeom prst="rect">
            <a:avLst/>
          </a:prstGeom>
          <a:noFill/>
        </p:spPr>
        <p:txBody>
          <a:bodyPr wrap="none">
            <a:spAutoFit/>
          </a:bodyPr>
          <a:lstStyle/>
          <a:p>
            <a:pPr algn="r">
              <a:defRPr sz="1000">
                <a:solidFill>
                  <a:srgbClr val="5A646E"/>
                </a:solidFill>
              </a:defRPr>
            </a:pPr>
            <a:r>
              <a:t>16</a:t>
            </a:r>
          </a:p>
        </p:txBody>
      </p:sp>
      <p:sp>
        <p:nvSpPr>
          <p:cNvPr id="7" name="Rectangle 6"/>
          <p:cNvSpPr/>
          <p:nvPr/>
        </p:nvSpPr>
        <p:spPr>
          <a:xfrm>
            <a:off x="731520" y="1234440"/>
            <a:ext cx="10698480" cy="822960"/>
          </a:xfrm>
          <a:prstGeom prst="rect">
            <a:avLst/>
          </a:prstGeom>
          <a:solidFill>
            <a:srgbClr val="ED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234440"/>
            <a:ext cx="109728" cy="822960"/>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307592"/>
            <a:ext cx="10241280" cy="676656"/>
          </a:xfrm>
          <a:prstGeom prst="rect">
            <a:avLst/>
          </a:prstGeom>
          <a:noFill/>
        </p:spPr>
        <p:txBody>
          <a:bodyPr wrap="square" anchor="ctr">
            <a:spAutoFit/>
          </a:bodyPr>
          <a:lstStyle/>
          <a:p>
            <a:pPr>
              <a:defRPr sz="1500" b="0">
                <a:solidFill>
                  <a:srgbClr val="232B33"/>
                </a:solidFill>
              </a:defRPr>
            </a:pPr>
            <a:r>
              <a:t>EVENT   at time tau, resource r* fails; the unfinished tasks on it are stranded</a:t>
            </a:r>
          </a:p>
        </p:txBody>
      </p:sp>
      <p:sp>
        <p:nvSpPr>
          <p:cNvPr id="10" name="Rectangle 9"/>
          <p:cNvSpPr/>
          <p:nvPr/>
        </p:nvSpPr>
        <p:spPr>
          <a:xfrm>
            <a:off x="731520" y="2194560"/>
            <a:ext cx="10698480" cy="822960"/>
          </a:xfrm>
          <a:prstGeom prst="rect">
            <a:avLst/>
          </a:prstGeom>
          <a:solidFill>
            <a:srgbClr val="ED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2194560"/>
            <a:ext cx="109728" cy="82296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2267712"/>
            <a:ext cx="10241280" cy="676656"/>
          </a:xfrm>
          <a:prstGeom prst="rect">
            <a:avLst/>
          </a:prstGeom>
          <a:noFill/>
        </p:spPr>
        <p:txBody>
          <a:bodyPr wrap="square" anchor="ctr">
            <a:spAutoFit/>
          </a:bodyPr>
          <a:lstStyle/>
          <a:p>
            <a:pPr>
              <a:defRPr sz="1500" b="0">
                <a:solidFill>
                  <a:srgbClr val="232B33"/>
                </a:solidFill>
              </a:defRPr>
            </a:pPr>
            <a:r>
              <a:t>DECIDE   which part of the DAG has to be repartitioned (the affected region A) and where its tasks go (pi' on surviving nodes)</a:t>
            </a:r>
          </a:p>
        </p:txBody>
      </p:sp>
      <p:sp>
        <p:nvSpPr>
          <p:cNvPr id="13" name="Rectangle 12"/>
          <p:cNvSpPr/>
          <p:nvPr/>
        </p:nvSpPr>
        <p:spPr>
          <a:xfrm>
            <a:off x="731520" y="3154680"/>
            <a:ext cx="10698480" cy="822960"/>
          </a:xfrm>
          <a:prstGeom prst="rect">
            <a:avLst/>
          </a:prstGeom>
          <a:solidFill>
            <a:srgbClr val="ED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3154680"/>
            <a:ext cx="109728" cy="822960"/>
          </a:xfrm>
          <a:prstGeom prst="rect">
            <a:avLst/>
          </a:prstGeom>
          <a:solidFill>
            <a:srgbClr val="5A64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3227832"/>
            <a:ext cx="10241280" cy="676656"/>
          </a:xfrm>
          <a:prstGeom prst="rect">
            <a:avLst/>
          </a:prstGeom>
          <a:noFill/>
        </p:spPr>
        <p:txBody>
          <a:bodyPr wrap="square" anchor="ctr">
            <a:spAutoFit/>
          </a:bodyPr>
          <a:lstStyle/>
          <a:p>
            <a:pPr>
              <a:defRPr sz="1500" b="0">
                <a:solidFill>
                  <a:srgbClr val="232B33"/>
                </a:solidFill>
              </a:defRPr>
            </a:pPr>
            <a:r>
              <a:t>SUBJECT TO   completed tasks never restart; healthy placements never move; the deadline still holds</a:t>
            </a:r>
          </a:p>
        </p:txBody>
      </p:sp>
      <p:sp>
        <p:nvSpPr>
          <p:cNvPr id="16" name="Rectangle 15"/>
          <p:cNvSpPr/>
          <p:nvPr/>
        </p:nvSpPr>
        <p:spPr>
          <a:xfrm>
            <a:off x="731520" y="4114800"/>
            <a:ext cx="10698480" cy="822960"/>
          </a:xfrm>
          <a:prstGeom prst="rect">
            <a:avLst/>
          </a:prstGeom>
          <a:solidFill>
            <a:srgbClr val="ED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4114800"/>
            <a:ext cx="109728" cy="822960"/>
          </a:xfrm>
          <a:prstGeom prst="rect">
            <a:avLst/>
          </a:prstGeom>
          <a:solidFill>
            <a:srgbClr val="E0A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4187952"/>
            <a:ext cx="10241280" cy="676656"/>
          </a:xfrm>
          <a:prstGeom prst="rect">
            <a:avLst/>
          </a:prstGeom>
          <a:noFill/>
        </p:spPr>
        <p:txBody>
          <a:bodyPr wrap="square" anchor="ctr">
            <a:spAutoFit/>
          </a:bodyPr>
          <a:lstStyle/>
          <a:p>
            <a:pPr>
              <a:defRPr sz="1500" b="1">
                <a:solidFill>
                  <a:srgbClr val="232B33"/>
                </a:solidFill>
              </a:defRPr>
            </a:pPr>
            <a:r>
              <a:t>MINIMIZE   the recovery cost: added makespan + tasks moved + data re-shipped, while keeping the accuracy</a:t>
            </a:r>
          </a:p>
        </p:txBody>
      </p:sp>
      <p:sp>
        <p:nvSpPr>
          <p:cNvPr id="19" name="TextBox 18"/>
          <p:cNvSpPr txBox="1"/>
          <p:nvPr/>
        </p:nvSpPr>
        <p:spPr>
          <a:xfrm>
            <a:off x="594360" y="5212080"/>
            <a:ext cx="10972800" cy="5120640"/>
          </a:xfrm>
          <a:prstGeom prst="rect">
            <a:avLst/>
          </a:prstGeom>
          <a:noFill/>
        </p:spPr>
        <p:txBody>
          <a:bodyPr wrap="square">
            <a:spAutoFit/>
          </a:bodyPr>
          <a:lstStyle/>
          <a:p>
            <a:pPr>
              <a:spcAft>
                <a:spcPts val="800"/>
              </a:spcAft>
              <a:defRPr sz="1500">
                <a:solidFill>
                  <a:srgbClr val="232B33"/>
                </a:solidFill>
              </a:defRPr>
            </a:pPr>
            <a:r>
              <a:t>Two granularity shifts at once: a task retry becomes a resource loss, and whole-DAG placement becomes minimal-region repair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46120"/>
            <a:ext cx="12191695" cy="82296"/>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332720" cy="548640"/>
          </a:xfrm>
          <a:prstGeom prst="rect">
            <a:avLst/>
          </a:prstGeom>
          <a:noFill/>
        </p:spPr>
        <p:txBody>
          <a:bodyPr wrap="none">
            <a:spAutoFit/>
          </a:bodyPr>
          <a:lstStyle/>
          <a:p>
            <a:pPr>
              <a:defRPr sz="2000" b="1">
                <a:solidFill>
                  <a:srgbClr val="0E7C7B"/>
                </a:solidFill>
              </a:defRPr>
            </a:pPr>
            <a:r>
              <a:t>4  |  COMPLETED WORK &amp; PRELIMINARY RESULTS</a:t>
            </a:r>
          </a:p>
        </p:txBody>
      </p:sp>
      <p:sp>
        <p:nvSpPr>
          <p:cNvPr id="5" name="TextBox 4"/>
          <p:cNvSpPr txBox="1"/>
          <p:nvPr/>
        </p:nvSpPr>
        <p:spPr>
          <a:xfrm>
            <a:off x="914400" y="2468880"/>
            <a:ext cx="10332720" cy="1463040"/>
          </a:xfrm>
          <a:prstGeom prst="rect">
            <a:avLst/>
          </a:prstGeom>
          <a:noFill/>
        </p:spPr>
        <p:txBody>
          <a:bodyPr wrap="square">
            <a:spAutoFit/>
          </a:bodyPr>
          <a:lstStyle/>
          <a:p>
            <a:pPr>
              <a:defRPr sz="4000" b="1">
                <a:solidFill>
                  <a:srgbClr val="FFFFFF"/>
                </a:solidFill>
              </a:defRPr>
            </a:pPr>
            <a:r>
              <a:t>The platform the proposal builds on</a:t>
            </a:r>
          </a:p>
        </p:txBody>
      </p:sp>
      <p:sp>
        <p:nvSpPr>
          <p:cNvPr id="6" name="TextBox 5"/>
          <p:cNvSpPr txBox="1"/>
          <p:nvPr/>
        </p:nvSpPr>
        <p:spPr>
          <a:xfrm>
            <a:off x="914400" y="3749039"/>
            <a:ext cx="10332720" cy="1463040"/>
          </a:xfrm>
          <a:prstGeom prst="rect">
            <a:avLst/>
          </a:prstGeom>
          <a:noFill/>
        </p:spPr>
        <p:txBody>
          <a:bodyPr wrap="square">
            <a:spAutoFit/>
          </a:bodyPr>
          <a:lstStyle/>
          <a:p>
            <a:pPr>
              <a:defRPr sz="1900">
                <a:solidFill>
                  <a:srgbClr val="EDF2F7"/>
                </a:solidFill>
              </a:defRPr>
            </a:pPr>
            <a:r>
              <a:t>Paper 1 (published) and Paper 2 (in revision): the formulation, the schedulers, and what the data shows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64592" cy="59893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11338560" cy="640080"/>
          </a:xfrm>
          <a:prstGeom prst="rect">
            <a:avLst/>
          </a:prstGeom>
          <a:noFill/>
        </p:spPr>
        <p:txBody>
          <a:bodyPr wrap="none" anchor="ctr">
            <a:spAutoFit/>
          </a:bodyPr>
          <a:lstStyle/>
          <a:p>
            <a:pPr>
              <a:defRPr sz="2700" b="1">
                <a:solidFill>
                  <a:srgbClr val="FFFFFF"/>
                </a:solidFill>
              </a:defRPr>
            </a:pPr>
            <a:r>
              <a:t>Paper 1: the published foundation</a:t>
            </a:r>
          </a:p>
        </p:txBody>
      </p:sp>
      <p:sp>
        <p:nvSpPr>
          <p:cNvPr id="5" name="TextBox 4"/>
          <p:cNvSpPr txBox="1"/>
          <p:nvPr/>
        </p:nvSpPr>
        <p:spPr>
          <a:xfrm>
            <a:off x="457200" y="6473952"/>
            <a:ext cx="10515600" cy="320040"/>
          </a:xfrm>
          <a:prstGeom prst="rect">
            <a:avLst/>
          </a:prstGeom>
          <a:noFill/>
        </p:spPr>
        <p:txBody>
          <a:bodyPr wrap="none">
            <a:spAutoFit/>
          </a:bodyPr>
          <a:lstStyle/>
          <a:p>
            <a:pPr>
              <a:defRPr sz="1000">
                <a:solidFill>
                  <a:srgbClr val="5A646E"/>
                </a:solidFill>
              </a:defRPr>
            </a:pPr>
            <a:r>
              <a:t>4  |  Completed work &amp; preliminary results</a:t>
            </a:r>
          </a:p>
        </p:txBody>
      </p:sp>
      <p:sp>
        <p:nvSpPr>
          <p:cNvPr id="6" name="TextBox 5"/>
          <p:cNvSpPr txBox="1"/>
          <p:nvPr/>
        </p:nvSpPr>
        <p:spPr>
          <a:xfrm>
            <a:off x="11247120" y="6473952"/>
            <a:ext cx="731520" cy="320040"/>
          </a:xfrm>
          <a:prstGeom prst="rect">
            <a:avLst/>
          </a:prstGeom>
          <a:noFill/>
        </p:spPr>
        <p:txBody>
          <a:bodyPr wrap="none">
            <a:spAutoFit/>
          </a:bodyPr>
          <a:lstStyle/>
          <a:p>
            <a:pPr algn="r">
              <a:defRPr sz="1000">
                <a:solidFill>
                  <a:srgbClr val="5A646E"/>
                </a:solidFill>
              </a:defRPr>
            </a:pPr>
            <a:r>
              <a:t>18</a:t>
            </a:r>
          </a:p>
        </p:txBody>
      </p:sp>
      <p:sp>
        <p:nvSpPr>
          <p:cNvPr id="7" name="TextBox 6"/>
          <p:cNvSpPr txBox="1"/>
          <p:nvPr/>
        </p:nvSpPr>
        <p:spPr>
          <a:xfrm>
            <a:off x="594360" y="1143000"/>
            <a:ext cx="10972800" cy="5120640"/>
          </a:xfrm>
          <a:prstGeom prst="rect">
            <a:avLst/>
          </a:prstGeom>
          <a:noFill/>
        </p:spPr>
        <p:txBody>
          <a:bodyPr wrap="square">
            <a:spAutoFit/>
          </a:bodyPr>
          <a:lstStyle/>
          <a:p>
            <a:pPr>
              <a:spcAft>
                <a:spcPts val="800"/>
              </a:spcAft>
              <a:defRPr sz="1800">
                <a:solidFill>
                  <a:srgbClr val="232B33"/>
                </a:solidFill>
              </a:defRPr>
            </a:pPr>
            <a:r>
              <a:t>Published at IEEE Cloud Summit 2025: 'Towards efficient allocation of tasks in DAG-based workflows across federated fog systems'</a:t>
            </a:r>
          </a:p>
          <a:p>
            <a:pPr>
              <a:spcAft>
                <a:spcPts val="800"/>
              </a:spcAft>
              <a:defRPr sz="1800">
                <a:solidFill>
                  <a:srgbClr val="232B33"/>
                </a:solidFill>
              </a:defRPr>
            </a:pPr>
            <a:r>
              <a:t>Its contribution was the model plus four ways to solve it:</a:t>
            </a:r>
          </a:p>
          <a:p>
            <a:pPr lvl="1">
              <a:spcAft>
                <a:spcPts val="800"/>
              </a:spcAft>
              <a:defRPr sz="1600">
                <a:solidFill>
                  <a:srgbClr val="5A646E"/>
                </a:solidFill>
              </a:defRPr>
            </a:pPr>
            <a:r>
              <a:t>  an exact MILP with correctness proofs</a:t>
            </a:r>
          </a:p>
          <a:p>
            <a:pPr lvl="1">
              <a:spcAft>
                <a:spcPts val="800"/>
              </a:spcAft>
              <a:defRPr sz="1600">
                <a:solidFill>
                  <a:srgbClr val="5A646E"/>
                </a:solidFill>
              </a:defRPr>
            </a:pPr>
            <a:r>
              <a:t>  an LP relaxation with randomized rounding</a:t>
            </a:r>
          </a:p>
          <a:p>
            <a:pPr lvl="1">
              <a:spcAft>
                <a:spcPts val="800"/>
              </a:spcAft>
              <a:defRPr sz="1600">
                <a:solidFill>
                  <a:srgbClr val="5A646E"/>
                </a:solidFill>
              </a:defRPr>
            </a:pPr>
            <a:r>
              <a:t>  a data-aware greedy scheduler</a:t>
            </a:r>
          </a:p>
          <a:p>
            <a:pPr lvl="1">
              <a:spcAft>
                <a:spcPts val="800"/>
              </a:spcAft>
              <a:defRPr sz="1600">
                <a:solidFill>
                  <a:srgbClr val="5A646E"/>
                </a:solidFill>
              </a:defRPr>
            </a:pPr>
            <a:r>
              <a:t>  a genetic algorithm over assignments and fractions</a:t>
            </a:r>
          </a:p>
          <a:p>
            <a:pPr>
              <a:spcAft>
                <a:spcPts val="800"/>
              </a:spcAft>
              <a:defRPr sz="1800">
                <a:solidFill>
                  <a:srgbClr val="232B33"/>
                </a:solidFill>
              </a:defRPr>
            </a:pPr>
            <a:r>
              <a:t>What it left open: no bound to score against, no link-degradation study, and no resource-level failures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64592" cy="59893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11338560" cy="640080"/>
          </a:xfrm>
          <a:prstGeom prst="rect">
            <a:avLst/>
          </a:prstGeom>
          <a:noFill/>
        </p:spPr>
        <p:txBody>
          <a:bodyPr wrap="none" anchor="ctr">
            <a:spAutoFit/>
          </a:bodyPr>
          <a:lstStyle/>
          <a:p>
            <a:pPr>
              <a:defRPr sz="2700" b="1">
                <a:solidFill>
                  <a:srgbClr val="FFFFFF"/>
                </a:solidFill>
              </a:defRPr>
            </a:pPr>
            <a:r>
              <a:t>Paper 2: the formulation, written out</a:t>
            </a:r>
          </a:p>
        </p:txBody>
      </p:sp>
      <p:sp>
        <p:nvSpPr>
          <p:cNvPr id="5" name="TextBox 4"/>
          <p:cNvSpPr txBox="1"/>
          <p:nvPr/>
        </p:nvSpPr>
        <p:spPr>
          <a:xfrm>
            <a:off x="457200" y="6473952"/>
            <a:ext cx="10515600" cy="320040"/>
          </a:xfrm>
          <a:prstGeom prst="rect">
            <a:avLst/>
          </a:prstGeom>
          <a:noFill/>
        </p:spPr>
        <p:txBody>
          <a:bodyPr wrap="none">
            <a:spAutoFit/>
          </a:bodyPr>
          <a:lstStyle/>
          <a:p>
            <a:pPr>
              <a:defRPr sz="1000">
                <a:solidFill>
                  <a:srgbClr val="5A646E"/>
                </a:solidFill>
              </a:defRPr>
            </a:pPr>
            <a:r>
              <a:t>4  |  Completed work &amp; preliminary results</a:t>
            </a:r>
          </a:p>
        </p:txBody>
      </p:sp>
      <p:sp>
        <p:nvSpPr>
          <p:cNvPr id="6" name="TextBox 5"/>
          <p:cNvSpPr txBox="1"/>
          <p:nvPr/>
        </p:nvSpPr>
        <p:spPr>
          <a:xfrm>
            <a:off x="11247120" y="6473952"/>
            <a:ext cx="731520" cy="320040"/>
          </a:xfrm>
          <a:prstGeom prst="rect">
            <a:avLst/>
          </a:prstGeom>
          <a:noFill/>
        </p:spPr>
        <p:txBody>
          <a:bodyPr wrap="none">
            <a:spAutoFit/>
          </a:bodyPr>
          <a:lstStyle/>
          <a:p>
            <a:pPr algn="r">
              <a:defRPr sz="1000">
                <a:solidFill>
                  <a:srgbClr val="5A646E"/>
                </a:solidFill>
              </a:defRPr>
            </a:pPr>
            <a:r>
              <a:t>19</a:t>
            </a:r>
          </a:p>
        </p:txBody>
      </p:sp>
      <p:sp>
        <p:nvSpPr>
          <p:cNvPr id="7" name="TextBox 6"/>
          <p:cNvSpPr txBox="1"/>
          <p:nvPr/>
        </p:nvSpPr>
        <p:spPr>
          <a:xfrm>
            <a:off x="594360" y="1143000"/>
            <a:ext cx="10972800" cy="5120640"/>
          </a:xfrm>
          <a:prstGeom prst="rect">
            <a:avLst/>
          </a:prstGeom>
          <a:noFill/>
        </p:spPr>
        <p:txBody>
          <a:bodyPr wrap="square">
            <a:spAutoFit/>
          </a:bodyPr>
          <a:lstStyle/>
          <a:p>
            <a:pPr>
              <a:spcAft>
                <a:spcPts val="800"/>
              </a:spcAft>
              <a:defRPr sz="1700">
                <a:solidFill>
                  <a:srgbClr val="232B33"/>
                </a:solidFill>
              </a:defRPr>
            </a:pPr>
            <a:r>
              <a:t>Communication cost:  c_ji = D_ji / B_ba when the edge crosses nodes, and 0 when the tasks are co-located</a:t>
            </a:r>
          </a:p>
          <a:p>
            <a:pPr>
              <a:spcAft>
                <a:spcPts val="800"/>
              </a:spcAft>
              <a:defRPr sz="1700">
                <a:solidFill>
                  <a:srgbClr val="232B33"/>
                </a:solidFill>
              </a:defRPr>
            </a:pPr>
            <a:r>
              <a:t>Objective:  maximize  A_bar = (1/n) sum_i A_i l_i</a:t>
            </a:r>
          </a:p>
          <a:p>
            <a:pPr>
              <a:spcAft>
                <a:spcPts val="800"/>
              </a:spcAft>
              <a:defRPr sz="1700">
                <a:solidFill>
                  <a:srgbClr val="232B33"/>
                </a:solidFill>
              </a:defRPr>
            </a:pPr>
            <a:r>
              <a:t>Each task goes to exactly one eligible node</a:t>
            </a:r>
          </a:p>
          <a:p>
            <a:pPr>
              <a:spcAft>
                <a:spcPts val="800"/>
              </a:spcAft>
              <a:defRPr sz="1700">
                <a:solidFill>
                  <a:srgbClr val="232B33"/>
                </a:solidFill>
              </a:defRPr>
            </a:pPr>
            <a:r>
              <a:t>A task waits for every predecessor to finish AND for its data to arrive</a:t>
            </a:r>
          </a:p>
          <a:p>
            <a:pPr>
              <a:spcAft>
                <a:spcPts val="800"/>
              </a:spcAft>
              <a:defRPr sz="1700">
                <a:solidFill>
                  <a:srgbClr val="232B33"/>
                </a:solidFill>
              </a:defRPr>
            </a:pPr>
            <a:r>
              <a:t>Everything finishes by t_max</a:t>
            </a:r>
          </a:p>
          <a:p>
            <a:pPr>
              <a:spcAft>
                <a:spcPts val="800"/>
              </a:spcAft>
              <a:defRPr sz="1700">
                <a:solidFill>
                  <a:srgbClr val="232B33"/>
                </a:solidFill>
              </a:defRPr>
            </a:pPr>
            <a:r>
              <a:t>The e*M and e*l products are bilinear, which is what the next slide is about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64592" cy="59893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11338560" cy="640080"/>
          </a:xfrm>
          <a:prstGeom prst="rect">
            <a:avLst/>
          </a:prstGeom>
          <a:noFill/>
        </p:spPr>
        <p:txBody>
          <a:bodyPr wrap="none" anchor="ctr">
            <a:spAutoFit/>
          </a:bodyPr>
          <a:lstStyle/>
          <a:p>
            <a:pPr>
              <a:defRPr sz="2700" b="1">
                <a:solidFill>
                  <a:srgbClr val="FFFFFF"/>
                </a:solidFill>
              </a:defRPr>
            </a:pPr>
            <a:r>
              <a:t>Correctness: the linearization and the proofs</a:t>
            </a:r>
          </a:p>
        </p:txBody>
      </p:sp>
      <p:sp>
        <p:nvSpPr>
          <p:cNvPr id="5" name="TextBox 4"/>
          <p:cNvSpPr txBox="1"/>
          <p:nvPr/>
        </p:nvSpPr>
        <p:spPr>
          <a:xfrm>
            <a:off x="457200" y="6473952"/>
            <a:ext cx="10515600" cy="320040"/>
          </a:xfrm>
          <a:prstGeom prst="rect">
            <a:avLst/>
          </a:prstGeom>
          <a:noFill/>
        </p:spPr>
        <p:txBody>
          <a:bodyPr wrap="none">
            <a:spAutoFit/>
          </a:bodyPr>
          <a:lstStyle/>
          <a:p>
            <a:pPr>
              <a:defRPr sz="1000">
                <a:solidFill>
                  <a:srgbClr val="5A646E"/>
                </a:solidFill>
              </a:defRPr>
            </a:pPr>
            <a:r>
              <a:t>4  |  Completed work &amp; preliminary results</a:t>
            </a:r>
          </a:p>
        </p:txBody>
      </p:sp>
      <p:sp>
        <p:nvSpPr>
          <p:cNvPr id="6" name="TextBox 5"/>
          <p:cNvSpPr txBox="1"/>
          <p:nvPr/>
        </p:nvSpPr>
        <p:spPr>
          <a:xfrm>
            <a:off x="11247120" y="6473952"/>
            <a:ext cx="731520" cy="320040"/>
          </a:xfrm>
          <a:prstGeom prst="rect">
            <a:avLst/>
          </a:prstGeom>
          <a:noFill/>
        </p:spPr>
        <p:txBody>
          <a:bodyPr wrap="none">
            <a:spAutoFit/>
          </a:bodyPr>
          <a:lstStyle/>
          <a:p>
            <a:pPr algn="r">
              <a:defRPr sz="1000">
                <a:solidFill>
                  <a:srgbClr val="5A646E"/>
                </a:solidFill>
              </a:defRPr>
            </a:pPr>
            <a:r>
              <a:t>20</a:t>
            </a:r>
          </a:p>
        </p:txBody>
      </p:sp>
      <p:sp>
        <p:nvSpPr>
          <p:cNvPr id="7" name="TextBox 6"/>
          <p:cNvSpPr txBox="1"/>
          <p:nvPr/>
        </p:nvSpPr>
        <p:spPr>
          <a:xfrm>
            <a:off x="594360" y="1143000"/>
            <a:ext cx="10972800" cy="5120640"/>
          </a:xfrm>
          <a:prstGeom prst="rect">
            <a:avLst/>
          </a:prstGeom>
          <a:noFill/>
        </p:spPr>
        <p:txBody>
          <a:bodyPr wrap="square">
            <a:spAutoFit/>
          </a:bodyPr>
          <a:lstStyle/>
          <a:p>
            <a:pPr>
              <a:spcAft>
                <a:spcPts val="800"/>
              </a:spcAft>
              <a:defRPr sz="1700">
                <a:solidFill>
                  <a:srgbClr val="232B33"/>
                </a:solidFill>
              </a:defRPr>
            </a:pPr>
            <a:r>
              <a:t>The product e*M is linearized with a helper z = e * M under big-M constraints</a:t>
            </a:r>
          </a:p>
          <a:p>
            <a:pPr lvl="1">
              <a:spcAft>
                <a:spcPts val="800"/>
              </a:spcAft>
              <a:defRPr sz="1500">
                <a:solidFill>
                  <a:srgbClr val="5A646E"/>
                </a:solidFill>
              </a:defRPr>
            </a:pPr>
            <a:r>
              <a:t>  the subtle one is z &gt;= 0: without it, an unassigned node could push z negative and fake an early completion time</a:t>
            </a:r>
          </a:p>
          <a:p>
            <a:pPr>
              <a:spcAft>
                <a:spcPts val="800"/>
              </a:spcAft>
              <a:defRPr sz="1700">
                <a:solidFill>
                  <a:srgbClr val="232B33"/>
                </a:solidFill>
              </a:defRPr>
            </a:pPr>
            <a:r>
              <a:t>Five lemmas: the assignment is unique, one positive fraction per task, the fraction lives only on the assigned node, precedence is respected, the deadline holds</a:t>
            </a:r>
          </a:p>
          <a:p>
            <a:pPr>
              <a:spcAft>
                <a:spcPts val="800"/>
              </a:spcAft>
              <a:defRPr sz="1700">
                <a:solidFill>
                  <a:srgbClr val="232B33"/>
                </a:solidFill>
              </a:defRPr>
            </a:pPr>
            <a:r>
              <a:t>The theorem then says the MILP optimum is the maximum-accuracy feasible schedule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64592" cy="59893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11338560" cy="640080"/>
          </a:xfrm>
          <a:prstGeom prst="rect">
            <a:avLst/>
          </a:prstGeom>
          <a:noFill/>
        </p:spPr>
        <p:txBody>
          <a:bodyPr wrap="none" anchor="ctr">
            <a:spAutoFit/>
          </a:bodyPr>
          <a:lstStyle/>
          <a:p>
            <a:pPr>
              <a:defRPr sz="2700" b="1">
                <a:solidFill>
                  <a:srgbClr val="FFFFFF"/>
                </a:solidFill>
              </a:defRPr>
            </a:pPr>
            <a:r>
              <a:t>Four schedulers, one cost model</a:t>
            </a:r>
          </a:p>
        </p:txBody>
      </p:sp>
      <p:sp>
        <p:nvSpPr>
          <p:cNvPr id="5" name="TextBox 4"/>
          <p:cNvSpPr txBox="1"/>
          <p:nvPr/>
        </p:nvSpPr>
        <p:spPr>
          <a:xfrm>
            <a:off x="457200" y="6473952"/>
            <a:ext cx="10515600" cy="320040"/>
          </a:xfrm>
          <a:prstGeom prst="rect">
            <a:avLst/>
          </a:prstGeom>
          <a:noFill/>
        </p:spPr>
        <p:txBody>
          <a:bodyPr wrap="none">
            <a:spAutoFit/>
          </a:bodyPr>
          <a:lstStyle/>
          <a:p>
            <a:pPr>
              <a:defRPr sz="1000">
                <a:solidFill>
                  <a:srgbClr val="5A646E"/>
                </a:solidFill>
              </a:defRPr>
            </a:pPr>
            <a:r>
              <a:t>4  |  Completed work &amp; preliminary results</a:t>
            </a:r>
          </a:p>
        </p:txBody>
      </p:sp>
      <p:sp>
        <p:nvSpPr>
          <p:cNvPr id="6" name="TextBox 5"/>
          <p:cNvSpPr txBox="1"/>
          <p:nvPr/>
        </p:nvSpPr>
        <p:spPr>
          <a:xfrm>
            <a:off x="11247120" y="6473952"/>
            <a:ext cx="731520" cy="320040"/>
          </a:xfrm>
          <a:prstGeom prst="rect">
            <a:avLst/>
          </a:prstGeom>
          <a:noFill/>
        </p:spPr>
        <p:txBody>
          <a:bodyPr wrap="none">
            <a:spAutoFit/>
          </a:bodyPr>
          <a:lstStyle/>
          <a:p>
            <a:pPr algn="r">
              <a:defRPr sz="1000">
                <a:solidFill>
                  <a:srgbClr val="5A646E"/>
                </a:solidFill>
              </a:defRPr>
            </a:pPr>
            <a:r>
              <a:t>21</a:t>
            </a:r>
          </a:p>
        </p:txBody>
      </p:sp>
      <p:pic>
        <p:nvPicPr>
          <p:cNvPr id="7" name="Picture 6" descr="scheduling-pipeline.png"/>
          <p:cNvPicPr>
            <a:picLocks noChangeAspect="1"/>
          </p:cNvPicPr>
          <p:nvPr/>
        </p:nvPicPr>
        <p:blipFill>
          <a:blip r:embed="rId3"/>
          <a:stretch>
            <a:fillRect/>
          </a:stretch>
        </p:blipFill>
        <p:spPr>
          <a:xfrm>
            <a:off x="640080" y="1188720"/>
            <a:ext cx="6035040" cy="3688080"/>
          </a:xfrm>
          <a:prstGeom prst="rect">
            <a:avLst/>
          </a:prstGeom>
        </p:spPr>
      </p:pic>
      <p:sp>
        <p:nvSpPr>
          <p:cNvPr id="8" name="TextBox 7"/>
          <p:cNvSpPr txBox="1"/>
          <p:nvPr/>
        </p:nvSpPr>
        <p:spPr>
          <a:xfrm>
            <a:off x="6949440" y="1280160"/>
            <a:ext cx="4754880" cy="5120640"/>
          </a:xfrm>
          <a:prstGeom prst="rect">
            <a:avLst/>
          </a:prstGeom>
          <a:noFill/>
        </p:spPr>
        <p:txBody>
          <a:bodyPr wrap="square">
            <a:spAutoFit/>
          </a:bodyPr>
          <a:lstStyle/>
          <a:p>
            <a:pPr>
              <a:spcAft>
                <a:spcPts val="800"/>
              </a:spcAft>
              <a:defRPr sz="1600">
                <a:solidFill>
                  <a:srgbClr val="232B33"/>
                </a:solidFill>
              </a:defRPr>
            </a:pPr>
            <a:r>
              <a:t>The MILP is the benchmark</a:t>
            </a:r>
          </a:p>
          <a:p>
            <a:pPr>
              <a:spcAft>
                <a:spcPts val="800"/>
              </a:spcAft>
              <a:defRPr sz="1600">
                <a:solidFill>
                  <a:srgbClr val="232B33"/>
                </a:solidFill>
              </a:defRPr>
            </a:pPr>
            <a:r>
              <a:t>LP rounding relaxes, samples a node per task, re-solves the fractions</a:t>
            </a:r>
          </a:p>
          <a:p>
            <a:pPr>
              <a:spcAft>
                <a:spcPts val="800"/>
              </a:spcAft>
              <a:defRPr sz="1600">
                <a:solidFill>
                  <a:srgbClr val="232B33"/>
                </a:solidFill>
              </a:defRPr>
            </a:pPr>
            <a:r>
              <a:t>The greedy places ready tasks by earliest finish; on a deadline miss it lowers the global fraction and retries</a:t>
            </a:r>
          </a:p>
          <a:p>
            <a:pPr>
              <a:spcAft>
                <a:spcPts val="800"/>
              </a:spcAft>
              <a:defRPr sz="1600">
                <a:solidFill>
                  <a:srgbClr val="232B33"/>
                </a:solidFill>
              </a:defRPr>
            </a:pPr>
            <a:r>
              <a:t>The GA searches assignments and fractions as one chromosome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64592" cy="59893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11338560" cy="640080"/>
          </a:xfrm>
          <a:prstGeom prst="rect">
            <a:avLst/>
          </a:prstGeom>
          <a:noFill/>
        </p:spPr>
        <p:txBody>
          <a:bodyPr wrap="none" anchor="ctr">
            <a:spAutoFit/>
          </a:bodyPr>
          <a:lstStyle/>
          <a:p>
            <a:pPr>
              <a:defRPr sz="2700" b="1">
                <a:solidFill>
                  <a:srgbClr val="FFFFFF"/>
                </a:solidFill>
              </a:defRPr>
            </a:pPr>
            <a:r>
              <a:t>Experimental setup</a:t>
            </a:r>
          </a:p>
        </p:txBody>
      </p:sp>
      <p:sp>
        <p:nvSpPr>
          <p:cNvPr id="5" name="TextBox 4"/>
          <p:cNvSpPr txBox="1"/>
          <p:nvPr/>
        </p:nvSpPr>
        <p:spPr>
          <a:xfrm>
            <a:off x="457200" y="6473952"/>
            <a:ext cx="10515600" cy="320040"/>
          </a:xfrm>
          <a:prstGeom prst="rect">
            <a:avLst/>
          </a:prstGeom>
          <a:noFill/>
        </p:spPr>
        <p:txBody>
          <a:bodyPr wrap="none">
            <a:spAutoFit/>
          </a:bodyPr>
          <a:lstStyle/>
          <a:p>
            <a:pPr>
              <a:defRPr sz="1000">
                <a:solidFill>
                  <a:srgbClr val="5A646E"/>
                </a:solidFill>
              </a:defRPr>
            </a:pPr>
            <a:r>
              <a:t>4  |  Completed work &amp; preliminary results</a:t>
            </a:r>
          </a:p>
        </p:txBody>
      </p:sp>
      <p:sp>
        <p:nvSpPr>
          <p:cNvPr id="6" name="TextBox 5"/>
          <p:cNvSpPr txBox="1"/>
          <p:nvPr/>
        </p:nvSpPr>
        <p:spPr>
          <a:xfrm>
            <a:off x="11247120" y="6473952"/>
            <a:ext cx="731520" cy="320040"/>
          </a:xfrm>
          <a:prstGeom prst="rect">
            <a:avLst/>
          </a:prstGeom>
          <a:noFill/>
        </p:spPr>
        <p:txBody>
          <a:bodyPr wrap="none">
            <a:spAutoFit/>
          </a:bodyPr>
          <a:lstStyle/>
          <a:p>
            <a:pPr algn="r">
              <a:defRPr sz="1000">
                <a:solidFill>
                  <a:srgbClr val="5A646E"/>
                </a:solidFill>
              </a:defRPr>
            </a:pPr>
            <a:r>
              <a:t>22</a:t>
            </a:r>
          </a:p>
        </p:txBody>
      </p:sp>
      <p:graphicFrame>
        <p:nvGraphicFramePr>
          <p:cNvPr id="7" name="Table 6"/>
          <p:cNvGraphicFramePr>
            <a:graphicFrameLocks noGrp="1"/>
          </p:cNvGraphicFramePr>
          <p:nvPr/>
        </p:nvGraphicFramePr>
        <p:xfrm>
          <a:off x="731520" y="1097280"/>
          <a:ext cx="10698480" cy="5029200"/>
        </p:xfrm>
        <a:graphic>
          <a:graphicData uri="http://schemas.openxmlformats.org/drawingml/2006/table">
            <a:tbl>
              <a:tblPr firstRow="1" bandRow="1">
                <a:tableStyleId>{5C22544A-7EE6-4342-B048-85BDC9FD1C3A}</a:tableStyleId>
              </a:tblPr>
              <a:tblGrid>
                <a:gridCol w="2926080"/>
                <a:gridCol w="7772400"/>
              </a:tblGrid>
              <a:tr h="502920">
                <a:tc>
                  <a:txBody>
                    <a:bodyPr wrap="square"/>
                    <a:lstStyle/>
                    <a:p>
                      <a:pPr>
                        <a:defRPr sz="1300" b="1">
                          <a:solidFill>
                            <a:srgbClr val="FFFFFF"/>
                          </a:solidFill>
                        </a:defRPr>
                      </a:pPr>
                      <a:r>
                        <a:t>Component</a:t>
                      </a:r>
                    </a:p>
                  </a:txBody>
                  <a:tcPr marT="38100" marB="38100" marL="76200" marR="76200">
                    <a:solidFill>
                      <a:srgbClr val="0B2A4A"/>
                    </a:solidFill>
                  </a:tcPr>
                </a:tc>
                <a:tc>
                  <a:txBody>
                    <a:bodyPr wrap="square"/>
                    <a:lstStyle/>
                    <a:p>
                      <a:pPr>
                        <a:defRPr sz="1300" b="1">
                          <a:solidFill>
                            <a:srgbClr val="FFFFFF"/>
                          </a:solidFill>
                        </a:defRPr>
                      </a:pPr>
                      <a:r>
                        <a:t>Setting</a:t>
                      </a:r>
                    </a:p>
                  </a:txBody>
                  <a:tcPr marT="38100" marB="38100" marL="76200" marR="76200">
                    <a:solidFill>
                      <a:srgbClr val="0B2A4A"/>
                    </a:solidFill>
                  </a:tcPr>
                </a:tc>
              </a:tr>
              <a:tr h="502920">
                <a:tc>
                  <a:txBody>
                    <a:bodyPr wrap="square"/>
                    <a:lstStyle/>
                    <a:p>
                      <a:pPr>
                        <a:defRPr sz="1300" b="0">
                          <a:solidFill>
                            <a:srgbClr val="232B33"/>
                          </a:solidFill>
                        </a:defRPr>
                      </a:pPr>
                      <a:r>
                        <a:t>Simulator</a:t>
                      </a:r>
                    </a:p>
                  </a:txBody>
                  <a:tcPr marT="38100" marB="38100" marL="76200" marR="76200">
                    <a:solidFill>
                      <a:srgbClr val="FFFFFF"/>
                    </a:solidFill>
                  </a:tcPr>
                </a:tc>
                <a:tc>
                  <a:txBody>
                    <a:bodyPr wrap="square"/>
                    <a:lstStyle/>
                    <a:p>
                      <a:pPr>
                        <a:defRPr sz="1300" b="0">
                          <a:solidFill>
                            <a:srgbClr val="232B33"/>
                          </a:solidFill>
                        </a:defRPr>
                      </a:pPr>
                      <a:r>
                        <a:t>discrete-event, Python/NumPy + SciPy HiGHS</a:t>
                      </a:r>
                    </a:p>
                  </a:txBody>
                  <a:tcPr marT="38100" marB="38100" marL="76200" marR="76200">
                    <a:solidFill>
                      <a:srgbClr val="FFFFFF"/>
                    </a:solidFill>
                  </a:tcPr>
                </a:tc>
              </a:tr>
              <a:tr h="502920">
                <a:tc>
                  <a:txBody>
                    <a:bodyPr wrap="square"/>
                    <a:lstStyle/>
                    <a:p>
                      <a:pPr>
                        <a:defRPr sz="1300" b="0">
                          <a:solidFill>
                            <a:srgbClr val="232B33"/>
                          </a:solidFill>
                        </a:defRPr>
                      </a:pPr>
                      <a:r>
                        <a:t>Task exec time t</a:t>
                      </a:r>
                    </a:p>
                  </a:txBody>
                  <a:tcPr marT="38100" marB="38100" marL="76200" marR="76200">
                    <a:solidFill>
                      <a:srgbClr val="EDF2F7"/>
                    </a:solidFill>
                  </a:tcPr>
                </a:tc>
                <a:tc>
                  <a:txBody>
                    <a:bodyPr wrap="square"/>
                    <a:lstStyle/>
                    <a:p>
                      <a:pPr>
                        <a:defRPr sz="1300" b="0">
                          <a:solidFill>
                            <a:srgbClr val="232B33"/>
                          </a:solidFill>
                        </a:defRPr>
                      </a:pPr>
                      <a:r>
                        <a:t>uniform [1, 5]</a:t>
                      </a:r>
                    </a:p>
                  </a:txBody>
                  <a:tcPr marT="38100" marB="38100" marL="76200" marR="76200">
                    <a:solidFill>
                      <a:srgbClr val="EDF2F7"/>
                    </a:solidFill>
                  </a:tcPr>
                </a:tc>
              </a:tr>
              <a:tr h="502920">
                <a:tc>
                  <a:txBody>
                    <a:bodyPr wrap="square"/>
                    <a:lstStyle/>
                    <a:p>
                      <a:pPr>
                        <a:defRPr sz="1300" b="0">
                          <a:solidFill>
                            <a:srgbClr val="232B33"/>
                          </a:solidFill>
                        </a:defRPr>
                      </a:pPr>
                      <a:r>
                        <a:t>Edge data D</a:t>
                      </a:r>
                    </a:p>
                  </a:txBody>
                  <a:tcPr marT="38100" marB="38100" marL="76200" marR="76200">
                    <a:solidFill>
                      <a:srgbClr val="FFFFFF"/>
                    </a:solidFill>
                  </a:tcPr>
                </a:tc>
                <a:tc>
                  <a:txBody>
                    <a:bodyPr wrap="square"/>
                    <a:lstStyle/>
                    <a:p>
                      <a:pPr>
                        <a:defRPr sz="1300" b="0">
                          <a:solidFill>
                            <a:srgbClr val="232B33"/>
                          </a:solidFill>
                        </a:defRPr>
                      </a:pPr>
                      <a:r>
                        <a:t>uniform [5, 50]</a:t>
                      </a:r>
                    </a:p>
                  </a:txBody>
                  <a:tcPr marT="38100" marB="38100" marL="76200" marR="76200">
                    <a:solidFill>
                      <a:srgbClr val="FFFFFF"/>
                    </a:solidFill>
                  </a:tcPr>
                </a:tc>
              </a:tr>
              <a:tr h="502920">
                <a:tc>
                  <a:txBody>
                    <a:bodyPr wrap="square"/>
                    <a:lstStyle/>
                    <a:p>
                      <a:pPr>
                        <a:defRPr sz="1300" b="0">
                          <a:solidFill>
                            <a:srgbClr val="232B33"/>
                          </a:solidFill>
                        </a:defRPr>
                      </a:pPr>
                      <a:r>
                        <a:t>Link bandwidth B</a:t>
                      </a:r>
                    </a:p>
                  </a:txBody>
                  <a:tcPr marT="38100" marB="38100" marL="76200" marR="76200">
                    <a:solidFill>
                      <a:srgbClr val="EDF2F7"/>
                    </a:solidFill>
                  </a:tcPr>
                </a:tc>
                <a:tc>
                  <a:txBody>
                    <a:bodyPr wrap="square"/>
                    <a:lstStyle/>
                    <a:p>
                      <a:pPr>
                        <a:defRPr sz="1300" b="0">
                          <a:solidFill>
                            <a:srgbClr val="232B33"/>
                          </a:solidFill>
                        </a:defRPr>
                      </a:pPr>
                      <a:r>
                        <a:t>uniform [10, 100]  (a transfer can rival a task)</a:t>
                      </a:r>
                    </a:p>
                  </a:txBody>
                  <a:tcPr marT="38100" marB="38100" marL="76200" marR="76200">
                    <a:solidFill>
                      <a:srgbClr val="EDF2F7"/>
                    </a:solidFill>
                  </a:tcPr>
                </a:tc>
              </a:tr>
              <a:tr h="502920">
                <a:tc>
                  <a:txBody>
                    <a:bodyPr wrap="square"/>
                    <a:lstStyle/>
                    <a:p>
                      <a:pPr>
                        <a:defRPr sz="1300" b="0">
                          <a:solidFill>
                            <a:srgbClr val="232B33"/>
                          </a:solidFill>
                        </a:defRPr>
                      </a:pPr>
                      <a:r>
                        <a:t>Datasets (tasks/nodes)</a:t>
                      </a:r>
                    </a:p>
                  </a:txBody>
                  <a:tcPr marT="38100" marB="38100" marL="76200" marR="76200">
                    <a:solidFill>
                      <a:srgbClr val="FFFFFF"/>
                    </a:solidFill>
                  </a:tcPr>
                </a:tc>
                <a:tc>
                  <a:txBody>
                    <a:bodyPr wrap="square"/>
                    <a:lstStyle/>
                    <a:p>
                      <a:pPr>
                        <a:defRPr sz="1300" b="0">
                          <a:solidFill>
                            <a:srgbClr val="232B33"/>
                          </a:solidFill>
                        </a:defRPr>
                      </a:pPr>
                      <a:r>
                        <a:t>10/3, 100/5, 500/8, 1000/10</a:t>
                      </a:r>
                    </a:p>
                  </a:txBody>
                  <a:tcPr marT="38100" marB="38100" marL="76200" marR="76200">
                    <a:solidFill>
                      <a:srgbClr val="FFFFFF"/>
                    </a:solidFill>
                  </a:tcPr>
                </a:tc>
              </a:tr>
              <a:tr h="502920">
                <a:tc>
                  <a:txBody>
                    <a:bodyPr wrap="square"/>
                    <a:lstStyle/>
                    <a:p>
                      <a:pPr>
                        <a:defRPr sz="1300" b="0">
                          <a:solidFill>
                            <a:srgbClr val="232B33"/>
                          </a:solidFill>
                        </a:defRPr>
                      </a:pPr>
                      <a:r>
                        <a:t>Eligibility</a:t>
                      </a:r>
                    </a:p>
                  </a:txBody>
                  <a:tcPr marT="38100" marB="38100" marL="76200" marR="76200">
                    <a:solidFill>
                      <a:srgbClr val="EDF2F7"/>
                    </a:solidFill>
                  </a:tcPr>
                </a:tc>
                <a:tc>
                  <a:txBody>
                    <a:bodyPr wrap="square"/>
                    <a:lstStyle/>
                    <a:p>
                      <a:pPr>
                        <a:defRPr sz="1300" b="0">
                          <a:solidFill>
                            <a:srgbClr val="232B33"/>
                          </a:solidFill>
                        </a:defRPr>
                      </a:pPr>
                      <a:r>
                        <a:t>~15% of placements infeasible</a:t>
                      </a:r>
                    </a:p>
                  </a:txBody>
                  <a:tcPr marT="38100" marB="38100" marL="76200" marR="76200">
                    <a:solidFill>
                      <a:srgbClr val="EDF2F7"/>
                    </a:solidFill>
                  </a:tcPr>
                </a:tc>
              </a:tr>
              <a:tr h="502920">
                <a:tc>
                  <a:txBody>
                    <a:bodyPr wrap="square"/>
                    <a:lstStyle/>
                    <a:p>
                      <a:pPr>
                        <a:defRPr sz="1300" b="0">
                          <a:solidFill>
                            <a:srgbClr val="232B33"/>
                          </a:solidFill>
                        </a:defRPr>
                      </a:pPr>
                      <a:r>
                        <a:t>Sweeps</a:t>
                      </a:r>
                    </a:p>
                  </a:txBody>
                  <a:tcPr marT="38100" marB="38100" marL="76200" marR="76200">
                    <a:solidFill>
                      <a:srgbClr val="FFFFFF"/>
                    </a:solidFill>
                  </a:tcPr>
                </a:tc>
                <a:tc>
                  <a:txBody>
                    <a:bodyPr wrap="square"/>
                    <a:lstStyle/>
                    <a:p>
                      <a:pPr>
                        <a:defRPr sz="1300" b="0">
                          <a:solidFill>
                            <a:srgbClr val="232B33"/>
                          </a:solidFill>
                        </a:defRPr>
                      </a:pPr>
                      <a:r>
                        <a:t>slack 1.0-2.0 | nodes 2-10 | tasks 10-1000 | failure 0-0.5 | bandwidth 1.0-0.05</a:t>
                      </a:r>
                    </a:p>
                  </a:txBody>
                  <a:tcPr marT="38100" marB="38100" marL="76200" marR="76200">
                    <a:solidFill>
                      <a:srgbClr val="FFFFFF"/>
                    </a:solidFill>
                  </a:tcPr>
                </a:tc>
              </a:tr>
              <a:tr h="502920">
                <a:tc>
                  <a:txBody>
                    <a:bodyPr wrap="square"/>
                    <a:lstStyle/>
                    <a:p>
                      <a:pPr>
                        <a:defRPr sz="1300" b="0">
                          <a:solidFill>
                            <a:srgbClr val="232B33"/>
                          </a:solidFill>
                        </a:defRPr>
                      </a:pPr>
                      <a:r>
                        <a:t>Metric</a:t>
                      </a:r>
                    </a:p>
                  </a:txBody>
                  <a:tcPr marT="38100" marB="38100" marL="76200" marR="76200">
                    <a:solidFill>
                      <a:srgbClr val="EDF2F7"/>
                    </a:solidFill>
                  </a:tcPr>
                </a:tc>
                <a:tc>
                  <a:txBody>
                    <a:bodyPr wrap="square"/>
                    <a:lstStyle/>
                    <a:p>
                      <a:pPr>
                        <a:defRPr sz="1300" b="0">
                          <a:solidFill>
                            <a:srgbClr val="232B33"/>
                          </a:solidFill>
                        </a:defRPr>
                      </a:pPr>
                      <a:r>
                        <a:t>mean accuracy vs the max-accuracy bound; feasibility; wall time</a:t>
                      </a:r>
                    </a:p>
                  </a:txBody>
                  <a:tcPr marT="38100" marB="38100" marL="76200" marR="76200">
                    <a:solidFill>
                      <a:srgbClr val="EDF2F7"/>
                    </a:solidFill>
                  </a:tcPr>
                </a:tc>
              </a:tr>
              <a:tr h="502920">
                <a:tc>
                  <a:txBody>
                    <a:bodyPr wrap="square"/>
                    <a:lstStyle/>
                    <a:p>
                      <a:pPr>
                        <a:defRPr sz="1300" b="0">
                          <a:solidFill>
                            <a:srgbClr val="232B33"/>
                          </a:solidFill>
                        </a:defRPr>
                      </a:pPr>
                      <a:r>
                        <a:t>Replication</a:t>
                      </a:r>
                    </a:p>
                  </a:txBody>
                  <a:tcPr marT="38100" marB="38100" marL="76200" marR="76200">
                    <a:solidFill>
                      <a:srgbClr val="FFFFFF"/>
                    </a:solidFill>
                  </a:tcPr>
                </a:tc>
                <a:tc>
                  <a:txBody>
                    <a:bodyPr wrap="square"/>
                    <a:lstStyle/>
                    <a:p>
                      <a:pPr>
                        <a:defRPr sz="1300" b="0">
                          <a:solidFill>
                            <a:srgbClr val="232B33"/>
                          </a:solidFill>
                        </a:defRPr>
                      </a:pPr>
                      <a:r>
                        <a:t>5 fresh instances per point; means reported</a:t>
                      </a:r>
                    </a:p>
                  </a:txBody>
                  <a:tcPr marT="38100" marB="38100" marL="76200" marR="76200">
                    <a:solidFill>
                      <a:srgbClr val="FFFFFF"/>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64592" cy="59893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11338560" cy="640080"/>
          </a:xfrm>
          <a:prstGeom prst="rect">
            <a:avLst/>
          </a:prstGeom>
          <a:noFill/>
        </p:spPr>
        <p:txBody>
          <a:bodyPr wrap="none" anchor="ctr">
            <a:spAutoFit/>
          </a:bodyPr>
          <a:lstStyle/>
          <a:p>
            <a:pPr>
              <a:defRPr sz="2700" b="1">
                <a:solidFill>
                  <a:srgbClr val="FFFFFF"/>
                </a:solidFill>
              </a:defRPr>
            </a:pPr>
            <a:r>
              <a:t>Deadline slack: the scheduler matters exactly when it hurts</a:t>
            </a:r>
          </a:p>
        </p:txBody>
      </p:sp>
      <p:sp>
        <p:nvSpPr>
          <p:cNvPr id="5" name="TextBox 4"/>
          <p:cNvSpPr txBox="1"/>
          <p:nvPr/>
        </p:nvSpPr>
        <p:spPr>
          <a:xfrm>
            <a:off x="457200" y="6473952"/>
            <a:ext cx="10515600" cy="320040"/>
          </a:xfrm>
          <a:prstGeom prst="rect">
            <a:avLst/>
          </a:prstGeom>
          <a:noFill/>
        </p:spPr>
        <p:txBody>
          <a:bodyPr wrap="none">
            <a:spAutoFit/>
          </a:bodyPr>
          <a:lstStyle/>
          <a:p>
            <a:pPr>
              <a:defRPr sz="1000">
                <a:solidFill>
                  <a:srgbClr val="5A646E"/>
                </a:solidFill>
              </a:defRPr>
            </a:pPr>
            <a:r>
              <a:t>4  |  Completed work &amp; preliminary results</a:t>
            </a:r>
          </a:p>
        </p:txBody>
      </p:sp>
      <p:sp>
        <p:nvSpPr>
          <p:cNvPr id="6" name="TextBox 5"/>
          <p:cNvSpPr txBox="1"/>
          <p:nvPr/>
        </p:nvSpPr>
        <p:spPr>
          <a:xfrm>
            <a:off x="11247120" y="6473952"/>
            <a:ext cx="731520" cy="320040"/>
          </a:xfrm>
          <a:prstGeom prst="rect">
            <a:avLst/>
          </a:prstGeom>
          <a:noFill/>
        </p:spPr>
        <p:txBody>
          <a:bodyPr wrap="none">
            <a:spAutoFit/>
          </a:bodyPr>
          <a:lstStyle/>
          <a:p>
            <a:pPr algn="r">
              <a:defRPr sz="1000">
                <a:solidFill>
                  <a:srgbClr val="5A646E"/>
                </a:solidFill>
              </a:defRPr>
            </a:pPr>
            <a:r>
              <a:t>23</a:t>
            </a:r>
          </a:p>
        </p:txBody>
      </p:sp>
      <p:pic>
        <p:nvPicPr>
          <p:cNvPr id="7" name="Picture 6" descr="perf_slack_accuracy.png"/>
          <p:cNvPicPr>
            <a:picLocks noChangeAspect="1"/>
          </p:cNvPicPr>
          <p:nvPr/>
        </p:nvPicPr>
        <p:blipFill>
          <a:blip r:embed="rId3"/>
          <a:stretch>
            <a:fillRect/>
          </a:stretch>
        </p:blipFill>
        <p:spPr>
          <a:xfrm>
            <a:off x="640080" y="1097280"/>
            <a:ext cx="6126480" cy="4509185"/>
          </a:xfrm>
          <a:prstGeom prst="rect">
            <a:avLst/>
          </a:prstGeom>
        </p:spPr>
      </p:pic>
      <p:sp>
        <p:nvSpPr>
          <p:cNvPr id="8" name="TextBox 7"/>
          <p:cNvSpPr txBox="1"/>
          <p:nvPr/>
        </p:nvSpPr>
        <p:spPr>
          <a:xfrm>
            <a:off x="7040880" y="1280160"/>
            <a:ext cx="4663440" cy="5120640"/>
          </a:xfrm>
          <a:prstGeom prst="rect">
            <a:avLst/>
          </a:prstGeom>
          <a:noFill/>
        </p:spPr>
        <p:txBody>
          <a:bodyPr wrap="square">
            <a:spAutoFit/>
          </a:bodyPr>
          <a:lstStyle/>
          <a:p>
            <a:pPr>
              <a:spcAft>
                <a:spcPts val="800"/>
              </a:spcAft>
              <a:defRPr sz="1500">
                <a:solidFill>
                  <a:srgbClr val="232B33"/>
                </a:solidFill>
              </a:defRPr>
            </a:pPr>
            <a:r>
              <a:t>At alpha = 1.0 the MILP leads at 1.38 against a bound of 1.43; rounding 1.25, greedy 1.23, GA 1.20</a:t>
            </a:r>
          </a:p>
          <a:p>
            <a:pPr>
              <a:spcAft>
                <a:spcPts val="800"/>
              </a:spcAft>
              <a:defRPr sz="1500">
                <a:solidFill>
                  <a:srgbClr val="232B33"/>
                </a:solidFill>
              </a:defRPr>
            </a:pPr>
            <a:r>
              <a:t>From alpha = 1.2 the greedy reaches the bound; the MILP joins it at 1.5</a:t>
            </a:r>
          </a:p>
          <a:p>
            <a:pPr>
              <a:spcAft>
                <a:spcPts val="800"/>
              </a:spcAft>
              <a:defRPr sz="1500">
                <a:solidFill>
                  <a:srgbClr val="232B33"/>
                </a:solidFill>
              </a:defRPr>
            </a:pPr>
            <a:r>
              <a:t>Rounding and the GA still trail 2.5 to 8 percent at alpha = 2.0; a fixed search budget cannot fully recover</a:t>
            </a:r>
          </a:p>
        </p:txBody>
      </p:sp>
      <p:sp>
        <p:nvSpPr>
          <p:cNvPr id="9" name="Rectangle 8"/>
          <p:cNvSpPr/>
          <p:nvPr/>
        </p:nvSpPr>
        <p:spPr>
          <a:xfrm>
            <a:off x="640080" y="5440680"/>
            <a:ext cx="10881360" cy="868680"/>
          </a:xfrm>
          <a:prstGeom prst="rect">
            <a:avLst/>
          </a:prstGeom>
          <a:solidFill>
            <a:srgbClr val="ED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5440680"/>
            <a:ext cx="109728" cy="868680"/>
          </a:xfrm>
          <a:prstGeom prst="rect">
            <a:avLst/>
          </a:prstGeom>
          <a:solidFill>
            <a:srgbClr val="E0A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513832"/>
            <a:ext cx="10424160" cy="722375"/>
          </a:xfrm>
          <a:prstGeom prst="rect">
            <a:avLst/>
          </a:prstGeom>
          <a:noFill/>
        </p:spPr>
        <p:txBody>
          <a:bodyPr wrap="square" anchor="ctr">
            <a:spAutoFit/>
          </a:bodyPr>
          <a:lstStyle/>
          <a:p>
            <a:pPr>
              <a:defRPr sz="1500" b="0">
                <a:solidFill>
                  <a:srgbClr val="232B33"/>
                </a:solidFill>
              </a:defRPr>
            </a:pPr>
            <a:r>
              <a:t>Take-away:  the method choice matters most exactly where the deadline binds; at loose slack almost anything works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64592" cy="59893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11338560" cy="640080"/>
          </a:xfrm>
          <a:prstGeom prst="rect">
            <a:avLst/>
          </a:prstGeom>
          <a:noFill/>
        </p:spPr>
        <p:txBody>
          <a:bodyPr wrap="none" anchor="ctr">
            <a:spAutoFit/>
          </a:bodyPr>
          <a:lstStyle/>
          <a:p>
            <a:pPr>
              <a:defRPr sz="2700" b="1">
                <a:solidFill>
                  <a:srgbClr val="FFFFFF"/>
                </a:solidFill>
              </a:defRPr>
            </a:pPr>
            <a:r>
              <a:t>Federation size: capacity buys feasibility, not accuracy</a:t>
            </a:r>
          </a:p>
        </p:txBody>
      </p:sp>
      <p:sp>
        <p:nvSpPr>
          <p:cNvPr id="5" name="TextBox 4"/>
          <p:cNvSpPr txBox="1"/>
          <p:nvPr/>
        </p:nvSpPr>
        <p:spPr>
          <a:xfrm>
            <a:off x="457200" y="6473952"/>
            <a:ext cx="10515600" cy="320040"/>
          </a:xfrm>
          <a:prstGeom prst="rect">
            <a:avLst/>
          </a:prstGeom>
          <a:noFill/>
        </p:spPr>
        <p:txBody>
          <a:bodyPr wrap="none">
            <a:spAutoFit/>
          </a:bodyPr>
          <a:lstStyle/>
          <a:p>
            <a:pPr>
              <a:defRPr sz="1000">
                <a:solidFill>
                  <a:srgbClr val="5A646E"/>
                </a:solidFill>
              </a:defRPr>
            </a:pPr>
            <a:r>
              <a:t>4  |  Completed work &amp; preliminary results</a:t>
            </a:r>
          </a:p>
        </p:txBody>
      </p:sp>
      <p:sp>
        <p:nvSpPr>
          <p:cNvPr id="6" name="TextBox 5"/>
          <p:cNvSpPr txBox="1"/>
          <p:nvPr/>
        </p:nvSpPr>
        <p:spPr>
          <a:xfrm>
            <a:off x="11247120" y="6473952"/>
            <a:ext cx="731520" cy="320040"/>
          </a:xfrm>
          <a:prstGeom prst="rect">
            <a:avLst/>
          </a:prstGeom>
          <a:noFill/>
        </p:spPr>
        <p:txBody>
          <a:bodyPr wrap="none">
            <a:spAutoFit/>
          </a:bodyPr>
          <a:lstStyle/>
          <a:p>
            <a:pPr algn="r">
              <a:defRPr sz="1000">
                <a:solidFill>
                  <a:srgbClr val="5A646E"/>
                </a:solidFill>
              </a:defRPr>
            </a:pPr>
            <a:r>
              <a:t>24</a:t>
            </a:r>
          </a:p>
        </p:txBody>
      </p:sp>
      <p:pic>
        <p:nvPicPr>
          <p:cNvPr id="7" name="Picture 6" descr="perf_nodes_accuracy.png"/>
          <p:cNvPicPr>
            <a:picLocks noChangeAspect="1"/>
          </p:cNvPicPr>
          <p:nvPr/>
        </p:nvPicPr>
        <p:blipFill>
          <a:blip r:embed="rId3"/>
          <a:stretch>
            <a:fillRect/>
          </a:stretch>
        </p:blipFill>
        <p:spPr>
          <a:xfrm>
            <a:off x="640080" y="1097280"/>
            <a:ext cx="6126480" cy="4504765"/>
          </a:xfrm>
          <a:prstGeom prst="rect">
            <a:avLst/>
          </a:prstGeom>
        </p:spPr>
      </p:pic>
      <p:sp>
        <p:nvSpPr>
          <p:cNvPr id="8" name="TextBox 7"/>
          <p:cNvSpPr txBox="1"/>
          <p:nvPr/>
        </p:nvSpPr>
        <p:spPr>
          <a:xfrm>
            <a:off x="7040880" y="1280160"/>
            <a:ext cx="4663440" cy="5120640"/>
          </a:xfrm>
          <a:prstGeom prst="rect">
            <a:avLst/>
          </a:prstGeom>
          <a:noFill/>
        </p:spPr>
        <p:txBody>
          <a:bodyPr wrap="square">
            <a:spAutoFit/>
          </a:bodyPr>
          <a:lstStyle/>
          <a:p>
            <a:pPr>
              <a:spcAft>
                <a:spcPts val="800"/>
              </a:spcAft>
              <a:defRPr sz="1500">
                <a:solidFill>
                  <a:srgbClr val="232B33"/>
                </a:solidFill>
              </a:defRPr>
            </a:pPr>
            <a:r>
              <a:t>The MILP and the greedy match the bound at every federation size</a:t>
            </a:r>
          </a:p>
          <a:p>
            <a:pPr>
              <a:spcAft>
                <a:spcPts val="800"/>
              </a:spcAft>
              <a:defRPr sz="1500">
                <a:solidFill>
                  <a:srgbClr val="232B33"/>
                </a:solidFill>
              </a:defRPr>
            </a:pPr>
            <a:r>
              <a:t>The GA drifts from 1.5% below the bound at N = 2 to about 8% at N = 10; rounding behaves the same way</a:t>
            </a:r>
          </a:p>
          <a:p>
            <a:pPr>
              <a:spcAft>
                <a:spcPts val="800"/>
              </a:spcAft>
              <a:defRPr sz="1500">
                <a:solidFill>
                  <a:srgbClr val="232B33"/>
                </a:solidFill>
              </a:defRPr>
            </a:pPr>
            <a:r>
              <a:t>The reason is that the placement space grows with N while the search budget stays fixed</a:t>
            </a:r>
          </a:p>
        </p:txBody>
      </p:sp>
      <p:sp>
        <p:nvSpPr>
          <p:cNvPr id="9" name="Rectangle 8"/>
          <p:cNvSpPr/>
          <p:nvPr/>
        </p:nvSpPr>
        <p:spPr>
          <a:xfrm>
            <a:off x="640080" y="5440680"/>
            <a:ext cx="10881360" cy="868680"/>
          </a:xfrm>
          <a:prstGeom prst="rect">
            <a:avLst/>
          </a:prstGeom>
          <a:solidFill>
            <a:srgbClr val="ED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5440680"/>
            <a:ext cx="109728" cy="868680"/>
          </a:xfrm>
          <a:prstGeom prst="rect">
            <a:avLst/>
          </a:prstGeom>
          <a:solidFill>
            <a:srgbClr val="E0A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513832"/>
            <a:ext cx="10424160" cy="722375"/>
          </a:xfrm>
          <a:prstGeom prst="rect">
            <a:avLst/>
          </a:prstGeom>
          <a:noFill/>
        </p:spPr>
        <p:txBody>
          <a:bodyPr wrap="square" anchor="ctr">
            <a:spAutoFit/>
          </a:bodyPr>
          <a:lstStyle/>
          <a:p>
            <a:pPr>
              <a:defRPr sz="1500" b="0">
                <a:solidFill>
                  <a:srgbClr val="232B33"/>
                </a:solidFill>
              </a:defRPr>
            </a:pPr>
            <a:r>
              <a:t>Take-away:  federation buys feasibility, not accuracy; extra nodes never lift a method above the bound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64592" cy="59893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11338560" cy="640080"/>
          </a:xfrm>
          <a:prstGeom prst="rect">
            <a:avLst/>
          </a:prstGeom>
          <a:noFill/>
        </p:spPr>
        <p:txBody>
          <a:bodyPr wrap="none" anchor="ctr">
            <a:spAutoFit/>
          </a:bodyPr>
          <a:lstStyle/>
          <a:p>
            <a:pPr>
              <a:defRPr sz="2700" b="1">
                <a:solidFill>
                  <a:srgbClr val="FFFFFF"/>
                </a:solidFill>
              </a:defRPr>
            </a:pPr>
            <a:r>
              <a:t>Workflow size: the simple greedy holds up best</a:t>
            </a:r>
          </a:p>
        </p:txBody>
      </p:sp>
      <p:sp>
        <p:nvSpPr>
          <p:cNvPr id="5" name="TextBox 4"/>
          <p:cNvSpPr txBox="1"/>
          <p:nvPr/>
        </p:nvSpPr>
        <p:spPr>
          <a:xfrm>
            <a:off x="457200" y="6473952"/>
            <a:ext cx="10515600" cy="320040"/>
          </a:xfrm>
          <a:prstGeom prst="rect">
            <a:avLst/>
          </a:prstGeom>
          <a:noFill/>
        </p:spPr>
        <p:txBody>
          <a:bodyPr wrap="none">
            <a:spAutoFit/>
          </a:bodyPr>
          <a:lstStyle/>
          <a:p>
            <a:pPr>
              <a:defRPr sz="1000">
                <a:solidFill>
                  <a:srgbClr val="5A646E"/>
                </a:solidFill>
              </a:defRPr>
            </a:pPr>
            <a:r>
              <a:t>4  |  Completed work &amp; preliminary results</a:t>
            </a:r>
          </a:p>
        </p:txBody>
      </p:sp>
      <p:sp>
        <p:nvSpPr>
          <p:cNvPr id="6" name="TextBox 5"/>
          <p:cNvSpPr txBox="1"/>
          <p:nvPr/>
        </p:nvSpPr>
        <p:spPr>
          <a:xfrm>
            <a:off x="11247120" y="6473952"/>
            <a:ext cx="731520" cy="320040"/>
          </a:xfrm>
          <a:prstGeom prst="rect">
            <a:avLst/>
          </a:prstGeom>
          <a:noFill/>
        </p:spPr>
        <p:txBody>
          <a:bodyPr wrap="none">
            <a:spAutoFit/>
          </a:bodyPr>
          <a:lstStyle/>
          <a:p>
            <a:pPr algn="r">
              <a:defRPr sz="1000">
                <a:solidFill>
                  <a:srgbClr val="5A646E"/>
                </a:solidFill>
              </a:defRPr>
            </a:pPr>
            <a:r>
              <a:t>25</a:t>
            </a:r>
          </a:p>
        </p:txBody>
      </p:sp>
      <p:pic>
        <p:nvPicPr>
          <p:cNvPr id="7" name="Picture 6" descr="perf_task_size_accuracy.png"/>
          <p:cNvPicPr>
            <a:picLocks noChangeAspect="1"/>
          </p:cNvPicPr>
          <p:nvPr/>
        </p:nvPicPr>
        <p:blipFill>
          <a:blip r:embed="rId3"/>
          <a:stretch>
            <a:fillRect/>
          </a:stretch>
        </p:blipFill>
        <p:spPr>
          <a:xfrm>
            <a:off x="640080" y="1097280"/>
            <a:ext cx="6126480" cy="4504765"/>
          </a:xfrm>
          <a:prstGeom prst="rect">
            <a:avLst/>
          </a:prstGeom>
        </p:spPr>
      </p:pic>
      <p:sp>
        <p:nvSpPr>
          <p:cNvPr id="8" name="TextBox 7"/>
          <p:cNvSpPr txBox="1"/>
          <p:nvPr/>
        </p:nvSpPr>
        <p:spPr>
          <a:xfrm>
            <a:off x="7040880" y="1280160"/>
            <a:ext cx="4663440" cy="5120640"/>
          </a:xfrm>
          <a:prstGeom prst="rect">
            <a:avLst/>
          </a:prstGeom>
          <a:noFill/>
        </p:spPr>
        <p:txBody>
          <a:bodyPr wrap="square">
            <a:spAutoFit/>
          </a:bodyPr>
          <a:lstStyle/>
          <a:p>
            <a:pPr>
              <a:spcAft>
                <a:spcPts val="800"/>
              </a:spcAft>
              <a:defRPr sz="1500">
                <a:solidFill>
                  <a:srgbClr val="232B33"/>
                </a:solidFill>
              </a:defRPr>
            </a:pPr>
            <a:r>
              <a:t>At n = 10 all four methods sit on the bound</a:t>
            </a:r>
          </a:p>
          <a:p>
            <a:pPr>
              <a:spcAft>
                <a:spcPts val="800"/>
              </a:spcAft>
              <a:defRPr sz="1500">
                <a:solidFill>
                  <a:srgbClr val="232B33"/>
                </a:solidFill>
              </a:defRPr>
            </a:pPr>
            <a:r>
              <a:t>At n = 100 the GA drifts first</a:t>
            </a:r>
          </a:p>
          <a:p>
            <a:pPr>
              <a:spcAft>
                <a:spcPts val="800"/>
              </a:spcAft>
              <a:defRPr sz="1500">
                <a:solidFill>
                  <a:srgbClr val="232B33"/>
                </a:solidFill>
              </a:defRPr>
            </a:pPr>
            <a:r>
              <a:t>At n = 1000 the MILP is past its cap; the greedy stays on the bound in 0.15 s; rounding needs ~93 s per re-solve; the GA falls to 1.10 in ~159 s</a:t>
            </a:r>
          </a:p>
        </p:txBody>
      </p:sp>
      <p:sp>
        <p:nvSpPr>
          <p:cNvPr id="9" name="Rectangle 8"/>
          <p:cNvSpPr/>
          <p:nvPr/>
        </p:nvSpPr>
        <p:spPr>
          <a:xfrm>
            <a:off x="640080" y="5440680"/>
            <a:ext cx="10881360" cy="868680"/>
          </a:xfrm>
          <a:prstGeom prst="rect">
            <a:avLst/>
          </a:prstGeom>
          <a:solidFill>
            <a:srgbClr val="ED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5440680"/>
            <a:ext cx="109728" cy="868680"/>
          </a:xfrm>
          <a:prstGeom prst="rect">
            <a:avLst/>
          </a:prstGeom>
          <a:solidFill>
            <a:srgbClr val="E0A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513832"/>
            <a:ext cx="10424160" cy="722375"/>
          </a:xfrm>
          <a:prstGeom prst="rect">
            <a:avLst/>
          </a:prstGeom>
          <a:noFill/>
        </p:spPr>
        <p:txBody>
          <a:bodyPr wrap="square" anchor="ctr">
            <a:spAutoFit/>
          </a:bodyPr>
          <a:lstStyle/>
          <a:p>
            <a:pPr>
              <a:defRPr sz="1500" b="0">
                <a:solidFill>
                  <a:srgbClr val="232B33"/>
                </a:solidFill>
              </a:defRPr>
            </a:pPr>
            <a:r>
              <a:t>Take-away:  at a thousand tasks only the greedy is both fast and bound-level; that result surprised us too</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64592" cy="59893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11338560" cy="640080"/>
          </a:xfrm>
          <a:prstGeom prst="rect">
            <a:avLst/>
          </a:prstGeom>
          <a:noFill/>
        </p:spPr>
        <p:txBody>
          <a:bodyPr wrap="none" anchor="ctr">
            <a:spAutoFit/>
          </a:bodyPr>
          <a:lstStyle/>
          <a:p>
            <a:pPr>
              <a:defRPr sz="2700" b="1">
                <a:solidFill>
                  <a:srgbClr val="FFFFFF"/>
                </a:solidFill>
              </a:defRPr>
            </a:pPr>
            <a:r>
              <a:t>Failures: the scores stay flat; feasibility is the story</a:t>
            </a:r>
          </a:p>
        </p:txBody>
      </p:sp>
      <p:sp>
        <p:nvSpPr>
          <p:cNvPr id="5" name="TextBox 4"/>
          <p:cNvSpPr txBox="1"/>
          <p:nvPr/>
        </p:nvSpPr>
        <p:spPr>
          <a:xfrm>
            <a:off x="457200" y="6473952"/>
            <a:ext cx="10515600" cy="320040"/>
          </a:xfrm>
          <a:prstGeom prst="rect">
            <a:avLst/>
          </a:prstGeom>
          <a:noFill/>
        </p:spPr>
        <p:txBody>
          <a:bodyPr wrap="none">
            <a:spAutoFit/>
          </a:bodyPr>
          <a:lstStyle/>
          <a:p>
            <a:pPr>
              <a:defRPr sz="1000">
                <a:solidFill>
                  <a:srgbClr val="5A646E"/>
                </a:solidFill>
              </a:defRPr>
            </a:pPr>
            <a:r>
              <a:t>4  |  Completed work &amp; preliminary results</a:t>
            </a:r>
          </a:p>
        </p:txBody>
      </p:sp>
      <p:sp>
        <p:nvSpPr>
          <p:cNvPr id="6" name="TextBox 5"/>
          <p:cNvSpPr txBox="1"/>
          <p:nvPr/>
        </p:nvSpPr>
        <p:spPr>
          <a:xfrm>
            <a:off x="11247120" y="6473952"/>
            <a:ext cx="731520" cy="320040"/>
          </a:xfrm>
          <a:prstGeom prst="rect">
            <a:avLst/>
          </a:prstGeom>
          <a:noFill/>
        </p:spPr>
        <p:txBody>
          <a:bodyPr wrap="none">
            <a:spAutoFit/>
          </a:bodyPr>
          <a:lstStyle/>
          <a:p>
            <a:pPr algn="r">
              <a:defRPr sz="1000">
                <a:solidFill>
                  <a:srgbClr val="5A646E"/>
                </a:solidFill>
              </a:defRPr>
            </a:pPr>
            <a:r>
              <a:t>26</a:t>
            </a:r>
          </a:p>
        </p:txBody>
      </p:sp>
      <p:pic>
        <p:nvPicPr>
          <p:cNvPr id="7" name="Picture 6" descr="perf_failure_accuracy.png"/>
          <p:cNvPicPr>
            <a:picLocks noChangeAspect="1"/>
          </p:cNvPicPr>
          <p:nvPr/>
        </p:nvPicPr>
        <p:blipFill>
          <a:blip r:embed="rId3"/>
          <a:stretch>
            <a:fillRect/>
          </a:stretch>
        </p:blipFill>
        <p:spPr>
          <a:xfrm>
            <a:off x="640080" y="1097280"/>
            <a:ext cx="6126480" cy="2357547"/>
          </a:xfrm>
          <a:prstGeom prst="rect">
            <a:avLst/>
          </a:prstGeom>
        </p:spPr>
      </p:pic>
      <p:sp>
        <p:nvSpPr>
          <p:cNvPr id="8" name="TextBox 7"/>
          <p:cNvSpPr txBox="1"/>
          <p:nvPr/>
        </p:nvSpPr>
        <p:spPr>
          <a:xfrm>
            <a:off x="7040880" y="1280160"/>
            <a:ext cx="4663440" cy="5120640"/>
          </a:xfrm>
          <a:prstGeom prst="rect">
            <a:avLst/>
          </a:prstGeom>
          <a:noFill/>
        </p:spPr>
        <p:txBody>
          <a:bodyPr wrap="square">
            <a:spAutoFit/>
          </a:bodyPr>
          <a:lstStyle/>
          <a:p>
            <a:pPr>
              <a:spcAft>
                <a:spcPts val="800"/>
              </a:spcAft>
              <a:defRPr sz="1500">
                <a:solidFill>
                  <a:srgbClr val="232B33"/>
                </a:solidFill>
              </a:defRPr>
            </a:pPr>
            <a:r>
              <a:t>Retry-once: a failed task reruns in place and keeps its accuracy if the retry still meets the deadline</a:t>
            </a:r>
          </a:p>
          <a:p>
            <a:pPr>
              <a:spcAft>
                <a:spcPts val="800"/>
              </a:spcAft>
              <a:defRPr sz="1500">
                <a:solidFill>
                  <a:srgbClr val="232B33"/>
                </a:solidFill>
              </a:defRPr>
            </a:pPr>
            <a:r>
              <a:t>The scores stay flat for everyone; feasibility is where they separate</a:t>
            </a:r>
          </a:p>
          <a:p>
            <a:pPr>
              <a:spcAft>
                <a:spcPts val="800"/>
              </a:spcAft>
              <a:defRPr sz="1500">
                <a:solidFill>
                  <a:srgbClr val="232B33"/>
                </a:solidFill>
              </a:defRPr>
            </a:pPr>
            <a:r>
              <a:t>At failure rate 0.5: greedy 100%, MILP and GA around 60%, rounding around 20%</a:t>
            </a:r>
          </a:p>
          <a:p>
            <a:pPr>
              <a:spcAft>
                <a:spcPts val="800"/>
              </a:spcAft>
              <a:defRPr sz="1500">
                <a:solidFill>
                  <a:srgbClr val="232B33"/>
                </a:solidFill>
              </a:defRPr>
            </a:pPr>
            <a:r>
              <a:t>The greedy finishes early, so a retry fits inside the deadline</a:t>
            </a:r>
          </a:p>
        </p:txBody>
      </p:sp>
      <p:sp>
        <p:nvSpPr>
          <p:cNvPr id="9" name="Rectangle 8"/>
          <p:cNvSpPr/>
          <p:nvPr/>
        </p:nvSpPr>
        <p:spPr>
          <a:xfrm>
            <a:off x="640080" y="5440680"/>
            <a:ext cx="10881360" cy="868680"/>
          </a:xfrm>
          <a:prstGeom prst="rect">
            <a:avLst/>
          </a:prstGeom>
          <a:solidFill>
            <a:srgbClr val="ED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5440680"/>
            <a:ext cx="109728" cy="868680"/>
          </a:xfrm>
          <a:prstGeom prst="rect">
            <a:avLst/>
          </a:prstGeom>
          <a:solidFill>
            <a:srgbClr val="E0A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513832"/>
            <a:ext cx="10424160" cy="722375"/>
          </a:xfrm>
          <a:prstGeom prst="rect">
            <a:avLst/>
          </a:prstGeom>
          <a:noFill/>
        </p:spPr>
        <p:txBody>
          <a:bodyPr wrap="square" anchor="ctr">
            <a:spAutoFit/>
          </a:bodyPr>
          <a:lstStyle/>
          <a:p>
            <a:pPr>
              <a:defRPr sz="1500" b="0">
                <a:solidFill>
                  <a:srgbClr val="232B33"/>
                </a:solidFill>
              </a:defRPr>
            </a:pPr>
            <a:r>
              <a:t>Take-away:  under failures the differentiator is feasibility, not accuracy; early-finish headroom absorbs the retries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64592" cy="59893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11338560" cy="640080"/>
          </a:xfrm>
          <a:prstGeom prst="rect">
            <a:avLst/>
          </a:prstGeom>
          <a:noFill/>
        </p:spPr>
        <p:txBody>
          <a:bodyPr wrap="none" anchor="ctr">
            <a:spAutoFit/>
          </a:bodyPr>
          <a:lstStyle/>
          <a:p>
            <a:pPr>
              <a:defRPr sz="2700" b="1">
                <a:solidFill>
                  <a:srgbClr val="FFFFFF"/>
                </a:solidFill>
              </a:defRPr>
            </a:pPr>
            <a:r>
              <a:t>Link degradation: what data-awareness is worth</a:t>
            </a:r>
          </a:p>
        </p:txBody>
      </p:sp>
      <p:sp>
        <p:nvSpPr>
          <p:cNvPr id="5" name="TextBox 4"/>
          <p:cNvSpPr txBox="1"/>
          <p:nvPr/>
        </p:nvSpPr>
        <p:spPr>
          <a:xfrm>
            <a:off x="457200" y="6473952"/>
            <a:ext cx="10515600" cy="320040"/>
          </a:xfrm>
          <a:prstGeom prst="rect">
            <a:avLst/>
          </a:prstGeom>
          <a:noFill/>
        </p:spPr>
        <p:txBody>
          <a:bodyPr wrap="none">
            <a:spAutoFit/>
          </a:bodyPr>
          <a:lstStyle/>
          <a:p>
            <a:pPr>
              <a:defRPr sz="1000">
                <a:solidFill>
                  <a:srgbClr val="5A646E"/>
                </a:solidFill>
              </a:defRPr>
            </a:pPr>
            <a:r>
              <a:t>4  |  Completed work &amp; preliminary results</a:t>
            </a:r>
          </a:p>
        </p:txBody>
      </p:sp>
      <p:sp>
        <p:nvSpPr>
          <p:cNvPr id="6" name="TextBox 5"/>
          <p:cNvSpPr txBox="1"/>
          <p:nvPr/>
        </p:nvSpPr>
        <p:spPr>
          <a:xfrm>
            <a:off x="11247120" y="6473952"/>
            <a:ext cx="731520" cy="320040"/>
          </a:xfrm>
          <a:prstGeom prst="rect">
            <a:avLst/>
          </a:prstGeom>
          <a:noFill/>
        </p:spPr>
        <p:txBody>
          <a:bodyPr wrap="none">
            <a:spAutoFit/>
          </a:bodyPr>
          <a:lstStyle/>
          <a:p>
            <a:pPr algn="r">
              <a:defRPr sz="1000">
                <a:solidFill>
                  <a:srgbClr val="5A646E"/>
                </a:solidFill>
              </a:defRPr>
            </a:pPr>
            <a:r>
              <a:t>27</a:t>
            </a:r>
          </a:p>
        </p:txBody>
      </p:sp>
      <p:pic>
        <p:nvPicPr>
          <p:cNvPr id="7" name="Picture 6" descr="perf_bandwidth_accuracy.png"/>
          <p:cNvPicPr>
            <a:picLocks noChangeAspect="1"/>
          </p:cNvPicPr>
          <p:nvPr/>
        </p:nvPicPr>
        <p:blipFill>
          <a:blip r:embed="rId3"/>
          <a:stretch>
            <a:fillRect/>
          </a:stretch>
        </p:blipFill>
        <p:spPr>
          <a:xfrm>
            <a:off x="640080" y="1097280"/>
            <a:ext cx="6126480" cy="2353197"/>
          </a:xfrm>
          <a:prstGeom prst="rect">
            <a:avLst/>
          </a:prstGeom>
        </p:spPr>
      </p:pic>
      <p:sp>
        <p:nvSpPr>
          <p:cNvPr id="8" name="TextBox 7"/>
          <p:cNvSpPr txBox="1"/>
          <p:nvPr/>
        </p:nvSpPr>
        <p:spPr>
          <a:xfrm>
            <a:off x="7040880" y="1280160"/>
            <a:ext cx="4663440" cy="5120640"/>
          </a:xfrm>
          <a:prstGeom prst="rect">
            <a:avLst/>
          </a:prstGeom>
          <a:noFill/>
        </p:spPr>
        <p:txBody>
          <a:bodyPr wrap="square">
            <a:spAutoFit/>
          </a:bodyPr>
          <a:lstStyle/>
          <a:p>
            <a:pPr>
              <a:spcAft>
                <a:spcPts val="800"/>
              </a:spcAft>
              <a:defRPr sz="1500">
                <a:solidFill>
                  <a:srgbClr val="232B33"/>
                </a:solidFill>
              </a:defRPr>
            </a:pPr>
            <a:r>
              <a:t>The blind baseline shows bound-level scores at every level, but it is infeasible: 80% at 0.5x, 0% below 0.2x</a:t>
            </a:r>
          </a:p>
          <a:p>
            <a:pPr>
              <a:spcAft>
                <a:spcPts val="800"/>
              </a:spcAft>
              <a:defRPr sz="1500">
                <a:solidFill>
                  <a:srgbClr val="232B33"/>
                </a:solidFill>
              </a:defRPr>
            </a:pPr>
            <a:r>
              <a:t>The MILP stays feasible at all levels and loses about 10% of score at 0.05x</a:t>
            </a:r>
          </a:p>
          <a:p>
            <a:pPr>
              <a:spcAft>
                <a:spcPts val="800"/>
              </a:spcAft>
              <a:defRPr sz="1500">
                <a:solidFill>
                  <a:srgbClr val="232B33"/>
                </a:solidFill>
              </a:defRPr>
            </a:pPr>
            <a:r>
              <a:t>The greedy stays feasible to 0.1x by paying in accuracy; it collapses at 0.05x</a:t>
            </a:r>
          </a:p>
          <a:p>
            <a:pPr>
              <a:spcAft>
                <a:spcPts val="800"/>
              </a:spcAft>
              <a:defRPr sz="1500">
                <a:solidFill>
                  <a:srgbClr val="232B33"/>
                </a:solidFill>
              </a:defRPr>
            </a:pPr>
            <a:r>
              <a:t>The GA holds to 0.1x; rounding only survives above 0.5x</a:t>
            </a:r>
          </a:p>
        </p:txBody>
      </p:sp>
      <p:sp>
        <p:nvSpPr>
          <p:cNvPr id="9" name="Rectangle 8"/>
          <p:cNvSpPr/>
          <p:nvPr/>
        </p:nvSpPr>
        <p:spPr>
          <a:xfrm>
            <a:off x="640080" y="5440680"/>
            <a:ext cx="10881360" cy="868680"/>
          </a:xfrm>
          <a:prstGeom prst="rect">
            <a:avLst/>
          </a:prstGeom>
          <a:solidFill>
            <a:srgbClr val="ED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5440680"/>
            <a:ext cx="109728" cy="868680"/>
          </a:xfrm>
          <a:prstGeom prst="rect">
            <a:avLst/>
          </a:prstGeom>
          <a:solidFill>
            <a:srgbClr val="E0A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513832"/>
            <a:ext cx="10424160" cy="722375"/>
          </a:xfrm>
          <a:prstGeom prst="rect">
            <a:avLst/>
          </a:prstGeom>
          <a:noFill/>
        </p:spPr>
        <p:txBody>
          <a:bodyPr wrap="square" anchor="ctr">
            <a:spAutoFit/>
          </a:bodyPr>
          <a:lstStyle/>
          <a:p>
            <a:pPr>
              <a:defRPr sz="1500" b="0">
                <a:solidFill>
                  <a:srgbClr val="232B33"/>
                </a:solidFill>
              </a:defRPr>
            </a:pPr>
            <a:r>
              <a:t>Take-away:  a scheduler that ignores the links reports a perfect score on a workflow that finishes late; a high score that is late is a missed alert, not a result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64592" cy="59893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11338560" cy="640080"/>
          </a:xfrm>
          <a:prstGeom prst="rect">
            <a:avLst/>
          </a:prstGeom>
          <a:noFill/>
        </p:spPr>
        <p:txBody>
          <a:bodyPr wrap="none" anchor="ctr">
            <a:spAutoFit/>
          </a:bodyPr>
          <a:lstStyle/>
          <a:p>
            <a:pPr>
              <a:defRPr sz="2700" b="1">
                <a:solidFill>
                  <a:srgbClr val="FFFFFF"/>
                </a:solidFill>
              </a:defRPr>
            </a:pPr>
            <a:r>
              <a:t>The same story across the four datasets</a:t>
            </a:r>
          </a:p>
        </p:txBody>
      </p:sp>
      <p:sp>
        <p:nvSpPr>
          <p:cNvPr id="5" name="TextBox 4"/>
          <p:cNvSpPr txBox="1"/>
          <p:nvPr/>
        </p:nvSpPr>
        <p:spPr>
          <a:xfrm>
            <a:off x="457200" y="6473952"/>
            <a:ext cx="10515600" cy="320040"/>
          </a:xfrm>
          <a:prstGeom prst="rect">
            <a:avLst/>
          </a:prstGeom>
          <a:noFill/>
        </p:spPr>
        <p:txBody>
          <a:bodyPr wrap="none">
            <a:spAutoFit/>
          </a:bodyPr>
          <a:lstStyle/>
          <a:p>
            <a:pPr>
              <a:defRPr sz="1000">
                <a:solidFill>
                  <a:srgbClr val="5A646E"/>
                </a:solidFill>
              </a:defRPr>
            </a:pPr>
            <a:r>
              <a:t>4  |  Completed work &amp; preliminary results</a:t>
            </a:r>
          </a:p>
        </p:txBody>
      </p:sp>
      <p:sp>
        <p:nvSpPr>
          <p:cNvPr id="6" name="TextBox 5"/>
          <p:cNvSpPr txBox="1"/>
          <p:nvPr/>
        </p:nvSpPr>
        <p:spPr>
          <a:xfrm>
            <a:off x="11247120" y="6473952"/>
            <a:ext cx="731520" cy="320040"/>
          </a:xfrm>
          <a:prstGeom prst="rect">
            <a:avLst/>
          </a:prstGeom>
          <a:noFill/>
        </p:spPr>
        <p:txBody>
          <a:bodyPr wrap="none">
            <a:spAutoFit/>
          </a:bodyPr>
          <a:lstStyle/>
          <a:p>
            <a:pPr algn="r">
              <a:defRPr sz="1000">
                <a:solidFill>
                  <a:srgbClr val="5A646E"/>
                </a:solidFill>
              </a:defRPr>
            </a:pPr>
            <a:r>
              <a:t>28</a:t>
            </a:r>
          </a:p>
        </p:txBody>
      </p:sp>
      <p:graphicFrame>
        <p:nvGraphicFramePr>
          <p:cNvPr id="7" name="Table 6"/>
          <p:cNvGraphicFramePr>
            <a:graphicFrameLocks noGrp="1"/>
          </p:cNvGraphicFramePr>
          <p:nvPr/>
        </p:nvGraphicFramePr>
        <p:xfrm>
          <a:off x="822960" y="1280160"/>
          <a:ext cx="10515600" cy="3291840"/>
        </p:xfrm>
        <a:graphic>
          <a:graphicData uri="http://schemas.openxmlformats.org/drawingml/2006/table">
            <a:tbl>
              <a:tblPr firstRow="1" bandRow="1">
                <a:tableStyleId>{5C22544A-7EE6-4342-B048-85BDC9FD1C3A}</a:tableStyleId>
              </a:tblPr>
              <a:tblGrid>
                <a:gridCol w="2743200"/>
                <a:gridCol w="2377440"/>
                <a:gridCol w="1554480"/>
                <a:gridCol w="2011680"/>
                <a:gridCol w="1828800"/>
              </a:tblGrid>
              <a:tr h="548640">
                <a:tc>
                  <a:txBody>
                    <a:bodyPr wrap="square"/>
                    <a:lstStyle/>
                    <a:p>
                      <a:pPr>
                        <a:defRPr sz="1400" b="1">
                          <a:solidFill>
                            <a:srgbClr val="FFFFFF"/>
                          </a:solidFill>
                        </a:defRPr>
                      </a:pPr>
                      <a:r>
                        <a:t>Dataset</a:t>
                      </a:r>
                    </a:p>
                  </a:txBody>
                  <a:tcPr marT="38100" marB="38100" marL="76200" marR="76200">
                    <a:solidFill>
                      <a:srgbClr val="0B2A4A"/>
                    </a:solidFill>
                  </a:tcPr>
                </a:tc>
                <a:tc>
                  <a:txBody>
                    <a:bodyPr wrap="square"/>
                    <a:lstStyle/>
                    <a:p>
                      <a:pPr>
                        <a:defRPr sz="1400" b="1">
                          <a:solidFill>
                            <a:srgbClr val="FFFFFF"/>
                          </a:solidFill>
                        </a:defRPr>
                      </a:pPr>
                      <a:r>
                        <a:t>Method</a:t>
                      </a:r>
                    </a:p>
                  </a:txBody>
                  <a:tcPr marT="38100" marB="38100" marL="76200" marR="76200">
                    <a:solidFill>
                      <a:srgbClr val="0B2A4A"/>
                    </a:solidFill>
                  </a:tcPr>
                </a:tc>
                <a:tc>
                  <a:txBody>
                    <a:bodyPr wrap="square"/>
                    <a:lstStyle/>
                    <a:p>
                      <a:pPr>
                        <a:defRPr sz="1400" b="1">
                          <a:solidFill>
                            <a:srgbClr val="FFFFFF"/>
                          </a:solidFill>
                        </a:defRPr>
                      </a:pPr>
                      <a:r>
                        <a:t>Score</a:t>
                      </a:r>
                    </a:p>
                  </a:txBody>
                  <a:tcPr marT="38100" marB="38100" marL="76200" marR="76200">
                    <a:solidFill>
                      <a:srgbClr val="0B2A4A"/>
                    </a:solidFill>
                  </a:tcPr>
                </a:tc>
                <a:tc>
                  <a:txBody>
                    <a:bodyPr wrap="square"/>
                    <a:lstStyle/>
                    <a:p>
                      <a:pPr>
                        <a:defRPr sz="1400" b="1">
                          <a:solidFill>
                            <a:srgbClr val="FFFFFF"/>
                          </a:solidFill>
                        </a:defRPr>
                      </a:pPr>
                      <a:r>
                        <a:t>Makespan</a:t>
                      </a:r>
                    </a:p>
                  </a:txBody>
                  <a:tcPr marT="38100" marB="38100" marL="76200" marR="76200">
                    <a:solidFill>
                      <a:srgbClr val="0B2A4A"/>
                    </a:solidFill>
                  </a:tcPr>
                </a:tc>
                <a:tc>
                  <a:txBody>
                    <a:bodyPr wrap="square"/>
                    <a:lstStyle/>
                    <a:p>
                      <a:pPr>
                        <a:defRPr sz="1400" b="1">
                          <a:solidFill>
                            <a:srgbClr val="FFFFFF"/>
                          </a:solidFill>
                        </a:defRPr>
                      </a:pPr>
                      <a:r>
                        <a:t>Runtime</a:t>
                      </a:r>
                    </a:p>
                  </a:txBody>
                  <a:tcPr marT="38100" marB="38100" marL="76200" marR="76200">
                    <a:solidFill>
                      <a:srgbClr val="0B2A4A"/>
                    </a:solidFill>
                  </a:tcPr>
                </a:tc>
              </a:tr>
              <a:tr h="548640">
                <a:tc>
                  <a:txBody>
                    <a:bodyPr wrap="square"/>
                    <a:lstStyle/>
                    <a:p>
                      <a:pPr>
                        <a:defRPr sz="1400" b="0">
                          <a:solidFill>
                            <a:srgbClr val="232B33"/>
                          </a:solidFill>
                        </a:defRPr>
                      </a:pPr>
                      <a:r>
                        <a:t>small (10/3)</a:t>
                      </a:r>
                    </a:p>
                  </a:txBody>
                  <a:tcPr marT="38100" marB="38100" marL="76200" marR="76200">
                    <a:solidFill>
                      <a:srgbClr val="FFFFFF"/>
                    </a:solidFill>
                  </a:tcPr>
                </a:tc>
                <a:tc>
                  <a:txBody>
                    <a:bodyPr wrap="square"/>
                    <a:lstStyle/>
                    <a:p>
                      <a:pPr>
                        <a:defRPr sz="1400" b="0">
                          <a:solidFill>
                            <a:srgbClr val="232B33"/>
                          </a:solidFill>
                        </a:defRPr>
                      </a:pPr>
                      <a:r>
                        <a:t>all four</a:t>
                      </a:r>
                    </a:p>
                  </a:txBody>
                  <a:tcPr marT="38100" marB="38100" marL="76200" marR="76200">
                    <a:solidFill>
                      <a:srgbClr val="FFFFFF"/>
                    </a:solidFill>
                  </a:tcPr>
                </a:tc>
                <a:tc>
                  <a:txBody>
                    <a:bodyPr wrap="square"/>
                    <a:lstStyle/>
                    <a:p>
                      <a:pPr>
                        <a:defRPr sz="1400" b="0">
                          <a:solidFill>
                            <a:srgbClr val="232B33"/>
                          </a:solidFill>
                        </a:defRPr>
                      </a:pPr>
                      <a:r>
                        <a:t>1.64</a:t>
                      </a:r>
                    </a:p>
                  </a:txBody>
                  <a:tcPr marT="38100" marB="38100" marL="76200" marR="76200">
                    <a:solidFill>
                      <a:srgbClr val="FFFFFF"/>
                    </a:solidFill>
                  </a:tcPr>
                </a:tc>
                <a:tc>
                  <a:txBody>
                    <a:bodyPr wrap="square"/>
                    <a:lstStyle/>
                    <a:p>
                      <a:pPr>
                        <a:defRPr sz="1400" b="0">
                          <a:solidFill>
                            <a:srgbClr val="232B33"/>
                          </a:solidFill>
                        </a:defRPr>
                      </a:pPr>
                      <a:r>
                        <a:t>16.8-18.9</a:t>
                      </a:r>
                    </a:p>
                  </a:txBody>
                  <a:tcPr marT="38100" marB="38100" marL="76200" marR="76200">
                    <a:solidFill>
                      <a:srgbClr val="FFFFFF"/>
                    </a:solidFill>
                  </a:tcPr>
                </a:tc>
                <a:tc>
                  <a:txBody>
                    <a:bodyPr wrap="square"/>
                    <a:lstStyle/>
                    <a:p>
                      <a:pPr>
                        <a:defRPr sz="1400" b="0">
                          <a:solidFill>
                            <a:srgbClr val="232B33"/>
                          </a:solidFill>
                        </a:defRPr>
                      </a:pPr>
                      <a:r>
                        <a:t>0.0001-0.27 s</a:t>
                      </a:r>
                    </a:p>
                  </a:txBody>
                  <a:tcPr marT="38100" marB="38100" marL="76200" marR="76200">
                    <a:solidFill>
                      <a:srgbClr val="FFFFFF"/>
                    </a:solidFill>
                  </a:tcPr>
                </a:tc>
              </a:tr>
              <a:tr h="548640">
                <a:tc>
                  <a:txBody>
                    <a:bodyPr wrap="square"/>
                    <a:lstStyle/>
                    <a:p>
                      <a:pPr>
                        <a:defRPr sz="1400" b="0">
                          <a:solidFill>
                            <a:srgbClr val="232B33"/>
                          </a:solidFill>
                        </a:defRPr>
                      </a:pPr>
                      <a:r>
                        <a:t>medium (100/5)</a:t>
                      </a:r>
                    </a:p>
                  </a:txBody>
                  <a:tcPr marT="38100" marB="38100" marL="76200" marR="76200">
                    <a:solidFill>
                      <a:srgbClr val="EDF2F7"/>
                    </a:solidFill>
                  </a:tcPr>
                </a:tc>
                <a:tc>
                  <a:txBody>
                    <a:bodyPr wrap="square"/>
                    <a:lstStyle/>
                    <a:p>
                      <a:pPr>
                        <a:defRPr sz="1400" b="0">
                          <a:solidFill>
                            <a:srgbClr val="232B33"/>
                          </a:solidFill>
                        </a:defRPr>
                      </a:pPr>
                      <a:r>
                        <a:t>MILP / greedy</a:t>
                      </a:r>
                    </a:p>
                  </a:txBody>
                  <a:tcPr marT="38100" marB="38100" marL="76200" marR="76200">
                    <a:solidFill>
                      <a:srgbClr val="EDF2F7"/>
                    </a:solidFill>
                  </a:tcPr>
                </a:tc>
                <a:tc>
                  <a:txBody>
                    <a:bodyPr wrap="square"/>
                    <a:lstStyle/>
                    <a:p>
                      <a:pPr>
                        <a:defRPr sz="1400" b="0">
                          <a:solidFill>
                            <a:srgbClr val="232B33"/>
                          </a:solidFill>
                        </a:defRPr>
                      </a:pPr>
                      <a:r>
                        <a:t>1.44</a:t>
                      </a:r>
                    </a:p>
                  </a:txBody>
                  <a:tcPr marT="38100" marB="38100" marL="76200" marR="76200">
                    <a:solidFill>
                      <a:srgbClr val="EDF2F7"/>
                    </a:solidFill>
                  </a:tcPr>
                </a:tc>
                <a:tc>
                  <a:txBody>
                    <a:bodyPr wrap="square"/>
                    <a:lstStyle/>
                    <a:p>
                      <a:pPr>
                        <a:defRPr sz="1400" b="0">
                          <a:solidFill>
                            <a:srgbClr val="232B33"/>
                          </a:solidFill>
                        </a:defRPr>
                      </a:pPr>
                      <a:r>
                        <a:t>61 / 43</a:t>
                      </a:r>
                    </a:p>
                  </a:txBody>
                  <a:tcPr marT="38100" marB="38100" marL="76200" marR="76200">
                    <a:solidFill>
                      <a:srgbClr val="EDF2F7"/>
                    </a:solidFill>
                  </a:tcPr>
                </a:tc>
                <a:tc>
                  <a:txBody>
                    <a:bodyPr wrap="square"/>
                    <a:lstStyle/>
                    <a:p>
                      <a:pPr>
                        <a:defRPr sz="1400" b="0">
                          <a:solidFill>
                            <a:srgbClr val="232B33"/>
                          </a:solidFill>
                        </a:defRPr>
                      </a:pPr>
                      <a:r>
                        <a:t>1.37 s / 0.003 s</a:t>
                      </a:r>
                    </a:p>
                  </a:txBody>
                  <a:tcPr marT="38100" marB="38100" marL="76200" marR="76200">
                    <a:solidFill>
                      <a:srgbClr val="EDF2F7"/>
                    </a:solidFill>
                  </a:tcPr>
                </a:tc>
              </a:tr>
              <a:tr h="548640">
                <a:tc>
                  <a:txBody>
                    <a:bodyPr wrap="square"/>
                    <a:lstStyle/>
                    <a:p>
                      <a:pPr>
                        <a:defRPr sz="1400" b="0">
                          <a:solidFill>
                            <a:srgbClr val="232B33"/>
                          </a:solidFill>
                        </a:defRPr>
                      </a:pPr>
                      <a:r>
                        <a:t>medium (100/5)</a:t>
                      </a:r>
                    </a:p>
                  </a:txBody>
                  <a:tcPr marT="38100" marB="38100" marL="76200" marR="76200">
                    <a:solidFill>
                      <a:srgbClr val="FFFFFF"/>
                    </a:solidFill>
                  </a:tcPr>
                </a:tc>
                <a:tc>
                  <a:txBody>
                    <a:bodyPr wrap="square"/>
                    <a:lstStyle/>
                    <a:p>
                      <a:pPr>
                        <a:defRPr sz="1400" b="0">
                          <a:solidFill>
                            <a:srgbClr val="232B33"/>
                          </a:solidFill>
                        </a:defRPr>
                      </a:pPr>
                      <a:r>
                        <a:t>rounding / GA</a:t>
                      </a:r>
                    </a:p>
                  </a:txBody>
                  <a:tcPr marT="38100" marB="38100" marL="76200" marR="76200">
                    <a:solidFill>
                      <a:srgbClr val="FFFFFF"/>
                    </a:solidFill>
                  </a:tcPr>
                </a:tc>
                <a:tc>
                  <a:txBody>
                    <a:bodyPr wrap="square"/>
                    <a:lstStyle/>
                    <a:p>
                      <a:pPr>
                        <a:defRPr sz="1400" b="0">
                          <a:solidFill>
                            <a:srgbClr val="232B33"/>
                          </a:solidFill>
                        </a:defRPr>
                      </a:pPr>
                      <a:r>
                        <a:t>1.32 / 1.27</a:t>
                      </a:r>
                    </a:p>
                  </a:txBody>
                  <a:tcPr marT="38100" marB="38100" marL="76200" marR="76200">
                    <a:solidFill>
                      <a:srgbClr val="FFFFFF"/>
                    </a:solidFill>
                  </a:tcPr>
                </a:tc>
                <a:tc>
                  <a:txBody>
                    <a:bodyPr wrap="square"/>
                    <a:lstStyle/>
                    <a:p>
                      <a:pPr>
                        <a:defRPr sz="1400" b="0">
                          <a:solidFill>
                            <a:srgbClr val="232B33"/>
                          </a:solidFill>
                        </a:defRPr>
                      </a:pPr>
                      <a:r>
                        <a:t>62 / 61</a:t>
                      </a:r>
                    </a:p>
                  </a:txBody>
                  <a:tcPr marT="38100" marB="38100" marL="76200" marR="76200">
                    <a:solidFill>
                      <a:srgbClr val="FFFFFF"/>
                    </a:solidFill>
                  </a:tcPr>
                </a:tc>
                <a:tc>
                  <a:txBody>
                    <a:bodyPr wrap="square"/>
                    <a:lstStyle/>
                    <a:p>
                      <a:pPr>
                        <a:defRPr sz="1400" b="0">
                          <a:solidFill>
                            <a:srgbClr val="232B33"/>
                          </a:solidFill>
                        </a:defRPr>
                      </a:pPr>
                      <a:r>
                        <a:t>24.8 s / 5.2 s</a:t>
                      </a:r>
                    </a:p>
                  </a:txBody>
                  <a:tcPr marT="38100" marB="38100" marL="76200" marR="76200">
                    <a:solidFill>
                      <a:srgbClr val="FFFFFF"/>
                    </a:solidFill>
                  </a:tcPr>
                </a:tc>
              </a:tr>
              <a:tr h="548640">
                <a:tc>
                  <a:txBody>
                    <a:bodyPr wrap="square"/>
                    <a:lstStyle/>
                    <a:p>
                      <a:pPr>
                        <a:defRPr sz="1400" b="0">
                          <a:solidFill>
                            <a:srgbClr val="232B33"/>
                          </a:solidFill>
                        </a:defRPr>
                      </a:pPr>
                      <a:r>
                        <a:t>large (500/8)</a:t>
                      </a:r>
                    </a:p>
                  </a:txBody>
                  <a:tcPr marT="38100" marB="38100" marL="76200" marR="76200">
                    <a:solidFill>
                      <a:srgbClr val="EDF2F7"/>
                    </a:solidFill>
                  </a:tcPr>
                </a:tc>
                <a:tc>
                  <a:txBody>
                    <a:bodyPr wrap="square"/>
                    <a:lstStyle/>
                    <a:p>
                      <a:pPr>
                        <a:defRPr sz="1400" b="0">
                          <a:solidFill>
                            <a:srgbClr val="232B33"/>
                          </a:solidFill>
                        </a:defRPr>
                      </a:pPr>
                      <a:r>
                        <a:t>greedy / GA</a:t>
                      </a:r>
                    </a:p>
                  </a:txBody>
                  <a:tcPr marT="38100" marB="38100" marL="76200" marR="76200">
                    <a:solidFill>
                      <a:srgbClr val="EDF2F7"/>
                    </a:solidFill>
                  </a:tcPr>
                </a:tc>
                <a:tc>
                  <a:txBody>
                    <a:bodyPr wrap="square"/>
                    <a:lstStyle/>
                    <a:p>
                      <a:pPr>
                        <a:defRPr sz="1400" b="0">
                          <a:solidFill>
                            <a:srgbClr val="232B33"/>
                          </a:solidFill>
                        </a:defRPr>
                      </a:pPr>
                      <a:r>
                        <a:t>1.42 / 1.17</a:t>
                      </a:r>
                    </a:p>
                  </a:txBody>
                  <a:tcPr marT="38100" marB="38100" marL="76200" marR="76200">
                    <a:solidFill>
                      <a:srgbClr val="EDF2F7"/>
                    </a:solidFill>
                  </a:tcPr>
                </a:tc>
                <a:tc>
                  <a:txBody>
                    <a:bodyPr wrap="square"/>
                    <a:lstStyle/>
                    <a:p>
                      <a:pPr>
                        <a:defRPr sz="1400" b="0">
                          <a:solidFill>
                            <a:srgbClr val="232B33"/>
                          </a:solidFill>
                        </a:defRPr>
                      </a:pPr>
                      <a:r>
                        <a:t>50 / 71</a:t>
                      </a:r>
                    </a:p>
                  </a:txBody>
                  <a:tcPr marT="38100" marB="38100" marL="76200" marR="76200">
                    <a:solidFill>
                      <a:srgbClr val="EDF2F7"/>
                    </a:solidFill>
                  </a:tcPr>
                </a:tc>
                <a:tc>
                  <a:txBody>
                    <a:bodyPr wrap="square"/>
                    <a:lstStyle/>
                    <a:p>
                      <a:pPr>
                        <a:defRPr sz="1400" b="0">
                          <a:solidFill>
                            <a:srgbClr val="232B33"/>
                          </a:solidFill>
                        </a:defRPr>
                      </a:pPr>
                      <a:r>
                        <a:t>0.04 s / 21.4 s</a:t>
                      </a:r>
                    </a:p>
                  </a:txBody>
                  <a:tcPr marT="38100" marB="38100" marL="76200" marR="76200">
                    <a:solidFill>
                      <a:srgbClr val="EDF2F7"/>
                    </a:solidFill>
                  </a:tcPr>
                </a:tc>
              </a:tr>
              <a:tr h="548640">
                <a:tc>
                  <a:txBody>
                    <a:bodyPr wrap="square"/>
                    <a:lstStyle/>
                    <a:p>
                      <a:pPr>
                        <a:defRPr sz="1400" b="0">
                          <a:solidFill>
                            <a:srgbClr val="232B33"/>
                          </a:solidFill>
                        </a:defRPr>
                      </a:pPr>
                      <a:r>
                        <a:t>xlarge (1000/10)</a:t>
                      </a:r>
                    </a:p>
                  </a:txBody>
                  <a:tcPr marT="38100" marB="38100" marL="76200" marR="76200">
                    <a:solidFill>
                      <a:srgbClr val="FFFFFF"/>
                    </a:solidFill>
                  </a:tcPr>
                </a:tc>
                <a:tc>
                  <a:txBody>
                    <a:bodyPr wrap="square"/>
                    <a:lstStyle/>
                    <a:p>
                      <a:pPr>
                        <a:defRPr sz="1400" b="0">
                          <a:solidFill>
                            <a:srgbClr val="232B33"/>
                          </a:solidFill>
                        </a:defRPr>
                      </a:pPr>
                      <a:r>
                        <a:t>greedy / GA</a:t>
                      </a:r>
                    </a:p>
                  </a:txBody>
                  <a:tcPr marT="38100" marB="38100" marL="76200" marR="76200">
                    <a:solidFill>
                      <a:srgbClr val="FFFFFF"/>
                    </a:solidFill>
                  </a:tcPr>
                </a:tc>
                <a:tc>
                  <a:txBody>
                    <a:bodyPr wrap="square"/>
                    <a:lstStyle/>
                    <a:p>
                      <a:pPr>
                        <a:defRPr sz="1400" b="0">
                          <a:solidFill>
                            <a:srgbClr val="232B33"/>
                          </a:solidFill>
                        </a:defRPr>
                      </a:pPr>
                      <a:r>
                        <a:t>1.41 / 1.13</a:t>
                      </a:r>
                    </a:p>
                  </a:txBody>
                  <a:tcPr marT="38100" marB="38100" marL="76200" marR="76200">
                    <a:solidFill>
                      <a:srgbClr val="FFFFFF"/>
                    </a:solidFill>
                  </a:tcPr>
                </a:tc>
                <a:tc>
                  <a:txBody>
                    <a:bodyPr wrap="square"/>
                    <a:lstStyle/>
                    <a:p>
                      <a:pPr>
                        <a:defRPr sz="1400" b="0">
                          <a:solidFill>
                            <a:srgbClr val="232B33"/>
                          </a:solidFill>
                        </a:defRPr>
                      </a:pPr>
                      <a:r>
                        <a:t>83 / 120</a:t>
                      </a:r>
                    </a:p>
                  </a:txBody>
                  <a:tcPr marT="38100" marB="38100" marL="76200" marR="76200">
                    <a:solidFill>
                      <a:srgbClr val="FFFFFF"/>
                    </a:solidFill>
                  </a:tcPr>
                </a:tc>
                <a:tc>
                  <a:txBody>
                    <a:bodyPr wrap="square"/>
                    <a:lstStyle/>
                    <a:p>
                      <a:pPr>
                        <a:defRPr sz="1400" b="0">
                          <a:solidFill>
                            <a:srgbClr val="232B33"/>
                          </a:solidFill>
                        </a:defRPr>
                      </a:pPr>
                      <a:r>
                        <a:t>0.14 s / 73.0 s</a:t>
                      </a:r>
                    </a:p>
                  </a:txBody>
                  <a:tcPr marT="38100" marB="38100" marL="76200" marR="76200">
                    <a:solidFill>
                      <a:srgbClr val="FFFFFF"/>
                    </a:solidFill>
                  </a:tcPr>
                </a:tc>
              </a:tr>
            </a:tbl>
          </a:graphicData>
        </a:graphic>
      </p:graphicFrame>
      <p:sp>
        <p:nvSpPr>
          <p:cNvPr id="8" name="Rectangle 7"/>
          <p:cNvSpPr/>
          <p:nvPr/>
        </p:nvSpPr>
        <p:spPr>
          <a:xfrm>
            <a:off x="640080" y="5440680"/>
            <a:ext cx="10881360" cy="868680"/>
          </a:xfrm>
          <a:prstGeom prst="rect">
            <a:avLst/>
          </a:prstGeom>
          <a:solidFill>
            <a:srgbClr val="ED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5440680"/>
            <a:ext cx="109728" cy="868680"/>
          </a:xfrm>
          <a:prstGeom prst="rect">
            <a:avLst/>
          </a:prstGeom>
          <a:solidFill>
            <a:srgbClr val="E0A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513832"/>
            <a:ext cx="10424160" cy="722375"/>
          </a:xfrm>
          <a:prstGeom prst="rect">
            <a:avLst/>
          </a:prstGeom>
          <a:noFill/>
        </p:spPr>
        <p:txBody>
          <a:bodyPr wrap="square" anchor="ctr">
            <a:spAutoFit/>
          </a:bodyPr>
          <a:lstStyle/>
          <a:p>
            <a:pPr>
              <a:defRPr sz="1500" b="0">
                <a:solidFill>
                  <a:srgbClr val="232B33"/>
                </a:solidFill>
              </a:defRPr>
            </a:pPr>
            <a:r>
              <a:t>Take-away:  accuracy is not free in wall time, and neither is the makespan; the gap widens with scale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64592" cy="59893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11338560" cy="640080"/>
          </a:xfrm>
          <a:prstGeom prst="rect">
            <a:avLst/>
          </a:prstGeom>
          <a:noFill/>
        </p:spPr>
        <p:txBody>
          <a:bodyPr wrap="none" anchor="ctr">
            <a:spAutoFit/>
          </a:bodyPr>
          <a:lstStyle/>
          <a:p>
            <a:pPr>
              <a:defRPr sz="2700" b="1">
                <a:solidFill>
                  <a:srgbClr val="FFFFFF"/>
                </a:solidFill>
              </a:defRPr>
            </a:pPr>
            <a:r>
              <a:t>Structural scale: generation to a million vertices</a:t>
            </a:r>
          </a:p>
        </p:txBody>
      </p:sp>
      <p:sp>
        <p:nvSpPr>
          <p:cNvPr id="5" name="TextBox 4"/>
          <p:cNvSpPr txBox="1"/>
          <p:nvPr/>
        </p:nvSpPr>
        <p:spPr>
          <a:xfrm>
            <a:off x="457200" y="6473952"/>
            <a:ext cx="10515600" cy="320040"/>
          </a:xfrm>
          <a:prstGeom prst="rect">
            <a:avLst/>
          </a:prstGeom>
          <a:noFill/>
        </p:spPr>
        <p:txBody>
          <a:bodyPr wrap="none">
            <a:spAutoFit/>
          </a:bodyPr>
          <a:lstStyle/>
          <a:p>
            <a:pPr>
              <a:defRPr sz="1000">
                <a:solidFill>
                  <a:srgbClr val="5A646E"/>
                </a:solidFill>
              </a:defRPr>
            </a:pPr>
            <a:r>
              <a:t>4  |  Completed work &amp; preliminary results</a:t>
            </a:r>
          </a:p>
        </p:txBody>
      </p:sp>
      <p:sp>
        <p:nvSpPr>
          <p:cNvPr id="6" name="TextBox 5"/>
          <p:cNvSpPr txBox="1"/>
          <p:nvPr/>
        </p:nvSpPr>
        <p:spPr>
          <a:xfrm>
            <a:off x="11247120" y="6473952"/>
            <a:ext cx="731520" cy="320040"/>
          </a:xfrm>
          <a:prstGeom prst="rect">
            <a:avLst/>
          </a:prstGeom>
          <a:noFill/>
        </p:spPr>
        <p:txBody>
          <a:bodyPr wrap="none">
            <a:spAutoFit/>
          </a:bodyPr>
          <a:lstStyle/>
          <a:p>
            <a:pPr algn="r">
              <a:defRPr sz="1000">
                <a:solidFill>
                  <a:srgbClr val="5A646E"/>
                </a:solidFill>
              </a:defRPr>
            </a:pPr>
            <a:r>
              <a:t>29</a:t>
            </a:r>
          </a:p>
        </p:txBody>
      </p:sp>
      <p:sp>
        <p:nvSpPr>
          <p:cNvPr id="7" name="TextBox 6"/>
          <p:cNvSpPr txBox="1"/>
          <p:nvPr/>
        </p:nvSpPr>
        <p:spPr>
          <a:xfrm>
            <a:off x="594360" y="1143000"/>
            <a:ext cx="6309360" cy="5120640"/>
          </a:xfrm>
          <a:prstGeom prst="rect">
            <a:avLst/>
          </a:prstGeom>
          <a:noFill/>
        </p:spPr>
        <p:txBody>
          <a:bodyPr wrap="square">
            <a:spAutoFit/>
          </a:bodyPr>
          <a:lstStyle/>
          <a:p>
            <a:pPr>
              <a:spcAft>
                <a:spcPts val="800"/>
              </a:spcAft>
              <a:defRPr sz="1600">
                <a:solidFill>
                  <a:srgbClr val="232B33"/>
                </a:solidFill>
              </a:defRPr>
            </a:pPr>
            <a:r>
              <a:t>The DAG generator makes 10^6 tasks, about 3 million edges, in 3.1 s; depth grows like log n</a:t>
            </a:r>
          </a:p>
          <a:p>
            <a:pPr>
              <a:spcAft>
                <a:spcPts val="800"/>
              </a:spcAft>
              <a:defRPr sz="1600">
                <a:solidFill>
                  <a:srgbClr val="232B33"/>
                </a:solidFill>
              </a:defRPr>
            </a:pPr>
            <a:r>
              <a:t>Resource graphs: 10^6 nodes, about 2.4 million links, in 7.3 s; average degree around 5</a:t>
            </a:r>
          </a:p>
          <a:p>
            <a:pPr>
              <a:spcAft>
                <a:spcPts val="800"/>
              </a:spcAft>
              <a:defRPr sz="1600">
                <a:solidFill>
                  <a:srgbClr val="232B33"/>
                </a:solidFill>
              </a:defRPr>
            </a:pPr>
            <a:r>
              <a:t>These are structural instances; schedulable dense instances stop where the constraints do</a:t>
            </a:r>
          </a:p>
          <a:p>
            <a:pPr lvl="1">
              <a:spcAft>
                <a:spcPts val="800"/>
              </a:spcAft>
              <a:defRPr sz="1400">
                <a:solidFill>
                  <a:srgbClr val="5A646E"/>
                </a:solidFill>
              </a:defRPr>
            </a:pPr>
            <a:r>
              <a:t>  MILP near 800 assignment variables; the LP near 10^5 rows at n = 1000</a:t>
            </a:r>
          </a:p>
        </p:txBody>
      </p:sp>
      <p:pic>
        <p:nvPicPr>
          <p:cNvPr id="8" name="Picture 7" descr="resource_graphs.png"/>
          <p:cNvPicPr>
            <a:picLocks noChangeAspect="1"/>
          </p:cNvPicPr>
          <p:nvPr/>
        </p:nvPicPr>
        <p:blipFill>
          <a:blip r:embed="rId3"/>
          <a:stretch>
            <a:fillRect/>
          </a:stretch>
        </p:blipFill>
        <p:spPr>
          <a:xfrm>
            <a:off x="6949440" y="1234440"/>
            <a:ext cx="4937760" cy="2698608"/>
          </a:xfrm>
          <a:prstGeom prst="rect">
            <a:avLst/>
          </a:prstGeom>
        </p:spPr>
      </p:pic>
      <p:sp>
        <p:nvSpPr>
          <p:cNvPr id="9" name="TextBox 8"/>
          <p:cNvSpPr txBox="1"/>
          <p:nvPr/>
        </p:nvSpPr>
        <p:spPr>
          <a:xfrm>
            <a:off x="6949440" y="5989320"/>
            <a:ext cx="4937760" cy="548640"/>
          </a:xfrm>
          <a:prstGeom prst="rect">
            <a:avLst/>
          </a:prstGeom>
          <a:noFill/>
        </p:spPr>
        <p:txBody>
          <a:bodyPr wrap="none">
            <a:spAutoFit/>
          </a:bodyPr>
          <a:lstStyle/>
          <a:p>
            <a:pPr algn="ctr">
              <a:defRPr sz="1200" i="1">
                <a:solidFill>
                  <a:srgbClr val="5A646E"/>
                </a:solidFill>
              </a:defRPr>
            </a:pPr>
            <a:r>
              <a:t>Generated federated resource graphs (up to 10^6 nodes)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64592" cy="59893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11338560" cy="640080"/>
          </a:xfrm>
          <a:prstGeom prst="rect">
            <a:avLst/>
          </a:prstGeom>
          <a:noFill/>
        </p:spPr>
        <p:txBody>
          <a:bodyPr wrap="none" anchor="ctr">
            <a:spAutoFit/>
          </a:bodyPr>
          <a:lstStyle/>
          <a:p>
            <a:pPr>
              <a:defRPr sz="2700" b="1">
                <a:solidFill>
                  <a:srgbClr val="FFFFFF"/>
                </a:solidFill>
              </a:defRPr>
            </a:pPr>
            <a:r>
              <a:t>Honest limits, and what they leave open</a:t>
            </a:r>
          </a:p>
        </p:txBody>
      </p:sp>
      <p:sp>
        <p:nvSpPr>
          <p:cNvPr id="5" name="TextBox 4"/>
          <p:cNvSpPr txBox="1"/>
          <p:nvPr/>
        </p:nvSpPr>
        <p:spPr>
          <a:xfrm>
            <a:off x="457200" y="6473952"/>
            <a:ext cx="10515600" cy="320040"/>
          </a:xfrm>
          <a:prstGeom prst="rect">
            <a:avLst/>
          </a:prstGeom>
          <a:noFill/>
        </p:spPr>
        <p:txBody>
          <a:bodyPr wrap="none">
            <a:spAutoFit/>
          </a:bodyPr>
          <a:lstStyle/>
          <a:p>
            <a:pPr>
              <a:defRPr sz="1000">
                <a:solidFill>
                  <a:srgbClr val="5A646E"/>
                </a:solidFill>
              </a:defRPr>
            </a:pPr>
            <a:r>
              <a:t>4  |  Completed work &amp; preliminary results</a:t>
            </a:r>
          </a:p>
        </p:txBody>
      </p:sp>
      <p:sp>
        <p:nvSpPr>
          <p:cNvPr id="6" name="TextBox 5"/>
          <p:cNvSpPr txBox="1"/>
          <p:nvPr/>
        </p:nvSpPr>
        <p:spPr>
          <a:xfrm>
            <a:off x="11247120" y="6473952"/>
            <a:ext cx="731520" cy="320040"/>
          </a:xfrm>
          <a:prstGeom prst="rect">
            <a:avLst/>
          </a:prstGeom>
          <a:noFill/>
        </p:spPr>
        <p:txBody>
          <a:bodyPr wrap="none">
            <a:spAutoFit/>
          </a:bodyPr>
          <a:lstStyle/>
          <a:p>
            <a:pPr algn="r">
              <a:defRPr sz="1000">
                <a:solidFill>
                  <a:srgbClr val="5A646E"/>
                </a:solidFill>
              </a:defRPr>
            </a:pPr>
            <a:r>
              <a:t>30</a:t>
            </a:r>
          </a:p>
        </p:txBody>
      </p:sp>
      <p:sp>
        <p:nvSpPr>
          <p:cNvPr id="7" name="TextBox 6"/>
          <p:cNvSpPr txBox="1"/>
          <p:nvPr/>
        </p:nvSpPr>
        <p:spPr>
          <a:xfrm>
            <a:off x="594360" y="1143000"/>
            <a:ext cx="10972800" cy="5120640"/>
          </a:xfrm>
          <a:prstGeom prst="rect">
            <a:avLst/>
          </a:prstGeom>
          <a:noFill/>
        </p:spPr>
        <p:txBody>
          <a:bodyPr wrap="square">
            <a:spAutoFit/>
          </a:bodyPr>
          <a:lstStyle/>
          <a:p>
            <a:pPr>
              <a:spcAft>
                <a:spcPts val="800"/>
              </a:spcAft>
              <a:defRPr sz="1600">
                <a:solidFill>
                  <a:srgbClr val="232B33"/>
                </a:solidFill>
              </a:defRPr>
            </a:pPr>
            <a:r>
              <a:t>The MILP is capped at about 800 assignment variables; that is a deliberate boundary, not an oversight</a:t>
            </a:r>
          </a:p>
          <a:p>
            <a:pPr>
              <a:spcAft>
                <a:spcPts val="800"/>
              </a:spcAft>
              <a:defRPr sz="1600">
                <a:solidFill>
                  <a:srgbClr val="232B33"/>
                </a:solidFill>
              </a:defRPr>
            </a:pPr>
            <a:r>
              <a:t>The LP reaches ~10^5 rows at n = 1000, and the GA runs on one fixed budget</a:t>
            </a:r>
          </a:p>
          <a:p>
            <a:pPr>
              <a:spcAft>
                <a:spcPts val="800"/>
              </a:spcAft>
              <a:defRPr sz="1600">
                <a:solidFill>
                  <a:srgbClr val="232B33"/>
                </a:solidFill>
              </a:defRPr>
            </a:pPr>
            <a:r>
              <a:t>The failure model is retry-once-in-place: no replication, checkpointing, or migration yet</a:t>
            </a:r>
          </a:p>
          <a:p>
            <a:pPr>
              <a:spcAft>
                <a:spcPts val="800"/>
              </a:spcAft>
              <a:defRPr sz="1600">
                <a:solidFill>
                  <a:srgbClr val="232B33"/>
                </a:solidFill>
              </a:defRPr>
            </a:pPr>
            <a:r>
              <a:t>Dense schedulable instances stop near 10^4 tasks; the 10^6 experiments are structural</a:t>
            </a:r>
          </a:p>
          <a:p>
            <a:pPr>
              <a:spcAft>
                <a:spcPts val="800"/>
              </a:spcAft>
              <a:defRPr sz="1600">
                <a:solidFill>
                  <a:srgbClr val="232B33"/>
                </a:solidFill>
              </a:defRPr>
            </a:pPr>
          </a:p>
          <a:p>
            <a:pPr>
              <a:spcAft>
                <a:spcPts val="800"/>
              </a:spcAft>
              <a:defRPr sz="1600">
                <a:solidFill>
                  <a:srgbClr val="232B33"/>
                </a:solidFill>
              </a:defRPr>
            </a:pPr>
            <a:r>
              <a:t>What is open: a whole resource fails mid-workflow, and the schedule was decided up front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46120"/>
            <a:ext cx="12191695" cy="82296"/>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332720" cy="548640"/>
          </a:xfrm>
          <a:prstGeom prst="rect">
            <a:avLst/>
          </a:prstGeom>
          <a:noFill/>
        </p:spPr>
        <p:txBody>
          <a:bodyPr wrap="none">
            <a:spAutoFit/>
          </a:bodyPr>
          <a:lstStyle/>
          <a:p>
            <a:pPr>
              <a:defRPr sz="2000" b="1">
                <a:solidFill>
                  <a:srgbClr val="C75B12"/>
                </a:solidFill>
              </a:defRPr>
            </a:pPr>
            <a:r>
              <a:t>5  |  PROPOSED RESEARCH</a:t>
            </a:r>
          </a:p>
        </p:txBody>
      </p:sp>
      <p:sp>
        <p:nvSpPr>
          <p:cNvPr id="5" name="TextBox 4"/>
          <p:cNvSpPr txBox="1"/>
          <p:nvPr/>
        </p:nvSpPr>
        <p:spPr>
          <a:xfrm>
            <a:off x="914400" y="2468880"/>
            <a:ext cx="10332720" cy="1463040"/>
          </a:xfrm>
          <a:prstGeom prst="rect">
            <a:avLst/>
          </a:prstGeom>
          <a:noFill/>
        </p:spPr>
        <p:txBody>
          <a:bodyPr wrap="square">
            <a:spAutoFit/>
          </a:bodyPr>
          <a:lstStyle/>
          <a:p>
            <a:pPr>
              <a:defRPr sz="4000" b="1">
                <a:solidFill>
                  <a:srgbClr val="FFFFFF"/>
                </a:solidFill>
              </a:defRPr>
            </a:pPr>
            <a:r>
              <a:t>Dynamic Partial Repartitioning</a:t>
            </a:r>
          </a:p>
        </p:txBody>
      </p:sp>
      <p:sp>
        <p:nvSpPr>
          <p:cNvPr id="6" name="TextBox 5"/>
          <p:cNvSpPr txBox="1"/>
          <p:nvPr/>
        </p:nvSpPr>
        <p:spPr>
          <a:xfrm>
            <a:off x="914400" y="3749039"/>
            <a:ext cx="10332720" cy="1463040"/>
          </a:xfrm>
          <a:prstGeom prst="rect">
            <a:avLst/>
          </a:prstGeom>
          <a:noFill/>
        </p:spPr>
        <p:txBody>
          <a:bodyPr wrap="square">
            <a:spAutoFit/>
          </a:bodyPr>
          <a:lstStyle/>
          <a:p>
            <a:pPr>
              <a:defRPr sz="1900">
                <a:solidFill>
                  <a:srgbClr val="EDF2F7"/>
                </a:solidFill>
              </a:defRPr>
            </a:pPr>
            <a:r>
              <a:t>Repair the smallest affected region and leave everything else alone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64592" cy="5989320"/>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11338560" cy="640080"/>
          </a:xfrm>
          <a:prstGeom prst="rect">
            <a:avLst/>
          </a:prstGeom>
          <a:noFill/>
        </p:spPr>
        <p:txBody>
          <a:bodyPr wrap="none" anchor="ctr">
            <a:spAutoFit/>
          </a:bodyPr>
          <a:lstStyle/>
          <a:p>
            <a:pPr>
              <a:defRPr sz="2700" b="1">
                <a:solidFill>
                  <a:srgbClr val="FFFFFF"/>
                </a:solidFill>
              </a:defRPr>
            </a:pPr>
            <a:r>
              <a:t>The proposal, and the questions it raises</a:t>
            </a:r>
          </a:p>
        </p:txBody>
      </p:sp>
      <p:sp>
        <p:nvSpPr>
          <p:cNvPr id="5" name="TextBox 4"/>
          <p:cNvSpPr txBox="1"/>
          <p:nvPr/>
        </p:nvSpPr>
        <p:spPr>
          <a:xfrm>
            <a:off x="457200" y="6473952"/>
            <a:ext cx="10515600" cy="320040"/>
          </a:xfrm>
          <a:prstGeom prst="rect">
            <a:avLst/>
          </a:prstGeom>
          <a:noFill/>
        </p:spPr>
        <p:txBody>
          <a:bodyPr wrap="none">
            <a:spAutoFit/>
          </a:bodyPr>
          <a:lstStyle/>
          <a:p>
            <a:pPr>
              <a:defRPr sz="1000">
                <a:solidFill>
                  <a:srgbClr val="5A646E"/>
                </a:solidFill>
              </a:defRPr>
            </a:pPr>
            <a:r>
              <a:t>5  |  Proposed research</a:t>
            </a:r>
          </a:p>
        </p:txBody>
      </p:sp>
      <p:sp>
        <p:nvSpPr>
          <p:cNvPr id="6" name="TextBox 5"/>
          <p:cNvSpPr txBox="1"/>
          <p:nvPr/>
        </p:nvSpPr>
        <p:spPr>
          <a:xfrm>
            <a:off x="11247120" y="6473952"/>
            <a:ext cx="731520" cy="320040"/>
          </a:xfrm>
          <a:prstGeom prst="rect">
            <a:avLst/>
          </a:prstGeom>
          <a:noFill/>
        </p:spPr>
        <p:txBody>
          <a:bodyPr wrap="none">
            <a:spAutoFit/>
          </a:bodyPr>
          <a:lstStyle/>
          <a:p>
            <a:pPr algn="r">
              <a:defRPr sz="1000">
                <a:solidFill>
                  <a:srgbClr val="5A646E"/>
                </a:solidFill>
              </a:defRPr>
            </a:pPr>
            <a:r>
              <a:t>32</a:t>
            </a:r>
          </a:p>
        </p:txBody>
      </p:sp>
      <p:sp>
        <p:nvSpPr>
          <p:cNvPr id="7" name="Rectangle 6"/>
          <p:cNvSpPr/>
          <p:nvPr/>
        </p:nvSpPr>
        <p:spPr>
          <a:xfrm>
            <a:off x="731520" y="1188720"/>
            <a:ext cx="10698480" cy="1005840"/>
          </a:xfrm>
          <a:prstGeom prst="rect">
            <a:avLst/>
          </a:prstGeom>
          <a:solidFill>
            <a:srgbClr val="ED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188720"/>
            <a:ext cx="109728" cy="1005840"/>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261872"/>
            <a:ext cx="10241280" cy="859536"/>
          </a:xfrm>
          <a:prstGeom prst="rect">
            <a:avLst/>
          </a:prstGeom>
          <a:noFill/>
        </p:spPr>
        <p:txBody>
          <a:bodyPr wrap="square" anchor="ctr">
            <a:spAutoFit/>
          </a:bodyPr>
          <a:lstStyle/>
          <a:p>
            <a:pPr>
              <a:defRPr sz="1500" b="1">
                <a:solidFill>
                  <a:srgbClr val="232B33"/>
                </a:solidFill>
              </a:defRPr>
            </a:pPr>
            <a:r>
              <a:t>How can we quickly repartition and reschedule only the affected part of a DAG workflow after a fog resource fails, while reducing recovery time, communication cost, task movement, and completion time?</a:t>
            </a:r>
          </a:p>
        </p:txBody>
      </p:sp>
      <p:sp>
        <p:nvSpPr>
          <p:cNvPr id="10" name="TextBox 9"/>
          <p:cNvSpPr txBox="1"/>
          <p:nvPr/>
        </p:nvSpPr>
        <p:spPr>
          <a:xfrm>
            <a:off x="594360" y="2651760"/>
            <a:ext cx="10972800" cy="5120640"/>
          </a:xfrm>
          <a:prstGeom prst="rect">
            <a:avLst/>
          </a:prstGeom>
          <a:noFill/>
        </p:spPr>
        <p:txBody>
          <a:bodyPr wrap="square">
            <a:spAutoFit/>
          </a:bodyPr>
          <a:lstStyle/>
          <a:p>
            <a:pPr>
              <a:spcAft>
                <a:spcPts val="800"/>
              </a:spcAft>
              <a:defRPr sz="1700">
                <a:solidFill>
                  <a:srgbClr val="232B33"/>
                </a:solidFill>
              </a:defRPr>
            </a:pPr>
            <a:r>
              <a:t>RQ1, the boundary: what is the smallest DAG region that must be repartitioned?</a:t>
            </a:r>
          </a:p>
          <a:p>
            <a:pPr>
              <a:spcAft>
                <a:spcPts val="800"/>
              </a:spcAft>
              <a:defRPr sz="1700">
                <a:solidFill>
                  <a:srgbClr val="232B33"/>
                </a:solidFill>
              </a:defRPr>
            </a:pPr>
            <a:r>
              <a:t>RQ2, the repair: how do we repartition that region onto surviving nodes at minimum recovery cost and still meet the deadline?</a:t>
            </a:r>
          </a:p>
          <a:p>
            <a:pPr>
              <a:spcAft>
                <a:spcPts val="800"/>
              </a:spcAft>
              <a:defRPr sz="1700">
                <a:solidFill>
                  <a:srgbClr val="232B33"/>
                </a:solidFill>
              </a:defRPr>
            </a:pPr>
            <a:r>
              <a:t>RQ3, the paths: how do we update communication paths incrementally instead of recomputing them?</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64592" cy="5989320"/>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11338560" cy="640080"/>
          </a:xfrm>
          <a:prstGeom prst="rect">
            <a:avLst/>
          </a:prstGeom>
          <a:noFill/>
        </p:spPr>
        <p:txBody>
          <a:bodyPr wrap="none" anchor="ctr">
            <a:spAutoFit/>
          </a:bodyPr>
          <a:lstStyle/>
          <a:p>
            <a:pPr>
              <a:defRPr sz="2700" b="1">
                <a:solidFill>
                  <a:srgbClr val="FFFFFF"/>
                </a:solidFill>
              </a:defRPr>
            </a:pPr>
            <a:r>
              <a:t>A resource fails mid-workflow</a:t>
            </a:r>
          </a:p>
        </p:txBody>
      </p:sp>
      <p:sp>
        <p:nvSpPr>
          <p:cNvPr id="5" name="TextBox 4"/>
          <p:cNvSpPr txBox="1"/>
          <p:nvPr/>
        </p:nvSpPr>
        <p:spPr>
          <a:xfrm>
            <a:off x="457200" y="6473952"/>
            <a:ext cx="10515600" cy="320040"/>
          </a:xfrm>
          <a:prstGeom prst="rect">
            <a:avLst/>
          </a:prstGeom>
          <a:noFill/>
        </p:spPr>
        <p:txBody>
          <a:bodyPr wrap="none">
            <a:spAutoFit/>
          </a:bodyPr>
          <a:lstStyle/>
          <a:p>
            <a:pPr>
              <a:defRPr sz="1000">
                <a:solidFill>
                  <a:srgbClr val="5A646E"/>
                </a:solidFill>
              </a:defRPr>
            </a:pPr>
            <a:r>
              <a:t>5  |  Proposed research</a:t>
            </a:r>
          </a:p>
        </p:txBody>
      </p:sp>
      <p:sp>
        <p:nvSpPr>
          <p:cNvPr id="6" name="TextBox 5"/>
          <p:cNvSpPr txBox="1"/>
          <p:nvPr/>
        </p:nvSpPr>
        <p:spPr>
          <a:xfrm>
            <a:off x="11247120" y="6473952"/>
            <a:ext cx="731520" cy="320040"/>
          </a:xfrm>
          <a:prstGeom prst="rect">
            <a:avLst/>
          </a:prstGeom>
          <a:noFill/>
        </p:spPr>
        <p:txBody>
          <a:bodyPr wrap="none">
            <a:spAutoFit/>
          </a:bodyPr>
          <a:lstStyle/>
          <a:p>
            <a:pPr algn="r">
              <a:defRPr sz="1000">
                <a:solidFill>
                  <a:srgbClr val="5A646E"/>
                </a:solidFill>
              </a:defRPr>
            </a:pPr>
            <a:r>
              <a:t>33</a:t>
            </a:r>
          </a:p>
        </p:txBody>
      </p:sp>
      <p:sp>
        <p:nvSpPr>
          <p:cNvPr id="7" name="Rounded Rectangle 6"/>
          <p:cNvSpPr/>
          <p:nvPr/>
        </p:nvSpPr>
        <p:spPr>
          <a:xfrm>
            <a:off x="822960" y="1234440"/>
            <a:ext cx="3931920" cy="457200"/>
          </a:xfrm>
          <a:prstGeom prst="roundRect">
            <a:avLst/>
          </a:prstGeom>
          <a:solidFill>
            <a:srgbClr val="0B2A4A"/>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before</a:t>
            </a:r>
          </a:p>
        </p:txBody>
      </p:sp>
      <p:sp>
        <p:nvSpPr>
          <p:cNvPr id="8" name="Rounded Rectangle 7"/>
          <p:cNvSpPr/>
          <p:nvPr/>
        </p:nvSpPr>
        <p:spPr>
          <a:xfrm>
            <a:off x="914400" y="1965960"/>
            <a:ext cx="777240" cy="548640"/>
          </a:xfrm>
          <a:prstGeom prst="roundRect">
            <a:avLst/>
          </a:prstGeom>
          <a:solidFill>
            <a:srgbClr val="EDF2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B2A4A"/>
                </a:solidFill>
              </a:defRPr>
            </a:pPr>
            <a:r>
              <a:t>R1</a:t>
            </a:r>
          </a:p>
        </p:txBody>
      </p:sp>
      <p:sp>
        <p:nvSpPr>
          <p:cNvPr id="9" name="Rounded Rectangle 8"/>
          <p:cNvSpPr/>
          <p:nvPr/>
        </p:nvSpPr>
        <p:spPr>
          <a:xfrm>
            <a:off x="2423160" y="1783080"/>
            <a:ext cx="777240" cy="548640"/>
          </a:xfrm>
          <a:prstGeom prst="roundRect">
            <a:avLst/>
          </a:prstGeom>
          <a:solidFill>
            <a:srgbClr val="EDF2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B2A4A"/>
                </a:solidFill>
              </a:defRPr>
            </a:pPr>
            <a:r>
              <a:t>R2</a:t>
            </a:r>
          </a:p>
        </p:txBody>
      </p:sp>
      <p:sp>
        <p:nvSpPr>
          <p:cNvPr id="10" name="Rounded Rectangle 9"/>
          <p:cNvSpPr/>
          <p:nvPr/>
        </p:nvSpPr>
        <p:spPr>
          <a:xfrm>
            <a:off x="2423160" y="3063240"/>
            <a:ext cx="777240" cy="548640"/>
          </a:xfrm>
          <a:prstGeom prst="roundRect">
            <a:avLst/>
          </a:prstGeom>
          <a:solidFill>
            <a:srgbClr val="EDF2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B2A4A"/>
                </a:solidFill>
              </a:defRPr>
            </a:pPr>
            <a:r>
              <a:t>R3</a:t>
            </a:r>
          </a:p>
        </p:txBody>
      </p:sp>
      <p:sp>
        <p:nvSpPr>
          <p:cNvPr id="11" name="Rounded Rectangle 10"/>
          <p:cNvSpPr/>
          <p:nvPr/>
        </p:nvSpPr>
        <p:spPr>
          <a:xfrm>
            <a:off x="3977640" y="2377440"/>
            <a:ext cx="777240" cy="548640"/>
          </a:xfrm>
          <a:prstGeom prst="roundRect">
            <a:avLst/>
          </a:prstGeom>
          <a:solidFill>
            <a:srgbClr val="EDF2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B2A4A"/>
                </a:solidFill>
              </a:defRPr>
            </a:pPr>
            <a:r>
              <a:t>R4</a:t>
            </a:r>
          </a:p>
        </p:txBody>
      </p:sp>
      <p:cxnSp>
        <p:nvCxnSpPr>
          <p:cNvPr id="12" name="Connector 11"/>
          <p:cNvCxnSpPr/>
          <p:nvPr/>
        </p:nvCxnSpPr>
        <p:spPr>
          <a:xfrm flipV="1">
            <a:off x="1691640" y="2057400"/>
            <a:ext cx="731520" cy="182880"/>
          </a:xfrm>
          <a:prstGeom prst="bentConnector3">
            <a:avLst/>
          </a:prstGeom>
          <a:ln w="19050">
            <a:solidFill>
              <a:srgbClr val="5A646E"/>
            </a:solidFill>
            <a:headEnd type="none"/>
            <a:tailEnd type="arrow"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691640" y="2240280"/>
            <a:ext cx="731520" cy="1097280"/>
          </a:xfrm>
          <a:prstGeom prst="bentConnector3">
            <a:avLst/>
          </a:prstGeom>
          <a:ln w="19050">
            <a:solidFill>
              <a:srgbClr val="5A646E"/>
            </a:solidFill>
            <a:headEnd type="none"/>
            <a:tailEnd type="arrow"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3200400" y="2057400"/>
            <a:ext cx="777240" cy="594360"/>
          </a:xfrm>
          <a:prstGeom prst="bentConnector3">
            <a:avLst/>
          </a:prstGeom>
          <a:ln w="19050">
            <a:solidFill>
              <a:srgbClr val="5A646E"/>
            </a:solidFill>
            <a:headEnd type="none"/>
            <a:tailEnd type="arrow"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3200400" y="2834640"/>
            <a:ext cx="777240" cy="502920"/>
          </a:xfrm>
          <a:prstGeom prst="bentConnector3">
            <a:avLst/>
          </a:prstGeom>
          <a:ln w="19050">
            <a:solidFill>
              <a:srgbClr val="5A646E"/>
            </a:solidFill>
            <a:headEnd type="none"/>
            <a:tailEnd type="arrow"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315200" y="1234440"/>
            <a:ext cx="3931920" cy="457200"/>
          </a:xfrm>
          <a:prstGeom prst="roundRect">
            <a:avLst/>
          </a:prstGeom>
          <a:solidFill>
            <a:srgbClr val="0B2A4A"/>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after R2 fails</a:t>
            </a:r>
          </a:p>
        </p:txBody>
      </p:sp>
      <p:sp>
        <p:nvSpPr>
          <p:cNvPr id="17" name="Rounded Rectangle 16"/>
          <p:cNvSpPr/>
          <p:nvPr/>
        </p:nvSpPr>
        <p:spPr>
          <a:xfrm>
            <a:off x="7406640" y="1965960"/>
            <a:ext cx="777240" cy="548640"/>
          </a:xfrm>
          <a:prstGeom prst="roundRect">
            <a:avLst/>
          </a:prstGeom>
          <a:solidFill>
            <a:srgbClr val="EDF2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B2A4A"/>
                </a:solidFill>
              </a:defRPr>
            </a:pPr>
            <a:r>
              <a:t>R1</a:t>
            </a:r>
          </a:p>
        </p:txBody>
      </p:sp>
      <p:sp>
        <p:nvSpPr>
          <p:cNvPr id="18" name="Rounded Rectangle 17"/>
          <p:cNvSpPr/>
          <p:nvPr/>
        </p:nvSpPr>
        <p:spPr>
          <a:xfrm>
            <a:off x="8915400" y="1783080"/>
            <a:ext cx="777240" cy="548640"/>
          </a:xfrm>
          <a:prstGeom prst="roundRect">
            <a:avLst/>
          </a:prstGeom>
          <a:solidFill>
            <a:srgbClr val="5A646E"/>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defRPr>
            </a:pPr>
            <a:r>
              <a:t>R2</a:t>
            </a:r>
          </a:p>
        </p:txBody>
      </p:sp>
      <p:sp>
        <p:nvSpPr>
          <p:cNvPr id="19" name="Rounded Rectangle 18"/>
          <p:cNvSpPr/>
          <p:nvPr/>
        </p:nvSpPr>
        <p:spPr>
          <a:xfrm>
            <a:off x="8915400" y="3063240"/>
            <a:ext cx="777240" cy="548640"/>
          </a:xfrm>
          <a:prstGeom prst="roundRect">
            <a:avLst/>
          </a:prstGeom>
          <a:solidFill>
            <a:srgbClr val="EDF2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B2A4A"/>
                </a:solidFill>
              </a:defRPr>
            </a:pPr>
            <a:r>
              <a:t>R3</a:t>
            </a:r>
          </a:p>
        </p:txBody>
      </p:sp>
      <p:sp>
        <p:nvSpPr>
          <p:cNvPr id="20" name="Rounded Rectangle 19"/>
          <p:cNvSpPr/>
          <p:nvPr/>
        </p:nvSpPr>
        <p:spPr>
          <a:xfrm>
            <a:off x="10469880" y="2377440"/>
            <a:ext cx="777240" cy="548640"/>
          </a:xfrm>
          <a:prstGeom prst="roundRect">
            <a:avLst/>
          </a:prstGeom>
          <a:solidFill>
            <a:srgbClr val="EDF2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B2A4A"/>
                </a:solidFill>
              </a:defRPr>
            </a:pPr>
            <a:r>
              <a:t>R4</a:t>
            </a:r>
          </a:p>
        </p:txBody>
      </p:sp>
      <p:cxnSp>
        <p:nvCxnSpPr>
          <p:cNvPr id="21" name="Connector 20"/>
          <p:cNvCxnSpPr/>
          <p:nvPr/>
        </p:nvCxnSpPr>
        <p:spPr>
          <a:xfrm flipV="1">
            <a:off x="8183879" y="2057400"/>
            <a:ext cx="731521" cy="182880"/>
          </a:xfrm>
          <a:prstGeom prst="bentConnector3">
            <a:avLst/>
          </a:prstGeom>
          <a:ln w="19050">
            <a:solidFill>
              <a:srgbClr val="5A646E"/>
            </a:solidFill>
            <a:headEnd type="none"/>
            <a:tailEnd type="arrow"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183879" y="2240280"/>
            <a:ext cx="731521" cy="1097280"/>
          </a:xfrm>
          <a:prstGeom prst="bentConnector3">
            <a:avLst/>
          </a:prstGeom>
          <a:ln w="19050">
            <a:solidFill>
              <a:srgbClr val="5A646E"/>
            </a:solidFill>
            <a:headEnd type="none"/>
            <a:tailEnd type="arrow"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692640" y="2057400"/>
            <a:ext cx="777240" cy="594360"/>
          </a:xfrm>
          <a:prstGeom prst="bentConnector3">
            <a:avLst/>
          </a:prstGeom>
          <a:ln w="19050">
            <a:solidFill>
              <a:srgbClr val="5A646E"/>
            </a:solidFill>
            <a:headEnd type="none"/>
            <a:tailEnd type="arrow"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9692640" y="2834640"/>
            <a:ext cx="777240" cy="502920"/>
          </a:xfrm>
          <a:prstGeom prst="bentConnector3">
            <a:avLst/>
          </a:prstGeom>
          <a:ln w="19050">
            <a:solidFill>
              <a:srgbClr val="5A646E"/>
            </a:solidFill>
            <a:headEnd type="none"/>
            <a:tailEnd type="arrow"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915400" y="1783080"/>
            <a:ext cx="777240" cy="777240"/>
          </a:xfrm>
          <a:prstGeom prst="line">
            <a:avLst/>
          </a:prstGeom>
          <a:ln w="38100">
            <a:solidFill>
              <a:srgbClr val="C75B12"/>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8915400" y="1783080"/>
            <a:ext cx="777240" cy="777240"/>
          </a:xfrm>
          <a:prstGeom prst="line">
            <a:avLst/>
          </a:prstGeom>
          <a:ln w="38100">
            <a:solidFill>
              <a:srgbClr val="C75B12"/>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772400" y="3977639"/>
            <a:ext cx="3017520" cy="502920"/>
          </a:xfrm>
          <a:prstGeom prst="roundRect">
            <a:avLst/>
          </a:prstGeom>
          <a:solidFill>
            <a:srgbClr val="C75B12"/>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defRPr>
            </a:pPr>
            <a:r>
              <a:t>stranded tasks</a:t>
            </a:r>
          </a:p>
        </p:txBody>
      </p:sp>
      <p:cxnSp>
        <p:nvCxnSpPr>
          <p:cNvPr id="28" name="Connector 27"/>
          <p:cNvCxnSpPr/>
          <p:nvPr/>
        </p:nvCxnSpPr>
        <p:spPr>
          <a:xfrm flipV="1">
            <a:off x="9281160" y="2377440"/>
            <a:ext cx="0" cy="1600199"/>
          </a:xfrm>
          <a:prstGeom prst="bentConnector3">
            <a:avLst/>
          </a:prstGeom>
          <a:ln w="22225">
            <a:solidFill>
              <a:srgbClr val="C75B12"/>
            </a:solidFill>
            <a:prstDash val="sysDash"/>
            <a:headEnd type="none"/>
            <a:tailEnd type="arrow"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94360" y="4846320"/>
            <a:ext cx="10972800" cy="5120640"/>
          </a:xfrm>
          <a:prstGeom prst="rect">
            <a:avLst/>
          </a:prstGeom>
          <a:noFill/>
        </p:spPr>
        <p:txBody>
          <a:bodyPr wrap="square">
            <a:spAutoFit/>
          </a:bodyPr>
          <a:lstStyle/>
          <a:p>
            <a:pPr>
              <a:spcAft>
                <a:spcPts val="800"/>
              </a:spcAft>
              <a:defRPr sz="1600">
                <a:solidFill>
                  <a:srgbClr val="232B33"/>
                </a:solidFill>
              </a:defRPr>
            </a:pPr>
            <a:r>
              <a:t>The invariant: completed tasks never restart, and healthy tasks never move</a:t>
            </a:r>
          </a:p>
          <a:p>
            <a:pPr>
              <a:spcAft>
                <a:spcPts val="800"/>
              </a:spcAft>
              <a:defRPr sz="1600">
                <a:solidFill>
                  <a:srgbClr val="232B33"/>
                </a:solidFill>
              </a:defRPr>
            </a:pPr>
            <a:r>
              <a:t>The boundary question (RQ1): is rescuing just the stranded tasks enough, or do dependents have to move too?</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64592" cy="5989320"/>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11338560" cy="640080"/>
          </a:xfrm>
          <a:prstGeom prst="rect">
            <a:avLst/>
          </a:prstGeom>
          <a:noFill/>
        </p:spPr>
        <p:txBody>
          <a:bodyPr wrap="none" anchor="ctr">
            <a:spAutoFit/>
          </a:bodyPr>
          <a:lstStyle/>
          <a:p>
            <a:pPr>
              <a:defRPr sz="2700" b="1">
                <a:solidFill>
                  <a:srgbClr val="FFFFFF"/>
                </a:solidFill>
              </a:defRPr>
            </a:pPr>
            <a:r>
              <a:t>The method, step by step</a:t>
            </a:r>
          </a:p>
        </p:txBody>
      </p:sp>
      <p:sp>
        <p:nvSpPr>
          <p:cNvPr id="5" name="TextBox 4"/>
          <p:cNvSpPr txBox="1"/>
          <p:nvPr/>
        </p:nvSpPr>
        <p:spPr>
          <a:xfrm>
            <a:off x="457200" y="6473952"/>
            <a:ext cx="10515600" cy="320040"/>
          </a:xfrm>
          <a:prstGeom prst="rect">
            <a:avLst/>
          </a:prstGeom>
          <a:noFill/>
        </p:spPr>
        <p:txBody>
          <a:bodyPr wrap="none">
            <a:spAutoFit/>
          </a:bodyPr>
          <a:lstStyle/>
          <a:p>
            <a:pPr>
              <a:defRPr sz="1000">
                <a:solidFill>
                  <a:srgbClr val="5A646E"/>
                </a:solidFill>
              </a:defRPr>
            </a:pPr>
            <a:r>
              <a:t>5  |  Proposed research</a:t>
            </a:r>
          </a:p>
        </p:txBody>
      </p:sp>
      <p:sp>
        <p:nvSpPr>
          <p:cNvPr id="6" name="TextBox 5"/>
          <p:cNvSpPr txBox="1"/>
          <p:nvPr/>
        </p:nvSpPr>
        <p:spPr>
          <a:xfrm>
            <a:off x="11247120" y="6473952"/>
            <a:ext cx="731520" cy="320040"/>
          </a:xfrm>
          <a:prstGeom prst="rect">
            <a:avLst/>
          </a:prstGeom>
          <a:noFill/>
        </p:spPr>
        <p:txBody>
          <a:bodyPr wrap="none">
            <a:spAutoFit/>
          </a:bodyPr>
          <a:lstStyle/>
          <a:p>
            <a:pPr algn="r">
              <a:defRPr sz="1000">
                <a:solidFill>
                  <a:srgbClr val="5A646E"/>
                </a:solidFill>
              </a:defRPr>
            </a:pPr>
            <a:r>
              <a:t>34</a:t>
            </a:r>
          </a:p>
        </p:txBody>
      </p:sp>
      <p:sp>
        <p:nvSpPr>
          <p:cNvPr id="7" name="Rounded Rectangle 6"/>
          <p:cNvSpPr/>
          <p:nvPr/>
        </p:nvSpPr>
        <p:spPr>
          <a:xfrm>
            <a:off x="502920" y="1371600"/>
            <a:ext cx="1417320" cy="502920"/>
          </a:xfrm>
          <a:prstGeom prst="roundRect">
            <a:avLst/>
          </a:prstGeom>
          <a:solidFill>
            <a:srgbClr val="0B2A4A"/>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defRPr>
            </a:pPr>
            <a:r>
              <a:t>1</a:t>
            </a:r>
          </a:p>
        </p:txBody>
      </p:sp>
      <p:sp>
        <p:nvSpPr>
          <p:cNvPr id="8" name="Rounded Rectangle 7"/>
          <p:cNvSpPr/>
          <p:nvPr/>
        </p:nvSpPr>
        <p:spPr>
          <a:xfrm>
            <a:off x="502920" y="1965960"/>
            <a:ext cx="1417320" cy="1051560"/>
          </a:xfrm>
          <a:prstGeom prst="roundRect">
            <a:avLst/>
          </a:prstGeom>
          <a:solidFill>
            <a:srgbClr val="EDF2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B33"/>
                </a:solidFill>
              </a:defRPr>
            </a:pPr>
            <a:r>
              <a:t>Initial</a:t>
            </a:r>
            <a:br/>
            <a:r>
              <a:t>partition</a:t>
            </a:r>
          </a:p>
        </p:txBody>
      </p:sp>
      <p:sp>
        <p:nvSpPr>
          <p:cNvPr id="9" name="Rounded Rectangle 8"/>
          <p:cNvSpPr/>
          <p:nvPr/>
        </p:nvSpPr>
        <p:spPr>
          <a:xfrm>
            <a:off x="2167128" y="1371600"/>
            <a:ext cx="1417320" cy="502920"/>
          </a:xfrm>
          <a:prstGeom prst="roundRect">
            <a:avLst/>
          </a:prstGeom>
          <a:solidFill>
            <a:srgbClr val="C75B12"/>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defRPr>
            </a:pPr>
            <a:r>
              <a:t>2</a:t>
            </a:r>
          </a:p>
        </p:txBody>
      </p:sp>
      <p:sp>
        <p:nvSpPr>
          <p:cNvPr id="10" name="Rounded Rectangle 9"/>
          <p:cNvSpPr/>
          <p:nvPr/>
        </p:nvSpPr>
        <p:spPr>
          <a:xfrm>
            <a:off x="2167128" y="1965960"/>
            <a:ext cx="1417320" cy="1051560"/>
          </a:xfrm>
          <a:prstGeom prst="roundRect">
            <a:avLst/>
          </a:prstGeom>
          <a:solidFill>
            <a:srgbClr val="EDF2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B33"/>
                </a:solidFill>
              </a:defRPr>
            </a:pPr>
            <a:r>
              <a:t>Detect</a:t>
            </a:r>
            <a:br/>
            <a:r>
              <a:t>failure</a:t>
            </a:r>
          </a:p>
        </p:txBody>
      </p:sp>
      <p:cxnSp>
        <p:nvCxnSpPr>
          <p:cNvPr id="11" name="Connector 10"/>
          <p:cNvCxnSpPr/>
          <p:nvPr/>
        </p:nvCxnSpPr>
        <p:spPr>
          <a:xfrm>
            <a:off x="1938528" y="2468880"/>
            <a:ext cx="228600" cy="0"/>
          </a:xfrm>
          <a:prstGeom prst="bentConnector3">
            <a:avLst/>
          </a:prstGeom>
          <a:ln w="25400">
            <a:solidFill>
              <a:srgbClr val="5A646E"/>
            </a:solidFill>
            <a:headEnd type="none"/>
            <a:tailEnd type="arrow"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831336" y="1371600"/>
            <a:ext cx="1417320" cy="502920"/>
          </a:xfrm>
          <a:prstGeom prst="roundRect">
            <a:avLst/>
          </a:prstGeom>
          <a:solidFill>
            <a:srgbClr val="C75B12"/>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defRPr>
            </a:pPr>
            <a:r>
              <a:t>3</a:t>
            </a:r>
          </a:p>
        </p:txBody>
      </p:sp>
      <p:sp>
        <p:nvSpPr>
          <p:cNvPr id="13" name="Rounded Rectangle 12"/>
          <p:cNvSpPr/>
          <p:nvPr/>
        </p:nvSpPr>
        <p:spPr>
          <a:xfrm>
            <a:off x="3831336" y="1965960"/>
            <a:ext cx="1417320" cy="1051560"/>
          </a:xfrm>
          <a:prstGeom prst="roundRect">
            <a:avLst/>
          </a:prstGeom>
          <a:solidFill>
            <a:srgbClr val="EDF2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B33"/>
                </a:solidFill>
              </a:defRPr>
            </a:pPr>
            <a:r>
              <a:t>Isolate affected</a:t>
            </a:r>
            <a:br/>
            <a:r>
              <a:t>subgraph</a:t>
            </a:r>
          </a:p>
        </p:txBody>
      </p:sp>
      <p:cxnSp>
        <p:nvCxnSpPr>
          <p:cNvPr id="14" name="Connector 13"/>
          <p:cNvCxnSpPr/>
          <p:nvPr/>
        </p:nvCxnSpPr>
        <p:spPr>
          <a:xfrm>
            <a:off x="3602736" y="2468880"/>
            <a:ext cx="228600" cy="0"/>
          </a:xfrm>
          <a:prstGeom prst="bentConnector3">
            <a:avLst/>
          </a:prstGeom>
          <a:ln w="25400">
            <a:solidFill>
              <a:srgbClr val="5A646E"/>
            </a:solidFill>
            <a:headEnd type="none"/>
            <a:tailEnd type="arrow"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495544" y="1371600"/>
            <a:ext cx="1417320" cy="502920"/>
          </a:xfrm>
          <a:prstGeom prst="roundRect">
            <a:avLst/>
          </a:prstGeom>
          <a:solidFill>
            <a:srgbClr val="C75B12"/>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defRPr>
            </a:pPr>
            <a:r>
              <a:t>4</a:t>
            </a:r>
          </a:p>
        </p:txBody>
      </p:sp>
      <p:sp>
        <p:nvSpPr>
          <p:cNvPr id="16" name="Rounded Rectangle 15"/>
          <p:cNvSpPr/>
          <p:nvPr/>
        </p:nvSpPr>
        <p:spPr>
          <a:xfrm>
            <a:off x="5495544" y="1965960"/>
            <a:ext cx="1417320" cy="1051560"/>
          </a:xfrm>
          <a:prstGeom prst="roundRect">
            <a:avLst/>
          </a:prstGeom>
          <a:solidFill>
            <a:srgbClr val="EDF2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B33"/>
                </a:solidFill>
              </a:defRPr>
            </a:pPr>
            <a:r>
              <a:t>Pick replacement</a:t>
            </a:r>
            <a:br/>
            <a:r>
              <a:t>resources</a:t>
            </a:r>
          </a:p>
        </p:txBody>
      </p:sp>
      <p:cxnSp>
        <p:nvCxnSpPr>
          <p:cNvPr id="17" name="Connector 16"/>
          <p:cNvCxnSpPr/>
          <p:nvPr/>
        </p:nvCxnSpPr>
        <p:spPr>
          <a:xfrm>
            <a:off x="5266944" y="2468880"/>
            <a:ext cx="228600" cy="0"/>
          </a:xfrm>
          <a:prstGeom prst="bentConnector3">
            <a:avLst/>
          </a:prstGeom>
          <a:ln w="25400">
            <a:solidFill>
              <a:srgbClr val="5A646E"/>
            </a:solidFill>
            <a:headEnd type="none"/>
            <a:tailEnd type="arrow"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159752" y="1371600"/>
            <a:ext cx="1417320" cy="502920"/>
          </a:xfrm>
          <a:prstGeom prst="roundRect">
            <a:avLst/>
          </a:prstGeom>
          <a:solidFill>
            <a:srgbClr val="C75B12"/>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defRPr>
            </a:pPr>
            <a:r>
              <a:t>5</a:t>
            </a:r>
          </a:p>
        </p:txBody>
      </p:sp>
      <p:sp>
        <p:nvSpPr>
          <p:cNvPr id="19" name="Rounded Rectangle 18"/>
          <p:cNvSpPr/>
          <p:nvPr/>
        </p:nvSpPr>
        <p:spPr>
          <a:xfrm>
            <a:off x="7159752" y="1965960"/>
            <a:ext cx="1417320" cy="1051560"/>
          </a:xfrm>
          <a:prstGeom prst="roundRect">
            <a:avLst/>
          </a:prstGeom>
          <a:solidFill>
            <a:srgbClr val="EDF2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B33"/>
                </a:solidFill>
              </a:defRPr>
            </a:pPr>
            <a:r>
              <a:t>Repartition</a:t>
            </a:r>
            <a:br/>
            <a:r>
              <a:t>the region</a:t>
            </a:r>
          </a:p>
        </p:txBody>
      </p:sp>
      <p:cxnSp>
        <p:nvCxnSpPr>
          <p:cNvPr id="20" name="Connector 19"/>
          <p:cNvCxnSpPr/>
          <p:nvPr/>
        </p:nvCxnSpPr>
        <p:spPr>
          <a:xfrm>
            <a:off x="6931152" y="2468880"/>
            <a:ext cx="228600" cy="0"/>
          </a:xfrm>
          <a:prstGeom prst="bentConnector3">
            <a:avLst/>
          </a:prstGeom>
          <a:ln w="25400">
            <a:solidFill>
              <a:srgbClr val="5A646E"/>
            </a:solidFill>
            <a:headEnd type="none"/>
            <a:tailEnd type="arrow"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823960" y="1371600"/>
            <a:ext cx="1417320" cy="502920"/>
          </a:xfrm>
          <a:prstGeom prst="roundRect">
            <a:avLst/>
          </a:prstGeom>
          <a:solidFill>
            <a:srgbClr val="0E7C7B"/>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defRPr>
            </a:pPr>
            <a:r>
              <a:t>6</a:t>
            </a:r>
          </a:p>
        </p:txBody>
      </p:sp>
      <p:sp>
        <p:nvSpPr>
          <p:cNvPr id="22" name="Rounded Rectangle 21"/>
          <p:cNvSpPr/>
          <p:nvPr/>
        </p:nvSpPr>
        <p:spPr>
          <a:xfrm>
            <a:off x="8823960" y="1965960"/>
            <a:ext cx="1417320" cy="1051560"/>
          </a:xfrm>
          <a:prstGeom prst="roundRect">
            <a:avLst/>
          </a:prstGeom>
          <a:solidFill>
            <a:srgbClr val="EDF2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B33"/>
                </a:solidFill>
              </a:defRPr>
            </a:pPr>
            <a:r>
              <a:t>Assign + update</a:t>
            </a:r>
            <a:br/>
            <a:r>
              <a:t>paths</a:t>
            </a:r>
          </a:p>
        </p:txBody>
      </p:sp>
      <p:cxnSp>
        <p:nvCxnSpPr>
          <p:cNvPr id="23" name="Connector 22"/>
          <p:cNvCxnSpPr/>
          <p:nvPr/>
        </p:nvCxnSpPr>
        <p:spPr>
          <a:xfrm>
            <a:off x="8595360" y="2468880"/>
            <a:ext cx="228600" cy="0"/>
          </a:xfrm>
          <a:prstGeom prst="bentConnector3">
            <a:avLst/>
          </a:prstGeom>
          <a:ln w="25400">
            <a:solidFill>
              <a:srgbClr val="5A646E"/>
            </a:solidFill>
            <a:headEnd type="none"/>
            <a:tailEnd type="arrow"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10488168" y="1371600"/>
            <a:ext cx="1417320" cy="502920"/>
          </a:xfrm>
          <a:prstGeom prst="roundRect">
            <a:avLst/>
          </a:prstGeom>
          <a:solidFill>
            <a:srgbClr val="0E7C7B"/>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defRPr>
            </a:pPr>
            <a:r>
              <a:t>7</a:t>
            </a:r>
          </a:p>
        </p:txBody>
      </p:sp>
      <p:sp>
        <p:nvSpPr>
          <p:cNvPr id="25" name="Rounded Rectangle 24"/>
          <p:cNvSpPr/>
          <p:nvPr/>
        </p:nvSpPr>
        <p:spPr>
          <a:xfrm>
            <a:off x="10488168" y="1965960"/>
            <a:ext cx="1417320" cy="1051560"/>
          </a:xfrm>
          <a:prstGeom prst="roundRect">
            <a:avLst/>
          </a:prstGeom>
          <a:solidFill>
            <a:srgbClr val="EDF2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32B33"/>
                </a:solidFill>
              </a:defRPr>
            </a:pPr>
            <a:r>
              <a:t>Resume from</a:t>
            </a:r>
            <a:br/>
            <a:r>
              <a:t>last good point</a:t>
            </a:r>
          </a:p>
        </p:txBody>
      </p:sp>
      <p:cxnSp>
        <p:nvCxnSpPr>
          <p:cNvPr id="26" name="Connector 25"/>
          <p:cNvCxnSpPr/>
          <p:nvPr/>
        </p:nvCxnSpPr>
        <p:spPr>
          <a:xfrm>
            <a:off x="10259568" y="2468880"/>
            <a:ext cx="228600" cy="0"/>
          </a:xfrm>
          <a:prstGeom prst="bentConnector3">
            <a:avLst/>
          </a:prstGeom>
          <a:ln w="25400">
            <a:solidFill>
              <a:srgbClr val="5A646E"/>
            </a:solidFill>
            <a:headEnd type="none"/>
            <a:tailEnd type="arrow" w="med" len="med"/>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822960" y="3474720"/>
            <a:ext cx="10515600" cy="822960"/>
          </a:xfrm>
          <a:prstGeom prst="rect">
            <a:avLst/>
          </a:prstGeom>
          <a:solidFill>
            <a:srgbClr val="ED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22960" y="3474720"/>
            <a:ext cx="109728" cy="822960"/>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97280" y="3547872"/>
            <a:ext cx="10058400" cy="676656"/>
          </a:xfrm>
          <a:prstGeom prst="rect">
            <a:avLst/>
          </a:prstGeom>
          <a:noFill/>
        </p:spPr>
        <p:txBody>
          <a:bodyPr wrap="square" anchor="ctr">
            <a:spAutoFit/>
          </a:bodyPr>
          <a:lstStyle/>
          <a:p>
            <a:pPr>
              <a:defRPr sz="1500" b="0">
                <a:solidFill>
                  <a:srgbClr val="232B33"/>
                </a:solidFill>
              </a:defRPr>
            </a:pPr>
            <a:r>
              <a:t>The repartition cost model: added makespan, communication delay, data re-shipped, move cost, load balance, all under the deadline</a:t>
            </a:r>
          </a:p>
        </p:txBody>
      </p:sp>
      <p:sp>
        <p:nvSpPr>
          <p:cNvPr id="30" name="Rectangle 29"/>
          <p:cNvSpPr/>
          <p:nvPr/>
        </p:nvSpPr>
        <p:spPr>
          <a:xfrm>
            <a:off x="822960" y="4480560"/>
            <a:ext cx="10515600" cy="731520"/>
          </a:xfrm>
          <a:prstGeom prst="rect">
            <a:avLst/>
          </a:prstGeom>
          <a:solidFill>
            <a:srgbClr val="ED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22960" y="4480560"/>
            <a:ext cx="109728" cy="73152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97280" y="4553712"/>
            <a:ext cx="10058400" cy="585216"/>
          </a:xfrm>
          <a:prstGeom prst="rect">
            <a:avLst/>
          </a:prstGeom>
          <a:noFill/>
        </p:spPr>
        <p:txBody>
          <a:bodyPr wrap="square" anchor="ctr">
            <a:spAutoFit/>
          </a:bodyPr>
          <a:lstStyle/>
          <a:p>
            <a:pPr>
              <a:defRPr sz="1500" b="0">
                <a:solidFill>
                  <a:srgbClr val="232B33"/>
                </a:solidFill>
              </a:defRPr>
            </a:pPr>
            <a:r>
              <a:t>And one invariant throughout: completed tasks never restart, and unaffected assignments never move.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64592" cy="5989320"/>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11338560" cy="640080"/>
          </a:xfrm>
          <a:prstGeom prst="rect">
            <a:avLst/>
          </a:prstGeom>
          <a:noFill/>
        </p:spPr>
        <p:txBody>
          <a:bodyPr wrap="none" anchor="ctr">
            <a:spAutoFit/>
          </a:bodyPr>
          <a:lstStyle/>
          <a:p>
            <a:pPr>
              <a:defRPr sz="2700" b="1">
                <a:solidFill>
                  <a:srgbClr val="FFFFFF"/>
                </a:solidFill>
              </a:defRPr>
            </a:pPr>
            <a:r>
              <a:t>RQ1: where does the repair boundary lie?</a:t>
            </a:r>
          </a:p>
        </p:txBody>
      </p:sp>
      <p:sp>
        <p:nvSpPr>
          <p:cNvPr id="5" name="TextBox 4"/>
          <p:cNvSpPr txBox="1"/>
          <p:nvPr/>
        </p:nvSpPr>
        <p:spPr>
          <a:xfrm>
            <a:off x="457200" y="6473952"/>
            <a:ext cx="10515600" cy="320040"/>
          </a:xfrm>
          <a:prstGeom prst="rect">
            <a:avLst/>
          </a:prstGeom>
          <a:noFill/>
        </p:spPr>
        <p:txBody>
          <a:bodyPr wrap="none">
            <a:spAutoFit/>
          </a:bodyPr>
          <a:lstStyle/>
          <a:p>
            <a:pPr>
              <a:defRPr sz="1000">
                <a:solidFill>
                  <a:srgbClr val="5A646E"/>
                </a:solidFill>
              </a:defRPr>
            </a:pPr>
            <a:r>
              <a:t>5  |  Proposed research</a:t>
            </a:r>
          </a:p>
        </p:txBody>
      </p:sp>
      <p:sp>
        <p:nvSpPr>
          <p:cNvPr id="6" name="TextBox 5"/>
          <p:cNvSpPr txBox="1"/>
          <p:nvPr/>
        </p:nvSpPr>
        <p:spPr>
          <a:xfrm>
            <a:off x="11247120" y="6473952"/>
            <a:ext cx="731520" cy="320040"/>
          </a:xfrm>
          <a:prstGeom prst="rect">
            <a:avLst/>
          </a:prstGeom>
          <a:noFill/>
        </p:spPr>
        <p:txBody>
          <a:bodyPr wrap="none">
            <a:spAutoFit/>
          </a:bodyPr>
          <a:lstStyle/>
          <a:p>
            <a:pPr algn="r">
              <a:defRPr sz="1000">
                <a:solidFill>
                  <a:srgbClr val="5A646E"/>
                </a:solidFill>
              </a:defRPr>
            </a:pPr>
            <a:r>
              <a:t>35</a:t>
            </a:r>
          </a:p>
        </p:txBody>
      </p:sp>
      <p:sp>
        <p:nvSpPr>
          <p:cNvPr id="7" name="TextBox 6"/>
          <p:cNvSpPr txBox="1"/>
          <p:nvPr/>
        </p:nvSpPr>
        <p:spPr>
          <a:xfrm>
            <a:off x="594360" y="1143000"/>
            <a:ext cx="10972800" cy="5120640"/>
          </a:xfrm>
          <a:prstGeom prst="rect">
            <a:avLst/>
          </a:prstGeom>
          <a:noFill/>
        </p:spPr>
        <p:txBody>
          <a:bodyPr wrap="square">
            <a:spAutoFit/>
          </a:bodyPr>
          <a:lstStyle/>
          <a:p>
            <a:pPr>
              <a:spcAft>
                <a:spcPts val="800"/>
              </a:spcAft>
              <a:defRPr sz="1600">
                <a:solidFill>
                  <a:srgbClr val="232B33"/>
                </a:solidFill>
              </a:defRPr>
            </a:pPr>
            <a:r>
              <a:t>Start with the stranded set S; that part is mandatory</a:t>
            </a:r>
          </a:p>
          <a:p>
            <a:pPr>
              <a:spcAft>
                <a:spcPts val="800"/>
              </a:spcAft>
              <a:defRPr sz="1600">
                <a:solidFill>
                  <a:srgbClr val="232B33"/>
                </a:solidFill>
              </a:defRPr>
            </a:pPr>
            <a:r>
              <a:t>Then admit a neighbor while it fails one of two stay-tests:</a:t>
            </a:r>
          </a:p>
          <a:p>
            <a:pPr lvl="1">
              <a:spcAft>
                <a:spcPts val="800"/>
              </a:spcAft>
              <a:defRPr sz="1400">
                <a:solidFill>
                  <a:srgbClr val="5A646E"/>
                </a:solidFill>
              </a:defRPr>
            </a:pPr>
            <a:r>
              <a:t>  a deadline test: staying pushes its finish time past the slack remaining at tau</a:t>
            </a:r>
          </a:p>
          <a:p>
            <a:pPr lvl="1">
              <a:spcAft>
                <a:spcPts val="800"/>
              </a:spcAft>
              <a:defRPr sz="1400">
                <a:solidFill>
                  <a:srgbClr val="5A646E"/>
                </a:solidFill>
              </a:defRPr>
            </a:pPr>
            <a:r>
              <a:t>  a locality test: staying strands its input on a path too slow to serve it in time</a:t>
            </a:r>
          </a:p>
          <a:p>
            <a:pPr>
              <a:spcAft>
                <a:spcPts val="800"/>
              </a:spcAft>
              <a:defRPr sz="1600">
                <a:solidFill>
                  <a:srgbClr val="232B33"/>
                </a:solidFill>
              </a:defRPr>
            </a:pPr>
            <a:r>
              <a:t>Stop when no neighbor fails a test, or when the region hits a size cap; minimality is the claim we verify</a:t>
            </a:r>
          </a:p>
          <a:p>
            <a:pPr>
              <a:spcAft>
                <a:spcPts val="800"/>
              </a:spcAft>
              <a:defRPr sz="1600">
                <a:solidFill>
                  <a:srgbClr val="232B33"/>
                </a:solidFill>
              </a:defRPr>
            </a:pPr>
            <a:r>
              <a:t>The output is the affected subgraph plus its boundary pins: the tasks that stayed put and fix the arrival times the repair must respect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64592" cy="5989320"/>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11338560" cy="640080"/>
          </a:xfrm>
          <a:prstGeom prst="rect">
            <a:avLst/>
          </a:prstGeom>
          <a:noFill/>
        </p:spPr>
        <p:txBody>
          <a:bodyPr wrap="none" anchor="ctr">
            <a:spAutoFit/>
          </a:bodyPr>
          <a:lstStyle/>
          <a:p>
            <a:pPr>
              <a:defRPr sz="2700" b="1">
                <a:solidFill>
                  <a:srgbClr val="FFFFFF"/>
                </a:solidFill>
              </a:defRPr>
            </a:pPr>
            <a:r>
              <a:t>RQ2: repartitioning the region</a:t>
            </a:r>
          </a:p>
        </p:txBody>
      </p:sp>
      <p:sp>
        <p:nvSpPr>
          <p:cNvPr id="5" name="TextBox 4"/>
          <p:cNvSpPr txBox="1"/>
          <p:nvPr/>
        </p:nvSpPr>
        <p:spPr>
          <a:xfrm>
            <a:off x="457200" y="6473952"/>
            <a:ext cx="10515600" cy="320040"/>
          </a:xfrm>
          <a:prstGeom prst="rect">
            <a:avLst/>
          </a:prstGeom>
          <a:noFill/>
        </p:spPr>
        <p:txBody>
          <a:bodyPr wrap="none">
            <a:spAutoFit/>
          </a:bodyPr>
          <a:lstStyle/>
          <a:p>
            <a:pPr>
              <a:defRPr sz="1000">
                <a:solidFill>
                  <a:srgbClr val="5A646E"/>
                </a:solidFill>
              </a:defRPr>
            </a:pPr>
            <a:r>
              <a:t>5  |  Proposed research</a:t>
            </a:r>
          </a:p>
        </p:txBody>
      </p:sp>
      <p:sp>
        <p:nvSpPr>
          <p:cNvPr id="6" name="TextBox 5"/>
          <p:cNvSpPr txBox="1"/>
          <p:nvPr/>
        </p:nvSpPr>
        <p:spPr>
          <a:xfrm>
            <a:off x="11247120" y="6473952"/>
            <a:ext cx="731520" cy="320040"/>
          </a:xfrm>
          <a:prstGeom prst="rect">
            <a:avLst/>
          </a:prstGeom>
          <a:noFill/>
        </p:spPr>
        <p:txBody>
          <a:bodyPr wrap="none">
            <a:spAutoFit/>
          </a:bodyPr>
          <a:lstStyle/>
          <a:p>
            <a:pPr algn="r">
              <a:defRPr sz="1000">
                <a:solidFill>
                  <a:srgbClr val="5A646E"/>
                </a:solidFill>
              </a:defRPr>
            </a:pPr>
            <a:r>
              <a:t>36</a:t>
            </a:r>
          </a:p>
        </p:txBody>
      </p:sp>
      <p:sp>
        <p:nvSpPr>
          <p:cNvPr id="7" name="TextBox 6"/>
          <p:cNvSpPr txBox="1"/>
          <p:nvPr/>
        </p:nvSpPr>
        <p:spPr>
          <a:xfrm>
            <a:off x="594360" y="1143000"/>
            <a:ext cx="10972800" cy="5120640"/>
          </a:xfrm>
          <a:prstGeom prst="rect">
            <a:avLst/>
          </a:prstGeom>
          <a:noFill/>
        </p:spPr>
        <p:txBody>
          <a:bodyPr wrap="square">
            <a:spAutoFit/>
          </a:bodyPr>
          <a:lstStyle/>
          <a:p>
            <a:pPr>
              <a:spcAft>
                <a:spcPts val="800"/>
              </a:spcAft>
              <a:defRPr sz="1600">
                <a:solidFill>
                  <a:srgbClr val="232B33"/>
                </a:solidFill>
              </a:defRPr>
            </a:pPr>
            <a:r>
              <a:t>Repair is a constrained re-optimization on the region; the paper-two schedulers become the region solvers</a:t>
            </a:r>
          </a:p>
          <a:p>
            <a:pPr>
              <a:spcAft>
                <a:spcPts val="800"/>
              </a:spcAft>
              <a:defRPr sz="1600">
                <a:solidFill>
                  <a:srgbClr val="232B33"/>
                </a:solidFill>
              </a:defRPr>
            </a:pPr>
            <a:r>
              <a:t>The objective minimizes added makespan plus moved tasks plus re-shipped data, subject to accuracy and the deadline</a:t>
            </a:r>
          </a:p>
          <a:p>
            <a:pPr>
              <a:spcAft>
                <a:spcPts val="800"/>
              </a:spcAft>
              <a:defRPr sz="1600">
                <a:solidFill>
                  <a:srgbClr val="232B33"/>
                </a:solidFill>
              </a:defRPr>
            </a:pPr>
            <a:r>
              <a:t>The boundary pins enter as constants: the arrival times of data from tasks that stayed put</a:t>
            </a:r>
          </a:p>
          <a:p>
            <a:pPr>
              <a:spcAft>
                <a:spcPts val="800"/>
              </a:spcAft>
              <a:defRPr sz="1600">
                <a:solidFill>
                  <a:srgbClr val="232B33"/>
                </a:solidFill>
              </a:defRPr>
            </a:pPr>
            <a:r>
              <a:t>Replacement resources come from the surviving nodes with enough capacity and short paths to where the parents and children live</a:t>
            </a:r>
          </a:p>
          <a:p>
            <a:pPr>
              <a:spcAft>
                <a:spcPts val="800"/>
              </a:spcAft>
              <a:defRPr sz="1600">
                <a:solidFill>
                  <a:srgbClr val="232B33"/>
                </a:solidFill>
              </a:defRPr>
            </a:pPr>
            <a:r>
              <a:t>A greedy repair gives millisecond-scale answers; the MILP repair is the reference for small regions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64592" cy="5989320"/>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11338560" cy="640080"/>
          </a:xfrm>
          <a:prstGeom prst="rect">
            <a:avLst/>
          </a:prstGeom>
          <a:noFill/>
        </p:spPr>
        <p:txBody>
          <a:bodyPr wrap="none" anchor="ctr">
            <a:spAutoFit/>
          </a:bodyPr>
          <a:lstStyle/>
          <a:p>
            <a:pPr>
              <a:defRPr sz="2700" b="1">
                <a:solidFill>
                  <a:srgbClr val="FFFFFF"/>
                </a:solidFill>
              </a:defRPr>
            </a:pPr>
            <a:r>
              <a:t>RQ3: updating the paths incrementally</a:t>
            </a:r>
          </a:p>
        </p:txBody>
      </p:sp>
      <p:sp>
        <p:nvSpPr>
          <p:cNvPr id="5" name="TextBox 4"/>
          <p:cNvSpPr txBox="1"/>
          <p:nvPr/>
        </p:nvSpPr>
        <p:spPr>
          <a:xfrm>
            <a:off x="457200" y="6473952"/>
            <a:ext cx="10515600" cy="320040"/>
          </a:xfrm>
          <a:prstGeom prst="rect">
            <a:avLst/>
          </a:prstGeom>
          <a:noFill/>
        </p:spPr>
        <p:txBody>
          <a:bodyPr wrap="none">
            <a:spAutoFit/>
          </a:bodyPr>
          <a:lstStyle/>
          <a:p>
            <a:pPr>
              <a:defRPr sz="1000">
                <a:solidFill>
                  <a:srgbClr val="5A646E"/>
                </a:solidFill>
              </a:defRPr>
            </a:pPr>
            <a:r>
              <a:t>5  |  Proposed research</a:t>
            </a:r>
          </a:p>
        </p:txBody>
      </p:sp>
      <p:sp>
        <p:nvSpPr>
          <p:cNvPr id="6" name="TextBox 5"/>
          <p:cNvSpPr txBox="1"/>
          <p:nvPr/>
        </p:nvSpPr>
        <p:spPr>
          <a:xfrm>
            <a:off x="11247120" y="6473952"/>
            <a:ext cx="731520" cy="320040"/>
          </a:xfrm>
          <a:prstGeom prst="rect">
            <a:avLst/>
          </a:prstGeom>
          <a:noFill/>
        </p:spPr>
        <p:txBody>
          <a:bodyPr wrap="none">
            <a:spAutoFit/>
          </a:bodyPr>
          <a:lstStyle/>
          <a:p>
            <a:pPr algn="r">
              <a:defRPr sz="1000">
                <a:solidFill>
                  <a:srgbClr val="5A646E"/>
                </a:solidFill>
              </a:defRPr>
            </a:pPr>
            <a:r>
              <a:t>37</a:t>
            </a:r>
          </a:p>
        </p:txBody>
      </p:sp>
      <p:sp>
        <p:nvSpPr>
          <p:cNvPr id="7" name="TextBox 6"/>
          <p:cNvSpPr txBox="1"/>
          <p:nvPr/>
        </p:nvSpPr>
        <p:spPr>
          <a:xfrm>
            <a:off x="594360" y="1143000"/>
            <a:ext cx="10972800" cy="5120640"/>
          </a:xfrm>
          <a:prstGeom prst="rect">
            <a:avLst/>
          </a:prstGeom>
          <a:noFill/>
        </p:spPr>
        <p:txBody>
          <a:bodyPr wrap="square">
            <a:spAutoFit/>
          </a:bodyPr>
          <a:lstStyle/>
          <a:p>
            <a:pPr>
              <a:spcAft>
                <a:spcPts val="800"/>
              </a:spcAft>
              <a:defRPr sz="1600">
                <a:solidFill>
                  <a:srgbClr val="232B33"/>
                </a:solidFill>
              </a:defRPr>
            </a:pPr>
            <a:r>
              <a:t>Moved tasks need new communication paths to their parents and children</a:t>
            </a:r>
          </a:p>
          <a:p>
            <a:pPr>
              <a:spcAft>
                <a:spcPts val="800"/>
              </a:spcAft>
              <a:defRPr sz="1600">
                <a:solidFill>
                  <a:srgbClr val="232B33"/>
                </a:solidFill>
              </a:defRPr>
            </a:pPr>
            <a:r>
              <a:t>Recomputing all shortest paths on the infrastructure graph mid-workflow is too slow</a:t>
            </a:r>
          </a:p>
          <a:p>
            <a:pPr>
              <a:spcAft>
                <a:spcPts val="800"/>
              </a:spcAft>
              <a:defRPr sz="1600">
                <a:solidFill>
                  <a:srgbClr val="232B33"/>
                </a:solidFill>
              </a:defRPr>
            </a:pPr>
            <a:r>
              <a:t>So we reuse dynamic single-source shortest-path updates (Riazi, Khanda, Bhowmick and colleagues)</a:t>
            </a:r>
          </a:p>
          <a:p>
            <a:pPr lvl="1">
              <a:spcAft>
                <a:spcPts val="800"/>
              </a:spcAft>
              <a:defRPr sz="1400">
                <a:solidFill>
                  <a:srgbClr val="5A646E"/>
                </a:solidFill>
              </a:defRPr>
            </a:pPr>
            <a:r>
              <a:t>  only the paths through the deleted node and the moved tasks get updated</a:t>
            </a:r>
          </a:p>
          <a:p>
            <a:pPr>
              <a:spcAft>
                <a:spcPts val="800"/>
              </a:spcAft>
              <a:defRPr sz="1600">
                <a:solidFill>
                  <a:srgbClr val="232B33"/>
                </a:solidFill>
              </a:defRPr>
            </a:pPr>
            <a:r>
              <a:t>Using dynamic SPT to drive workflow recovery is, as far as we know, new</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64592" cy="5989320"/>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11338560" cy="640080"/>
          </a:xfrm>
          <a:prstGeom prst="rect">
            <a:avLst/>
          </a:prstGeom>
          <a:noFill/>
        </p:spPr>
        <p:txBody>
          <a:bodyPr wrap="none" anchor="ctr">
            <a:spAutoFit/>
          </a:bodyPr>
          <a:lstStyle/>
          <a:p>
            <a:pPr>
              <a:defRPr sz="2700" b="1">
                <a:solidFill>
                  <a:srgbClr val="FFFFFF"/>
                </a:solidFill>
              </a:defRPr>
            </a:pPr>
            <a:r>
              <a:t>What is new, positioned against the literature</a:t>
            </a:r>
          </a:p>
        </p:txBody>
      </p:sp>
      <p:sp>
        <p:nvSpPr>
          <p:cNvPr id="5" name="TextBox 4"/>
          <p:cNvSpPr txBox="1"/>
          <p:nvPr/>
        </p:nvSpPr>
        <p:spPr>
          <a:xfrm>
            <a:off x="457200" y="6473952"/>
            <a:ext cx="10515600" cy="320040"/>
          </a:xfrm>
          <a:prstGeom prst="rect">
            <a:avLst/>
          </a:prstGeom>
          <a:noFill/>
        </p:spPr>
        <p:txBody>
          <a:bodyPr wrap="none">
            <a:spAutoFit/>
          </a:bodyPr>
          <a:lstStyle/>
          <a:p>
            <a:pPr>
              <a:defRPr sz="1000">
                <a:solidFill>
                  <a:srgbClr val="5A646E"/>
                </a:solidFill>
              </a:defRPr>
            </a:pPr>
            <a:r>
              <a:t>5  |  Proposed research</a:t>
            </a:r>
          </a:p>
        </p:txBody>
      </p:sp>
      <p:sp>
        <p:nvSpPr>
          <p:cNvPr id="6" name="TextBox 5"/>
          <p:cNvSpPr txBox="1"/>
          <p:nvPr/>
        </p:nvSpPr>
        <p:spPr>
          <a:xfrm>
            <a:off x="11247120" y="6473952"/>
            <a:ext cx="731520" cy="320040"/>
          </a:xfrm>
          <a:prstGeom prst="rect">
            <a:avLst/>
          </a:prstGeom>
          <a:noFill/>
        </p:spPr>
        <p:txBody>
          <a:bodyPr wrap="none">
            <a:spAutoFit/>
          </a:bodyPr>
          <a:lstStyle/>
          <a:p>
            <a:pPr algn="r">
              <a:defRPr sz="1000">
                <a:solidFill>
                  <a:srgbClr val="5A646E"/>
                </a:solidFill>
              </a:defRPr>
            </a:pPr>
            <a:r>
              <a:t>38</a:t>
            </a:r>
          </a:p>
        </p:txBody>
      </p:sp>
      <p:sp>
        <p:nvSpPr>
          <p:cNvPr id="7" name="TextBox 6"/>
          <p:cNvSpPr txBox="1"/>
          <p:nvPr/>
        </p:nvSpPr>
        <p:spPr>
          <a:xfrm>
            <a:off x="594360" y="1143000"/>
            <a:ext cx="10972800" cy="5120640"/>
          </a:xfrm>
          <a:prstGeom prst="rect">
            <a:avLst/>
          </a:prstGeom>
          <a:noFill/>
        </p:spPr>
        <p:txBody>
          <a:bodyPr wrap="square">
            <a:spAutoFit/>
          </a:bodyPr>
          <a:lstStyle/>
          <a:p>
            <a:pPr>
              <a:spcAft>
                <a:spcPts val="800"/>
              </a:spcAft>
              <a:defRPr sz="1600">
                <a:solidFill>
                  <a:srgbClr val="232B33"/>
                </a:solidFill>
              </a:defRPr>
            </a:pPr>
            <a:r>
              <a:t>Dynamic shortest-path updates exist, but have never driven workflow repartitioning</a:t>
            </a:r>
          </a:p>
          <a:p>
            <a:pPr>
              <a:spcAft>
                <a:spcPts val="800"/>
              </a:spcAft>
              <a:defRPr sz="1600">
                <a:solidFill>
                  <a:srgbClr val="232B33"/>
                </a:solidFill>
              </a:defRPr>
            </a:pPr>
            <a:r>
              <a:t>Fog rescheduling and join-leave redistribution exist, but without the two-graph coupling</a:t>
            </a:r>
          </a:p>
          <a:p>
            <a:pPr>
              <a:spcAft>
                <a:spcPts val="800"/>
              </a:spcAft>
              <a:defRPr sz="1600">
                <a:solidFill>
                  <a:srgbClr val="232B33"/>
                </a:solidFill>
              </a:defRPr>
            </a:pPr>
            <a:r>
              <a:t>Partial workflow reconsideration exists, but not at failure granularity</a:t>
            </a:r>
          </a:p>
          <a:p>
            <a:pPr>
              <a:spcAft>
                <a:spcPts val="800"/>
              </a:spcAft>
              <a:defRPr sz="1600">
                <a:solidFill>
                  <a:srgbClr val="232B33"/>
                </a:solidFill>
              </a:defRPr>
            </a:pPr>
          </a:p>
          <a:p>
            <a:pPr>
              <a:spcAft>
                <a:spcPts val="800"/>
              </a:spcAft>
              <a:defRPr sz="1600">
                <a:solidFill>
                  <a:srgbClr val="232B33"/>
                </a:solidFill>
              </a:defRPr>
            </a:pPr>
            <a:r>
              <a:t>What is new: an infrastructure-node failure maps to the smallest affected DAG region; only that region is repartitioned; the paths update incrementally; the workflow resumes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46120"/>
            <a:ext cx="12191695" cy="82296"/>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332720" cy="548640"/>
          </a:xfrm>
          <a:prstGeom prst="rect">
            <a:avLst/>
          </a:prstGeom>
          <a:noFill/>
        </p:spPr>
        <p:txBody>
          <a:bodyPr wrap="none">
            <a:spAutoFit/>
          </a:bodyPr>
          <a:lstStyle/>
          <a:p>
            <a:pPr>
              <a:defRPr sz="2000" b="1">
                <a:solidFill>
                  <a:srgbClr val="C75B12"/>
                </a:solidFill>
              </a:defRPr>
            </a:pPr>
            <a:r>
              <a:t>6  |  EVALUATION PLAN &amp; TIMELINE</a:t>
            </a:r>
          </a:p>
        </p:txBody>
      </p:sp>
      <p:sp>
        <p:nvSpPr>
          <p:cNvPr id="5" name="TextBox 4"/>
          <p:cNvSpPr txBox="1"/>
          <p:nvPr/>
        </p:nvSpPr>
        <p:spPr>
          <a:xfrm>
            <a:off x="914400" y="2468880"/>
            <a:ext cx="10332720" cy="1463040"/>
          </a:xfrm>
          <a:prstGeom prst="rect">
            <a:avLst/>
          </a:prstGeom>
          <a:noFill/>
        </p:spPr>
        <p:txBody>
          <a:bodyPr wrap="square">
            <a:spAutoFit/>
          </a:bodyPr>
          <a:lstStyle/>
          <a:p>
            <a:pPr>
              <a:defRPr sz="4000" b="1">
                <a:solidFill>
                  <a:srgbClr val="FFFFFF"/>
                </a:solidFill>
              </a:defRPr>
            </a:pPr>
            <a:r>
              <a:t>How it will be tested, and when</a:t>
            </a:r>
          </a:p>
        </p:txBody>
      </p:sp>
      <p:sp>
        <p:nvSpPr>
          <p:cNvPr id="6" name="TextBox 5"/>
          <p:cNvSpPr txBox="1"/>
          <p:nvPr/>
        </p:nvSpPr>
        <p:spPr>
          <a:xfrm>
            <a:off x="914400" y="3749039"/>
            <a:ext cx="10332720" cy="1463040"/>
          </a:xfrm>
          <a:prstGeom prst="rect">
            <a:avLst/>
          </a:prstGeom>
          <a:noFill/>
        </p:spPr>
        <p:txBody>
          <a:bodyPr wrap="square">
            <a:spAutoFit/>
          </a:bodyPr>
          <a:lstStyle/>
          <a:p>
            <a:pPr>
              <a:defRPr sz="1900">
                <a:solidFill>
                  <a:srgbClr val="EDF2F7"/>
                </a:solidFill>
              </a:defRPr>
            </a:pPr>
            <a:r>
              <a:t>Baselines, metrics, failure injection, hypotheses, milestones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64592" cy="5989320"/>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11338560" cy="640080"/>
          </a:xfrm>
          <a:prstGeom prst="rect">
            <a:avLst/>
          </a:prstGeom>
          <a:noFill/>
        </p:spPr>
        <p:txBody>
          <a:bodyPr wrap="none" anchor="ctr">
            <a:spAutoFit/>
          </a:bodyPr>
          <a:lstStyle/>
          <a:p>
            <a:pPr>
              <a:defRPr sz="2700" b="1">
                <a:solidFill>
                  <a:srgbClr val="FFFFFF"/>
                </a:solidFill>
              </a:defRPr>
            </a:pPr>
            <a:r>
              <a:t>Baselines and metrics</a:t>
            </a:r>
          </a:p>
        </p:txBody>
      </p:sp>
      <p:sp>
        <p:nvSpPr>
          <p:cNvPr id="5" name="TextBox 4"/>
          <p:cNvSpPr txBox="1"/>
          <p:nvPr/>
        </p:nvSpPr>
        <p:spPr>
          <a:xfrm>
            <a:off x="457200" y="6473952"/>
            <a:ext cx="10515600" cy="320040"/>
          </a:xfrm>
          <a:prstGeom prst="rect">
            <a:avLst/>
          </a:prstGeom>
          <a:noFill/>
        </p:spPr>
        <p:txBody>
          <a:bodyPr wrap="none">
            <a:spAutoFit/>
          </a:bodyPr>
          <a:lstStyle/>
          <a:p>
            <a:pPr>
              <a:defRPr sz="1000">
                <a:solidFill>
                  <a:srgbClr val="5A646E"/>
                </a:solidFill>
              </a:defRPr>
            </a:pPr>
            <a:r>
              <a:t>6  |  Evaluation plan &amp; timeline</a:t>
            </a:r>
          </a:p>
        </p:txBody>
      </p:sp>
      <p:sp>
        <p:nvSpPr>
          <p:cNvPr id="6" name="TextBox 5"/>
          <p:cNvSpPr txBox="1"/>
          <p:nvPr/>
        </p:nvSpPr>
        <p:spPr>
          <a:xfrm>
            <a:off x="11247120" y="6473952"/>
            <a:ext cx="731520" cy="320040"/>
          </a:xfrm>
          <a:prstGeom prst="rect">
            <a:avLst/>
          </a:prstGeom>
          <a:noFill/>
        </p:spPr>
        <p:txBody>
          <a:bodyPr wrap="none">
            <a:spAutoFit/>
          </a:bodyPr>
          <a:lstStyle/>
          <a:p>
            <a:pPr algn="r">
              <a:defRPr sz="1000">
                <a:solidFill>
                  <a:srgbClr val="5A646E"/>
                </a:solidFill>
              </a:defRPr>
            </a:pPr>
            <a:r>
              <a:t>40</a:t>
            </a:r>
          </a:p>
        </p:txBody>
      </p:sp>
      <p:graphicFrame>
        <p:nvGraphicFramePr>
          <p:cNvPr id="7" name="Table 6"/>
          <p:cNvGraphicFramePr>
            <a:graphicFrameLocks noGrp="1"/>
          </p:cNvGraphicFramePr>
          <p:nvPr/>
        </p:nvGraphicFramePr>
        <p:xfrm>
          <a:off x="731520" y="1280160"/>
          <a:ext cx="10698480" cy="3108960"/>
        </p:xfrm>
        <a:graphic>
          <a:graphicData uri="http://schemas.openxmlformats.org/drawingml/2006/table">
            <a:tbl>
              <a:tblPr firstRow="1" bandRow="1">
                <a:tableStyleId>{5C22544A-7EE6-4342-B048-85BDC9FD1C3A}</a:tableStyleId>
              </a:tblPr>
              <a:tblGrid>
                <a:gridCol w="5669280"/>
                <a:gridCol w="5029200"/>
              </a:tblGrid>
              <a:tr h="621792">
                <a:tc>
                  <a:txBody>
                    <a:bodyPr wrap="square"/>
                    <a:lstStyle/>
                    <a:p>
                      <a:pPr>
                        <a:defRPr sz="1300" b="1">
                          <a:solidFill>
                            <a:srgbClr val="FFFFFF"/>
                          </a:solidFill>
                        </a:defRPr>
                      </a:pPr>
                      <a:r>
                        <a:t>Baselines</a:t>
                      </a:r>
                    </a:p>
                  </a:txBody>
                  <a:tcPr marT="38100" marB="38100" marL="76200" marR="76200">
                    <a:solidFill>
                      <a:srgbClr val="0B2A4A"/>
                    </a:solidFill>
                  </a:tcPr>
                </a:tc>
                <a:tc>
                  <a:txBody>
                    <a:bodyPr wrap="square"/>
                    <a:lstStyle/>
                    <a:p>
                      <a:pPr>
                        <a:defRPr sz="1300" b="1">
                          <a:solidFill>
                            <a:srgbClr val="FFFFFF"/>
                          </a:solidFill>
                        </a:defRPr>
                      </a:pPr>
                      <a:r>
                        <a:t>Metrics</a:t>
                      </a:r>
                    </a:p>
                  </a:txBody>
                  <a:tcPr marT="38100" marB="38100" marL="76200" marR="76200">
                    <a:solidFill>
                      <a:srgbClr val="0B2A4A"/>
                    </a:solidFill>
                  </a:tcPr>
                </a:tc>
              </a:tr>
              <a:tr h="621792">
                <a:tc>
                  <a:txBody>
                    <a:bodyPr wrap="square"/>
                    <a:lstStyle/>
                    <a:p>
                      <a:pPr>
                        <a:defRPr sz="1300" b="0">
                          <a:solidFill>
                            <a:srgbClr val="232B33"/>
                          </a:solidFill>
                        </a:defRPr>
                      </a:pPr>
                      <a:r>
                        <a:t>Complete repartition: reschedule the whole DAG</a:t>
                      </a:r>
                    </a:p>
                  </a:txBody>
                  <a:tcPr marT="38100" marB="38100" marL="76200" marR="76200">
                    <a:solidFill>
                      <a:srgbClr val="FFFFFF"/>
                    </a:solidFill>
                  </a:tcPr>
                </a:tc>
                <a:tc>
                  <a:txBody>
                    <a:bodyPr wrap="square"/>
                    <a:lstStyle/>
                    <a:p>
                      <a:pPr>
                        <a:defRPr sz="1300" b="0">
                          <a:solidFill>
                            <a:srgbClr val="232B33"/>
                          </a:solidFill>
                        </a:defRPr>
                      </a:pPr>
                      <a:r>
                        <a:t>Recovery time (detect to resume)</a:t>
                      </a:r>
                    </a:p>
                  </a:txBody>
                  <a:tcPr marT="38100" marB="38100" marL="76200" marR="76200">
                    <a:solidFill>
                      <a:srgbClr val="FFFFFF"/>
                    </a:solidFill>
                  </a:tcPr>
                </a:tc>
              </a:tr>
              <a:tr h="621792">
                <a:tc>
                  <a:txBody>
                    <a:bodyPr wrap="square"/>
                    <a:lstStyle/>
                    <a:p>
                      <a:pPr>
                        <a:defRPr sz="1300" b="0">
                          <a:solidFill>
                            <a:srgbClr val="232B33"/>
                          </a:solidFill>
                        </a:defRPr>
                      </a:pPr>
                      <a:r>
                        <a:t>Greedy rescue: reassign stranded tasks one by one</a:t>
                      </a:r>
                    </a:p>
                  </a:txBody>
                  <a:tcPr marT="38100" marB="38100" marL="76200" marR="76200">
                    <a:solidFill>
                      <a:srgbClr val="EDF2F7"/>
                    </a:solidFill>
                  </a:tcPr>
                </a:tc>
                <a:tc>
                  <a:txBody>
                    <a:bodyPr wrap="square"/>
                    <a:lstStyle/>
                    <a:p>
                      <a:pPr>
                        <a:defRPr sz="1300" b="0">
                          <a:solidFill>
                            <a:srgbClr val="232B33"/>
                          </a:solidFill>
                        </a:defRPr>
                      </a:pPr>
                      <a:r>
                        <a:t>Completion time / deadline success rate</a:t>
                      </a:r>
                    </a:p>
                  </a:txBody>
                  <a:tcPr marT="38100" marB="38100" marL="76200" marR="76200">
                    <a:solidFill>
                      <a:srgbClr val="EDF2F7"/>
                    </a:solidFill>
                  </a:tcPr>
                </a:tc>
              </a:tr>
              <a:tr h="621792">
                <a:tc>
                  <a:txBody>
                    <a:bodyPr wrap="square"/>
                    <a:lstStyle/>
                    <a:p>
                      <a:pPr>
                        <a:defRPr sz="1300" b="0">
                          <a:solidFill>
                            <a:srgbClr val="232B33"/>
                          </a:solidFill>
                        </a:defRPr>
                      </a:pPr>
                      <a:r>
                        <a:t>Static, no repair: whatever survives</a:t>
                      </a:r>
                    </a:p>
                  </a:txBody>
                  <a:tcPr marT="38100" marB="38100" marL="76200" marR="76200">
                    <a:solidFill>
                      <a:srgbClr val="FFFFFF"/>
                    </a:solidFill>
                  </a:tcPr>
                </a:tc>
                <a:tc>
                  <a:txBody>
                    <a:bodyPr wrap="square"/>
                    <a:lstStyle/>
                    <a:p>
                      <a:pPr>
                        <a:defRPr sz="1300" b="0">
                          <a:solidFill>
                            <a:srgbClr val="232B33"/>
                          </a:solidFill>
                        </a:defRPr>
                      </a:pPr>
                      <a:r>
                        <a:t>Communication cost and data re-shipped</a:t>
                      </a:r>
                    </a:p>
                  </a:txBody>
                  <a:tcPr marT="38100" marB="38100" marL="76200" marR="76200">
                    <a:solidFill>
                      <a:srgbClr val="FFFFFF"/>
                    </a:solidFill>
                  </a:tcPr>
                </a:tc>
              </a:tr>
              <a:tr h="621792">
                <a:tc>
                  <a:txBody>
                    <a:bodyPr wrap="square"/>
                    <a:lstStyle/>
                    <a:p>
                      <a:pPr>
                        <a:defRPr sz="1300" b="0">
                          <a:solidFill>
                            <a:srgbClr val="232B33"/>
                          </a:solidFill>
                        </a:defRPr>
                      </a:pPr>
                      <a:r>
                        <a:t>MILP repair on small cases: the reference</a:t>
                      </a:r>
                    </a:p>
                  </a:txBody>
                  <a:tcPr marT="38100" marB="38100" marL="76200" marR="76200">
                    <a:solidFill>
                      <a:srgbClr val="EDF2F7"/>
                    </a:solidFill>
                  </a:tcPr>
                </a:tc>
                <a:tc>
                  <a:txBody>
                    <a:bodyPr wrap="square"/>
                    <a:lstStyle/>
                    <a:p>
                      <a:pPr>
                        <a:defRPr sz="1300" b="0">
                          <a:solidFill>
                            <a:srgbClr val="232B33"/>
                          </a:solidFill>
                        </a:defRPr>
                      </a:pPr>
                      <a:r>
                        <a:t>Tasks moved; energy; repaired-schedule quality</a:t>
                      </a:r>
                    </a:p>
                  </a:txBody>
                  <a:tcPr marT="38100" marB="38100" marL="76200" marR="76200">
                    <a:solidFill>
                      <a:srgbClr val="EDF2F7"/>
                    </a:solidFill>
                  </a:tcPr>
                </a:tc>
              </a:tr>
            </a:tbl>
          </a:graphicData>
        </a:graphic>
      </p:graphicFrame>
      <p:sp>
        <p:nvSpPr>
          <p:cNvPr id="8" name="Rectangle 7"/>
          <p:cNvSpPr/>
          <p:nvPr/>
        </p:nvSpPr>
        <p:spPr>
          <a:xfrm>
            <a:off x="640080" y="5440680"/>
            <a:ext cx="10881360" cy="868680"/>
          </a:xfrm>
          <a:prstGeom prst="rect">
            <a:avLst/>
          </a:prstGeom>
          <a:solidFill>
            <a:srgbClr val="ED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5440680"/>
            <a:ext cx="109728" cy="86868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513832"/>
            <a:ext cx="10424160" cy="722375"/>
          </a:xfrm>
          <a:prstGeom prst="rect">
            <a:avLst/>
          </a:prstGeom>
          <a:noFill/>
        </p:spPr>
        <p:txBody>
          <a:bodyPr wrap="square" anchor="ctr">
            <a:spAutoFit/>
          </a:bodyPr>
          <a:lstStyle/>
          <a:p>
            <a:pPr>
              <a:defRPr sz="1500" b="0">
                <a:solidFill>
                  <a:srgbClr val="232B33"/>
                </a:solidFill>
              </a:defRPr>
            </a:pPr>
            <a:r>
              <a:t>Take-away:  the platform from paper two already supplies the baselines and the failure injection; the testbed exists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64592" cy="5989320"/>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11338560" cy="640080"/>
          </a:xfrm>
          <a:prstGeom prst="rect">
            <a:avLst/>
          </a:prstGeom>
          <a:noFill/>
        </p:spPr>
        <p:txBody>
          <a:bodyPr wrap="none" anchor="ctr">
            <a:spAutoFit/>
          </a:bodyPr>
          <a:lstStyle/>
          <a:p>
            <a:pPr>
              <a:defRPr sz="2700" b="1">
                <a:solidFill>
                  <a:srgbClr val="FFFFFF"/>
                </a:solidFill>
              </a:defRPr>
            </a:pPr>
            <a:r>
              <a:t>Experiment design, and the hypotheses</a:t>
            </a:r>
          </a:p>
        </p:txBody>
      </p:sp>
      <p:sp>
        <p:nvSpPr>
          <p:cNvPr id="5" name="TextBox 4"/>
          <p:cNvSpPr txBox="1"/>
          <p:nvPr/>
        </p:nvSpPr>
        <p:spPr>
          <a:xfrm>
            <a:off x="457200" y="6473952"/>
            <a:ext cx="10515600" cy="320040"/>
          </a:xfrm>
          <a:prstGeom prst="rect">
            <a:avLst/>
          </a:prstGeom>
          <a:noFill/>
        </p:spPr>
        <p:txBody>
          <a:bodyPr wrap="none">
            <a:spAutoFit/>
          </a:bodyPr>
          <a:lstStyle/>
          <a:p>
            <a:pPr>
              <a:defRPr sz="1000">
                <a:solidFill>
                  <a:srgbClr val="5A646E"/>
                </a:solidFill>
              </a:defRPr>
            </a:pPr>
            <a:r>
              <a:t>6  |  Evaluation plan &amp; timeline</a:t>
            </a:r>
          </a:p>
        </p:txBody>
      </p:sp>
      <p:sp>
        <p:nvSpPr>
          <p:cNvPr id="6" name="TextBox 5"/>
          <p:cNvSpPr txBox="1"/>
          <p:nvPr/>
        </p:nvSpPr>
        <p:spPr>
          <a:xfrm>
            <a:off x="11247120" y="6473952"/>
            <a:ext cx="731520" cy="320040"/>
          </a:xfrm>
          <a:prstGeom prst="rect">
            <a:avLst/>
          </a:prstGeom>
          <a:noFill/>
        </p:spPr>
        <p:txBody>
          <a:bodyPr wrap="none">
            <a:spAutoFit/>
          </a:bodyPr>
          <a:lstStyle/>
          <a:p>
            <a:pPr algn="r">
              <a:defRPr sz="1000">
                <a:solidFill>
                  <a:srgbClr val="5A646E"/>
                </a:solidFill>
              </a:defRPr>
            </a:pPr>
            <a:r>
              <a:t>41</a:t>
            </a:r>
          </a:p>
        </p:txBody>
      </p:sp>
      <p:sp>
        <p:nvSpPr>
          <p:cNvPr id="7" name="TextBox 6"/>
          <p:cNvSpPr txBox="1"/>
          <p:nvPr/>
        </p:nvSpPr>
        <p:spPr>
          <a:xfrm>
            <a:off x="594360" y="1143000"/>
            <a:ext cx="10972800" cy="5120640"/>
          </a:xfrm>
          <a:prstGeom prst="rect">
            <a:avLst/>
          </a:prstGeom>
          <a:noFill/>
        </p:spPr>
        <p:txBody>
          <a:bodyPr wrap="square">
            <a:spAutoFit/>
          </a:bodyPr>
          <a:lstStyle/>
          <a:p>
            <a:pPr>
              <a:spcAft>
                <a:spcPts val="800"/>
              </a:spcAft>
              <a:defRPr sz="1600">
                <a:solidFill>
                  <a:srgbClr val="232B33"/>
                </a:solidFill>
              </a:defRPr>
            </a:pPr>
            <a:r>
              <a:t>Failure injection:</a:t>
            </a:r>
          </a:p>
          <a:p>
            <a:pPr lvl="1">
              <a:spcAft>
                <a:spcPts val="800"/>
              </a:spcAft>
              <a:defRPr sz="1400">
                <a:solidFill>
                  <a:srgbClr val="5A646E"/>
                </a:solidFill>
              </a:defRPr>
            </a:pPr>
            <a:r>
              <a:t>  where it hits: a resource on the critical path versus a peripheral one</a:t>
            </a:r>
          </a:p>
          <a:p>
            <a:pPr lvl="1">
              <a:spcAft>
                <a:spcPts val="800"/>
              </a:spcAft>
              <a:defRPr sz="1400">
                <a:solidFill>
                  <a:srgbClr val="5A646E"/>
                </a:solidFill>
              </a:defRPr>
            </a:pPr>
            <a:r>
              <a:t>  how many: a single resource versus several at once</a:t>
            </a:r>
          </a:p>
          <a:p>
            <a:pPr lvl="1">
              <a:spcAft>
                <a:spcPts val="800"/>
              </a:spcAft>
              <a:defRPr sz="1400">
                <a:solidFill>
                  <a:srgbClr val="5A646E"/>
                </a:solidFill>
              </a:defRPr>
            </a:pPr>
            <a:r>
              <a:t>  when: how much deadline slack remains at tau</a:t>
            </a:r>
          </a:p>
          <a:p>
            <a:pPr>
              <a:spcAft>
                <a:spcPts val="800"/>
              </a:spcAft>
              <a:defRPr sz="1600">
                <a:solidFill>
                  <a:srgbClr val="232B33"/>
                </a:solidFill>
              </a:defRPr>
            </a:pPr>
            <a:r>
              <a:t>Scale: workflows of 10, 100 and 1000 tasks, federations of 2 to 10 nodes</a:t>
            </a:r>
          </a:p>
          <a:p>
            <a:pPr>
              <a:spcAft>
                <a:spcPts val="800"/>
              </a:spcAft>
              <a:defRPr sz="1600">
                <a:solidFill>
                  <a:srgbClr val="232B33"/>
                </a:solidFill>
              </a:defRPr>
            </a:pPr>
            <a:r>
              <a:t>Hypotheses:</a:t>
            </a:r>
          </a:p>
          <a:p>
            <a:pPr lvl="1">
              <a:spcAft>
                <a:spcPts val="800"/>
              </a:spcAft>
              <a:defRPr sz="1400">
                <a:solidFill>
                  <a:srgbClr val="5A646E"/>
                </a:solidFill>
              </a:defRPr>
            </a:pPr>
            <a:r>
              <a:t>  H1: recovery time grows with the size of the region, not the size of the DAG</a:t>
            </a:r>
          </a:p>
          <a:p>
            <a:pPr lvl="1">
              <a:spcAft>
                <a:spcPts val="800"/>
              </a:spcAft>
              <a:defRPr sz="1400">
                <a:solidFill>
                  <a:srgbClr val="5A646E"/>
                </a:solidFill>
              </a:defRPr>
            </a:pPr>
            <a:r>
              <a:t>  H2: tasks moved and data re-shipped are far below the baselines at equal feasibility</a:t>
            </a:r>
          </a:p>
          <a:p>
            <a:pPr lvl="1">
              <a:spcAft>
                <a:spcPts val="800"/>
              </a:spcAft>
              <a:defRPr sz="1400">
                <a:solidFill>
                  <a:srgbClr val="5A646E"/>
                </a:solidFill>
              </a:defRPr>
            </a:pPr>
            <a:r>
              <a:t>  H3: repair quality stays within a small margin of the MILP reference on small cases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64592" cy="5989320"/>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11338560" cy="640080"/>
          </a:xfrm>
          <a:prstGeom prst="rect">
            <a:avLst/>
          </a:prstGeom>
          <a:noFill/>
        </p:spPr>
        <p:txBody>
          <a:bodyPr wrap="none" anchor="ctr">
            <a:spAutoFit/>
          </a:bodyPr>
          <a:lstStyle/>
          <a:p>
            <a:pPr>
              <a:defRPr sz="2700" b="1">
                <a:solidFill>
                  <a:srgbClr val="FFFFFF"/>
                </a:solidFill>
              </a:defRPr>
            </a:pPr>
            <a:r>
              <a:t>Timeline: twelve months</a:t>
            </a:r>
          </a:p>
        </p:txBody>
      </p:sp>
      <p:sp>
        <p:nvSpPr>
          <p:cNvPr id="5" name="TextBox 4"/>
          <p:cNvSpPr txBox="1"/>
          <p:nvPr/>
        </p:nvSpPr>
        <p:spPr>
          <a:xfrm>
            <a:off x="457200" y="6473952"/>
            <a:ext cx="10515600" cy="320040"/>
          </a:xfrm>
          <a:prstGeom prst="rect">
            <a:avLst/>
          </a:prstGeom>
          <a:noFill/>
        </p:spPr>
        <p:txBody>
          <a:bodyPr wrap="none">
            <a:spAutoFit/>
          </a:bodyPr>
          <a:lstStyle/>
          <a:p>
            <a:pPr>
              <a:defRPr sz="1000">
                <a:solidFill>
                  <a:srgbClr val="5A646E"/>
                </a:solidFill>
              </a:defRPr>
            </a:pPr>
            <a:r>
              <a:t>6  |  Evaluation plan &amp; timeline</a:t>
            </a:r>
          </a:p>
        </p:txBody>
      </p:sp>
      <p:sp>
        <p:nvSpPr>
          <p:cNvPr id="6" name="TextBox 5"/>
          <p:cNvSpPr txBox="1"/>
          <p:nvPr/>
        </p:nvSpPr>
        <p:spPr>
          <a:xfrm>
            <a:off x="11247120" y="6473952"/>
            <a:ext cx="731520" cy="320040"/>
          </a:xfrm>
          <a:prstGeom prst="rect">
            <a:avLst/>
          </a:prstGeom>
          <a:noFill/>
        </p:spPr>
        <p:txBody>
          <a:bodyPr wrap="none">
            <a:spAutoFit/>
          </a:bodyPr>
          <a:lstStyle/>
          <a:p>
            <a:pPr algn="r">
              <a:defRPr sz="1000">
                <a:solidFill>
                  <a:srgbClr val="5A646E"/>
                </a:solidFill>
              </a:defRPr>
            </a:pPr>
            <a:r>
              <a:t>42</a:t>
            </a:r>
          </a:p>
        </p:txBody>
      </p:sp>
      <p:graphicFrame>
        <p:nvGraphicFramePr>
          <p:cNvPr id="7" name="Table 6"/>
          <p:cNvGraphicFramePr>
            <a:graphicFrameLocks noGrp="1"/>
          </p:cNvGraphicFramePr>
          <p:nvPr/>
        </p:nvGraphicFramePr>
        <p:xfrm>
          <a:off x="731520" y="1280160"/>
          <a:ext cx="10698480" cy="4023360"/>
        </p:xfrm>
        <a:graphic>
          <a:graphicData uri="http://schemas.openxmlformats.org/drawingml/2006/table">
            <a:tbl>
              <a:tblPr firstRow="1" bandRow="1">
                <a:tableStyleId>{5C22544A-7EE6-4342-B048-85BDC9FD1C3A}</a:tableStyleId>
              </a:tblPr>
              <a:tblGrid>
                <a:gridCol w="1280160"/>
                <a:gridCol w="6400800"/>
                <a:gridCol w="3017520"/>
              </a:tblGrid>
              <a:tr h="804672">
                <a:tc>
                  <a:txBody>
                    <a:bodyPr wrap="square"/>
                    <a:lstStyle/>
                    <a:p>
                      <a:pPr>
                        <a:defRPr sz="1300" b="1">
                          <a:solidFill>
                            <a:srgbClr val="FFFFFF"/>
                          </a:solidFill>
                        </a:defRPr>
                      </a:pPr>
                      <a:r>
                        <a:t>Months</a:t>
                      </a:r>
                    </a:p>
                  </a:txBody>
                  <a:tcPr marT="38100" marB="38100" marL="76200" marR="76200">
                    <a:solidFill>
                      <a:srgbClr val="0B2A4A"/>
                    </a:solidFill>
                  </a:tcPr>
                </a:tc>
                <a:tc>
                  <a:txBody>
                    <a:bodyPr wrap="square"/>
                    <a:lstStyle/>
                    <a:p>
                      <a:pPr>
                        <a:defRPr sz="1300" b="1">
                          <a:solidFill>
                            <a:srgbClr val="FFFFFF"/>
                          </a:solidFill>
                        </a:defRPr>
                      </a:pPr>
                      <a:r>
                        <a:t>Milestone</a:t>
                      </a:r>
                    </a:p>
                  </a:txBody>
                  <a:tcPr marT="38100" marB="38100" marL="76200" marR="76200">
                    <a:solidFill>
                      <a:srgbClr val="0B2A4A"/>
                    </a:solidFill>
                  </a:tcPr>
                </a:tc>
                <a:tc>
                  <a:txBody>
                    <a:bodyPr wrap="square"/>
                    <a:lstStyle/>
                    <a:p>
                      <a:pPr>
                        <a:defRPr sz="1300" b="1">
                          <a:solidFill>
                            <a:srgbClr val="FFFFFF"/>
                          </a:solidFill>
                        </a:defRPr>
                      </a:pPr>
                      <a:r>
                        <a:t>Deliverable</a:t>
                      </a:r>
                    </a:p>
                  </a:txBody>
                  <a:tcPr marT="38100" marB="38100" marL="76200" marR="76200">
                    <a:solidFill>
                      <a:srgbClr val="0B2A4A"/>
                    </a:solidFill>
                  </a:tcPr>
                </a:tc>
              </a:tr>
              <a:tr h="804672">
                <a:tc>
                  <a:txBody>
                    <a:bodyPr wrap="square"/>
                    <a:lstStyle/>
                    <a:p>
                      <a:pPr>
                        <a:defRPr sz="1300" b="0">
                          <a:solidFill>
                            <a:srgbClr val="232B33"/>
                          </a:solidFill>
                        </a:defRPr>
                      </a:pPr>
                      <a:r>
                        <a:t>1-3</a:t>
                      </a:r>
                    </a:p>
                  </a:txBody>
                  <a:tcPr marT="38100" marB="38100" marL="76200" marR="76200">
                    <a:solidFill>
                      <a:srgbClr val="FFFFFF"/>
                    </a:solidFill>
                  </a:tcPr>
                </a:tc>
                <a:tc>
                  <a:txBody>
                    <a:bodyPr wrap="square"/>
                    <a:lstStyle/>
                    <a:p>
                      <a:pPr>
                        <a:defRPr sz="1300" b="0">
                          <a:solidFill>
                            <a:srgbClr val="232B33"/>
                          </a:solidFill>
                        </a:defRPr>
                      </a:pPr>
                      <a:r>
                        <a:t>Extend the simulator to resource failures; boundary rule and affected-subgraph extraction; complete-repartition baseline</a:t>
                      </a:r>
                    </a:p>
                  </a:txBody>
                  <a:tcPr marT="38100" marB="38100" marL="76200" marR="76200">
                    <a:solidFill>
                      <a:srgbClr val="FFFFFF"/>
                    </a:solidFill>
                  </a:tcPr>
                </a:tc>
                <a:tc>
                  <a:txBody>
                    <a:bodyPr wrap="square"/>
                    <a:lstStyle/>
                    <a:p>
                      <a:pPr>
                        <a:defRPr sz="1300" b="0">
                          <a:solidFill>
                            <a:srgbClr val="232B33"/>
                          </a:solidFill>
                        </a:defRPr>
                      </a:pPr>
                      <a:r>
                        <a:t>RQ1 implemented; baseline working</a:t>
                      </a:r>
                    </a:p>
                  </a:txBody>
                  <a:tcPr marT="38100" marB="38100" marL="76200" marR="76200">
                    <a:solidFill>
                      <a:srgbClr val="FFFFFF"/>
                    </a:solidFill>
                  </a:tcPr>
                </a:tc>
              </a:tr>
              <a:tr h="804672">
                <a:tc>
                  <a:txBody>
                    <a:bodyPr wrap="square"/>
                    <a:lstStyle/>
                    <a:p>
                      <a:pPr>
                        <a:defRPr sz="1300" b="0">
                          <a:solidFill>
                            <a:srgbClr val="232B33"/>
                          </a:solidFill>
                        </a:defRPr>
                      </a:pPr>
                      <a:r>
                        <a:t>4-6</a:t>
                      </a:r>
                    </a:p>
                  </a:txBody>
                  <a:tcPr marT="38100" marB="38100" marL="76200" marR="76200">
                    <a:solidFill>
                      <a:srgbClr val="EDF2F7"/>
                    </a:solidFill>
                  </a:tcPr>
                </a:tc>
                <a:tc>
                  <a:txBody>
                    <a:bodyPr wrap="square"/>
                    <a:lstStyle/>
                    <a:p>
                      <a:pPr>
                        <a:defRPr sz="1300" b="0">
                          <a:solidFill>
                            <a:srgbClr val="232B33"/>
                          </a:solidFill>
                        </a:defRPr>
                      </a:pPr>
                      <a:r>
                        <a:t>Repartition algorithm and replacement selection; incremental SPT update</a:t>
                      </a:r>
                    </a:p>
                  </a:txBody>
                  <a:tcPr marT="38100" marB="38100" marL="76200" marR="76200">
                    <a:solidFill>
                      <a:srgbClr val="EDF2F7"/>
                    </a:solidFill>
                  </a:tcPr>
                </a:tc>
                <a:tc>
                  <a:txBody>
                    <a:bodyPr wrap="square"/>
                    <a:lstStyle/>
                    <a:p>
                      <a:pPr>
                        <a:defRPr sz="1300" b="0">
                          <a:solidFill>
                            <a:srgbClr val="232B33"/>
                          </a:solidFill>
                        </a:defRPr>
                      </a:pPr>
                      <a:r>
                        <a:t>RQ2 and RQ3 implemented</a:t>
                      </a:r>
                    </a:p>
                  </a:txBody>
                  <a:tcPr marT="38100" marB="38100" marL="76200" marR="76200">
                    <a:solidFill>
                      <a:srgbClr val="EDF2F7"/>
                    </a:solidFill>
                  </a:tcPr>
                </a:tc>
              </a:tr>
              <a:tr h="804672">
                <a:tc>
                  <a:txBody>
                    <a:bodyPr wrap="square"/>
                    <a:lstStyle/>
                    <a:p>
                      <a:pPr>
                        <a:defRPr sz="1300" b="0">
                          <a:solidFill>
                            <a:srgbClr val="232B33"/>
                          </a:solidFill>
                        </a:defRPr>
                      </a:pPr>
                      <a:r>
                        <a:t>7-9</a:t>
                      </a:r>
                    </a:p>
                  </a:txBody>
                  <a:tcPr marT="38100" marB="38100" marL="76200" marR="76200">
                    <a:solidFill>
                      <a:srgbClr val="FFFFFF"/>
                    </a:solidFill>
                  </a:tcPr>
                </a:tc>
                <a:tc>
                  <a:txBody>
                    <a:bodyPr wrap="square"/>
                    <a:lstStyle/>
                    <a:p>
                      <a:pPr>
                        <a:defRPr sz="1300" b="0">
                          <a:solidFill>
                            <a:srgbClr val="232B33"/>
                          </a:solidFill>
                        </a:defRPr>
                      </a:pPr>
                      <a:r>
                        <a:t>Full baseline comparison; MILP reference on small cases; boundary-rule sensitivity</a:t>
                      </a:r>
                    </a:p>
                  </a:txBody>
                  <a:tcPr marT="38100" marB="38100" marL="76200" marR="76200">
                    <a:solidFill>
                      <a:srgbClr val="FFFFFF"/>
                    </a:solidFill>
                  </a:tcPr>
                </a:tc>
                <a:tc>
                  <a:txBody>
                    <a:bodyPr wrap="square"/>
                    <a:lstStyle/>
                    <a:p>
                      <a:pPr>
                        <a:defRPr sz="1300" b="0">
                          <a:solidFill>
                            <a:srgbClr val="232B33"/>
                          </a:solidFill>
                        </a:defRPr>
                      </a:pPr>
                      <a:r>
                        <a:t>H1-H3 tested</a:t>
                      </a:r>
                    </a:p>
                  </a:txBody>
                  <a:tcPr marT="38100" marB="38100" marL="76200" marR="76200">
                    <a:solidFill>
                      <a:srgbClr val="FFFFFF"/>
                    </a:solidFill>
                  </a:tcPr>
                </a:tc>
              </a:tr>
              <a:tr h="804672">
                <a:tc>
                  <a:txBody>
                    <a:bodyPr wrap="square"/>
                    <a:lstStyle/>
                    <a:p>
                      <a:pPr>
                        <a:defRPr sz="1300" b="0">
                          <a:solidFill>
                            <a:srgbClr val="232B33"/>
                          </a:solidFill>
                        </a:defRPr>
                      </a:pPr>
                      <a:r>
                        <a:t>10-12</a:t>
                      </a:r>
                    </a:p>
                  </a:txBody>
                  <a:tcPr marT="38100" marB="38100" marL="76200" marR="76200">
                    <a:solidFill>
                      <a:srgbClr val="EDF2F7"/>
                    </a:solidFill>
                  </a:tcPr>
                </a:tc>
                <a:tc>
                  <a:txBody>
                    <a:bodyPr wrap="square"/>
                    <a:lstStyle/>
                    <a:p>
                      <a:pPr>
                        <a:defRPr sz="1300" b="0">
                          <a:solidFill>
                            <a:srgbClr val="232B33"/>
                          </a:solidFill>
                        </a:defRPr>
                      </a:pPr>
                      <a:r>
                        <a:t>Write the paper; release the code on the public repository; submit</a:t>
                      </a:r>
                    </a:p>
                  </a:txBody>
                  <a:tcPr marT="38100" marB="38100" marL="76200" marR="76200">
                    <a:solidFill>
                      <a:srgbClr val="EDF2F7"/>
                    </a:solidFill>
                  </a:tcPr>
                </a:tc>
                <a:tc>
                  <a:txBody>
                    <a:bodyPr wrap="square"/>
                    <a:lstStyle/>
                    <a:p>
                      <a:pPr>
                        <a:defRPr sz="1300" b="0">
                          <a:solidFill>
                            <a:srgbClr val="232B33"/>
                          </a:solidFill>
                        </a:defRPr>
                      </a:pPr>
                      <a:r>
                        <a:t>Paper and artifact</a:t>
                      </a:r>
                    </a:p>
                  </a:txBody>
                  <a:tcPr marT="38100" marB="38100" marL="76200" marR="76200">
                    <a:solidFill>
                      <a:srgbClr val="EDF2F7"/>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64592" cy="5989320"/>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11338560" cy="640080"/>
          </a:xfrm>
          <a:prstGeom prst="rect">
            <a:avLst/>
          </a:prstGeom>
          <a:noFill/>
        </p:spPr>
        <p:txBody>
          <a:bodyPr wrap="none" anchor="ctr">
            <a:spAutoFit/>
          </a:bodyPr>
          <a:lstStyle/>
          <a:p>
            <a:pPr>
              <a:defRPr sz="2700" b="1">
                <a:solidFill>
                  <a:srgbClr val="FFFFFF"/>
                </a:solidFill>
              </a:defRPr>
            </a:pPr>
            <a:r>
              <a:t>Risks, and how I plan to handle them</a:t>
            </a:r>
          </a:p>
        </p:txBody>
      </p:sp>
      <p:sp>
        <p:nvSpPr>
          <p:cNvPr id="5" name="TextBox 4"/>
          <p:cNvSpPr txBox="1"/>
          <p:nvPr/>
        </p:nvSpPr>
        <p:spPr>
          <a:xfrm>
            <a:off x="457200" y="6473952"/>
            <a:ext cx="10515600" cy="320040"/>
          </a:xfrm>
          <a:prstGeom prst="rect">
            <a:avLst/>
          </a:prstGeom>
          <a:noFill/>
        </p:spPr>
        <p:txBody>
          <a:bodyPr wrap="none">
            <a:spAutoFit/>
          </a:bodyPr>
          <a:lstStyle/>
          <a:p>
            <a:pPr>
              <a:defRPr sz="1000">
                <a:solidFill>
                  <a:srgbClr val="5A646E"/>
                </a:solidFill>
              </a:defRPr>
            </a:pPr>
            <a:r>
              <a:t>6  |  Evaluation plan &amp; timeline</a:t>
            </a:r>
          </a:p>
        </p:txBody>
      </p:sp>
      <p:sp>
        <p:nvSpPr>
          <p:cNvPr id="6" name="TextBox 5"/>
          <p:cNvSpPr txBox="1"/>
          <p:nvPr/>
        </p:nvSpPr>
        <p:spPr>
          <a:xfrm>
            <a:off x="11247120" y="6473952"/>
            <a:ext cx="731520" cy="320040"/>
          </a:xfrm>
          <a:prstGeom prst="rect">
            <a:avLst/>
          </a:prstGeom>
          <a:noFill/>
        </p:spPr>
        <p:txBody>
          <a:bodyPr wrap="none">
            <a:spAutoFit/>
          </a:bodyPr>
          <a:lstStyle/>
          <a:p>
            <a:pPr algn="r">
              <a:defRPr sz="1000">
                <a:solidFill>
                  <a:srgbClr val="5A646E"/>
                </a:solidFill>
              </a:defRPr>
            </a:pPr>
            <a:r>
              <a:t>43</a:t>
            </a:r>
          </a:p>
        </p:txBody>
      </p:sp>
      <p:sp>
        <p:nvSpPr>
          <p:cNvPr id="7" name="TextBox 6"/>
          <p:cNvSpPr txBox="1"/>
          <p:nvPr/>
        </p:nvSpPr>
        <p:spPr>
          <a:xfrm>
            <a:off x="594360" y="1143000"/>
            <a:ext cx="10972800" cy="5120640"/>
          </a:xfrm>
          <a:prstGeom prst="rect">
            <a:avLst/>
          </a:prstGeom>
          <a:noFill/>
        </p:spPr>
        <p:txBody>
          <a:bodyPr wrap="square">
            <a:spAutoFit/>
          </a:bodyPr>
          <a:lstStyle/>
          <a:p>
            <a:pPr>
              <a:spcAft>
                <a:spcPts val="800"/>
              </a:spcAft>
              <a:defRPr sz="1600">
                <a:solidFill>
                  <a:srgbClr val="232B33"/>
                </a:solidFill>
              </a:defRPr>
            </a:pPr>
            <a:r>
              <a:t>The boundary rule might degenerate into 'repartition everything'</a:t>
            </a:r>
          </a:p>
          <a:p>
            <a:pPr lvl="1">
              <a:spcAft>
                <a:spcPts val="800"/>
              </a:spcAft>
              <a:defRPr sz="1400">
                <a:solidFill>
                  <a:srgbClr val="5A646E"/>
                </a:solidFill>
              </a:defRPr>
            </a:pPr>
            <a:r>
              <a:t>  so the cap on the region size is enforced, and the sensitivity study measures it against failure location and slack</a:t>
            </a:r>
          </a:p>
          <a:p>
            <a:pPr>
              <a:spcAft>
                <a:spcPts val="800"/>
              </a:spcAft>
              <a:defRPr sz="1600">
                <a:solidFill>
                  <a:srgbClr val="232B33"/>
                </a:solidFill>
              </a:defRPr>
            </a:pPr>
            <a:r>
              <a:t>Incremental SPT might not pay off on small graphs</a:t>
            </a:r>
          </a:p>
          <a:p>
            <a:pPr lvl="1">
              <a:spcAft>
                <a:spcPts val="800"/>
              </a:spcAft>
              <a:defRPr sz="1400">
                <a:solidFill>
                  <a:srgbClr val="5A646E"/>
                </a:solidFill>
              </a:defRPr>
            </a:pPr>
            <a:r>
              <a:t>  so we measure the break-even point and keep full recomputation as a baseline</a:t>
            </a:r>
          </a:p>
          <a:p>
            <a:pPr>
              <a:spcAft>
                <a:spcPts val="800"/>
              </a:spcAft>
              <a:defRPr sz="1600">
                <a:solidFill>
                  <a:srgbClr val="232B33"/>
                </a:solidFill>
              </a:defRPr>
            </a:pPr>
            <a:r>
              <a:t>Region repair might trail the MILP quality</a:t>
            </a:r>
          </a:p>
          <a:p>
            <a:pPr lvl="1">
              <a:spcAft>
                <a:spcPts val="800"/>
              </a:spcAft>
              <a:defRPr sz="1400">
                <a:solidFill>
                  <a:srgbClr val="5A646E"/>
                </a:solidFill>
              </a:defRPr>
            </a:pPr>
            <a:r>
              <a:t>  so the strategy is hybrid: greedy repair at scale, MILP repair where the region is small</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64592" cy="598932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11338560" cy="640080"/>
          </a:xfrm>
          <a:prstGeom prst="rect">
            <a:avLst/>
          </a:prstGeom>
          <a:noFill/>
        </p:spPr>
        <p:txBody>
          <a:bodyPr wrap="none" anchor="ctr">
            <a:spAutoFit/>
          </a:bodyPr>
          <a:lstStyle/>
          <a:p>
            <a:pPr>
              <a:defRPr sz="2700" b="1">
                <a:solidFill>
                  <a:srgbClr val="FFFFFF"/>
                </a:solidFill>
              </a:defRPr>
            </a:pPr>
            <a:r>
              <a:t>Conclusion: what this research contributes</a:t>
            </a:r>
          </a:p>
        </p:txBody>
      </p:sp>
      <p:sp>
        <p:nvSpPr>
          <p:cNvPr id="5" name="TextBox 4"/>
          <p:cNvSpPr txBox="1"/>
          <p:nvPr/>
        </p:nvSpPr>
        <p:spPr>
          <a:xfrm>
            <a:off x="457200" y="6473952"/>
            <a:ext cx="10515600" cy="320040"/>
          </a:xfrm>
          <a:prstGeom prst="rect">
            <a:avLst/>
          </a:prstGeom>
          <a:noFill/>
        </p:spPr>
        <p:txBody>
          <a:bodyPr wrap="none">
            <a:spAutoFit/>
          </a:bodyPr>
          <a:lstStyle/>
          <a:p>
            <a:pPr>
              <a:defRPr sz="1000">
                <a:solidFill>
                  <a:srgbClr val="5A646E"/>
                </a:solidFill>
              </a:defRPr>
            </a:pPr>
            <a:r>
              <a:t>7  |  Conclusion</a:t>
            </a:r>
          </a:p>
        </p:txBody>
      </p:sp>
      <p:sp>
        <p:nvSpPr>
          <p:cNvPr id="6" name="TextBox 5"/>
          <p:cNvSpPr txBox="1"/>
          <p:nvPr/>
        </p:nvSpPr>
        <p:spPr>
          <a:xfrm>
            <a:off x="11247120" y="6473952"/>
            <a:ext cx="731520" cy="320040"/>
          </a:xfrm>
          <a:prstGeom prst="rect">
            <a:avLst/>
          </a:prstGeom>
          <a:noFill/>
        </p:spPr>
        <p:txBody>
          <a:bodyPr wrap="none">
            <a:spAutoFit/>
          </a:bodyPr>
          <a:lstStyle/>
          <a:p>
            <a:pPr algn="r">
              <a:defRPr sz="1000">
                <a:solidFill>
                  <a:srgbClr val="5A646E"/>
                </a:solidFill>
              </a:defRPr>
            </a:pPr>
            <a:r>
              <a:t>44</a:t>
            </a:r>
          </a:p>
        </p:txBody>
      </p:sp>
      <p:sp>
        <p:nvSpPr>
          <p:cNvPr id="7" name="TextBox 6"/>
          <p:cNvSpPr txBox="1"/>
          <p:nvPr/>
        </p:nvSpPr>
        <p:spPr>
          <a:xfrm>
            <a:off x="594360" y="1143000"/>
            <a:ext cx="10972800" cy="5120640"/>
          </a:xfrm>
          <a:prstGeom prst="rect">
            <a:avLst/>
          </a:prstGeom>
          <a:noFill/>
        </p:spPr>
        <p:txBody>
          <a:bodyPr wrap="square">
            <a:spAutoFit/>
          </a:bodyPr>
          <a:lstStyle/>
          <a:p>
            <a:pPr>
              <a:spcAft>
                <a:spcPts val="800"/>
              </a:spcAft>
              <a:defRPr sz="1700">
                <a:solidFill>
                  <a:srgbClr val="232B33"/>
                </a:solidFill>
              </a:defRPr>
            </a:pPr>
            <a:r>
              <a:t>Already done: a proved, data-aware formulation, four schedulers on one cost model, and a reproducible platform</a:t>
            </a:r>
          </a:p>
          <a:p>
            <a:pPr>
              <a:spcAft>
                <a:spcPts val="800"/>
              </a:spcAft>
              <a:defRPr sz="1700">
                <a:solidFill>
                  <a:srgbClr val="232B33"/>
                </a:solidFill>
              </a:defRPr>
            </a:pPr>
            <a:r>
              <a:t>Proposed contribution 1: a principled boundary rule for the smallest affected DAG region (RQ1)</a:t>
            </a:r>
          </a:p>
          <a:p>
            <a:pPr>
              <a:spcAft>
                <a:spcPts val="800"/>
              </a:spcAft>
              <a:defRPr sz="1700">
                <a:solidFill>
                  <a:srgbClr val="232B33"/>
                </a:solidFill>
              </a:defRPr>
            </a:pPr>
            <a:r>
              <a:t>Proposed contribution 2: minimal-region repartitioning under a recovery cost model (RQ2)</a:t>
            </a:r>
          </a:p>
          <a:p>
            <a:pPr>
              <a:spcAft>
                <a:spcPts val="800"/>
              </a:spcAft>
              <a:defRPr sz="1700">
                <a:solidFill>
                  <a:srgbClr val="232B33"/>
                </a:solidFill>
              </a:defRPr>
            </a:pPr>
            <a:r>
              <a:t>Proposed contribution 3: incremental path updates for workflow recovery (RQ3)</a:t>
            </a:r>
          </a:p>
          <a:p>
            <a:pPr>
              <a:spcAft>
                <a:spcPts val="800"/>
              </a:spcAft>
              <a:defRPr sz="1700">
                <a:solidFill>
                  <a:srgbClr val="232B33"/>
                </a:solidFill>
              </a:defRPr>
            </a:pPr>
            <a:r>
              <a:t>Expected outcome: recovery that is faster and less disturbing than a complete repartition, at near-reference quality</a:t>
            </a:r>
          </a:p>
          <a:p>
            <a:pPr>
              <a:spcAft>
                <a:spcPts val="800"/>
              </a:spcAft>
              <a:defRPr sz="1700">
                <a:solidFill>
                  <a:srgbClr val="232B33"/>
                </a:solidFill>
              </a:defRPr>
            </a:pPr>
          </a:p>
          <a:p>
            <a:pPr>
              <a:spcAft>
                <a:spcPts val="800"/>
              </a:spcAft>
              <a:defRPr sz="1700">
                <a:solidFill>
                  <a:srgbClr val="232B33"/>
                </a:solidFill>
              </a:defRPr>
            </a:pPr>
            <a:r>
              <a:t>Paper 1 placed the workflow; Paper 2 priced its data and its approximation; Paper 3 keeps it alive when the infrastructure fails.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108960"/>
            <a:ext cx="12191695" cy="82296"/>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0"/>
            <a:ext cx="10332720" cy="1097280"/>
          </a:xfrm>
          <a:prstGeom prst="rect">
            <a:avLst/>
          </a:prstGeom>
          <a:noFill/>
        </p:spPr>
        <p:txBody>
          <a:bodyPr wrap="none">
            <a:spAutoFit/>
          </a:bodyPr>
          <a:lstStyle/>
          <a:p>
            <a:pPr algn="ctr">
              <a:defRPr sz="4800" b="1">
                <a:solidFill>
                  <a:srgbClr val="FFFFFF"/>
                </a:solidFill>
              </a:defRPr>
            </a:pPr>
            <a:r>
              <a:t>Thank you</a:t>
            </a:r>
          </a:p>
        </p:txBody>
      </p:sp>
      <p:sp>
        <p:nvSpPr>
          <p:cNvPr id="5" name="TextBox 4"/>
          <p:cNvSpPr txBox="1"/>
          <p:nvPr/>
        </p:nvSpPr>
        <p:spPr>
          <a:xfrm>
            <a:off x="914400" y="3657600"/>
            <a:ext cx="10332720" cy="1463040"/>
          </a:xfrm>
          <a:prstGeom prst="rect">
            <a:avLst/>
          </a:prstGeom>
          <a:noFill/>
        </p:spPr>
        <p:txBody>
          <a:bodyPr wrap="square">
            <a:spAutoFit/>
          </a:bodyPr>
          <a:lstStyle/>
          <a:p>
            <a:pPr algn="ctr">
              <a:defRPr sz="2000">
                <a:solidFill>
                  <a:srgbClr val="EDF2F7"/>
                </a:solidFill>
              </a:defRPr>
            </a:pPr>
            <a:r>
              <a:t>Questions &amp; discussion</a:t>
            </a:r>
          </a:p>
          <a:p>
            <a:pPr algn="ctr">
              <a:defRPr sz="1500">
                <a:solidFill>
                  <a:srgbClr val="E0A41E"/>
                </a:solidFill>
              </a:defRPr>
            </a:pPr>
            <a:r>
              <a:t>github.com/gayanigupta/data-aware-scheduling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