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my PhD proposal. I will first say why the problem matters, then what is already known, then the work that is done — two papers — and finally the research I am proposing and how I plan to carry it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outline. The first three parts set up the problem. Parts four and five are the completed work. The last two are the proposal itself and the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setting. The running example is a disaster-response workflow that has to run exactly when the network is at its worst.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river basin starting to flood. The response workflow runs as a chain of dependent tasks: sensors feed models, models feed forecasts, forecasts drive plans and alerts. The deadline is not a preference. A forecast that arrives after the water has risen is a forecast nobody uses. And the same event that creates the deadline is often the thing that takes the cloud link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remains is the fog: cell-tower racks, roadside cabinets, platform servers near the event. No single site is strong enough alone, but they keep fast links to each other even when the uplink dies, so federating them creates a small local cloud. The price is that every task now has a choice of where to run, and every choice moves data across a link.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difficulties. First, data movement: every edge in the workflow carries data, and a slow link can make a transfer cost as much as the task itself — so the fastest machine can turn out to be the worst choice. Second, accuracy is tradeable: most of these tasks can run partially. A flood model at eighty percent fidelity still warns people in time. And the two interact, because placement decides the transfers while the fractions decide the runtimes.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example. Two tasks on the same machine: the dependency data between them never touches a link, so the transfer is free. The same two tasks on different machines pay the data size divided by the link bandwidth — forty units of data on a ten-unit link cost four time units, which can be as long as the task itself. This is the cost a bandwidth-blind scheduler never sees.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dissertation is one story told in three papers. The first, published at Cloud Summit, built the model and four schedulers. The second hardened it: data-aware, bounded, stress-tested. The third, which is what I am proposing, asks what happens when a machine fails in the middle of a run. Each paper answers the question the previous one left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related work. Four threads matter here, and I will end on the gap.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point is HEFT: rank the tasks and place each one where it will finish earliest. The family around it — CPOP, PEFT, and the cloud workflow work of Abrishami and of Yu and Buyya — refines the same idea. All of them share three assumptions that do not hold here: tasks run completely, transfers are static edge weights, and the plan is fixed before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fog scheduling literature handles what makes fog hard: small capacities, heterogeneous machines, eligibility. What it mostly does not do is price the links — locality is acknowledged, but per-link bandwidth is rarely a first-class cost. And tasks are still treated as atomic.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shorter threads. Approximate computing trades quality for time — exactly what a tight deadline needs — but it assumes the data is already where it needs to be. On failures: rescheduling work like Sakellariou and Zhao reconsiders a workflow at chosen points but remaps the whole thing; checkpointing and replication recover the work at a real cost; and a whole graph literature updates shortest paths incrementally after a graph change. None of it couples a machine failure to the affected region of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summarizes it. Read each column as a capability. Classic schedulers place tasks but price nothing about data. Fog schedulers add some data awareness. Our completed work adds approximate execution. The last column — repairing only the affected region when a machine fails — is empty. That empty column is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problem pinned down — the static version the completed work solved, and the dynamic version this proposal adds.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graphs. The task graph holds the work: each task has an execution time, an accuracy it returns when run fully, and a list of machines it is allowed to use. Every edge carries dependency data. The infrastructure graph holds the machines: capacity, memory, availability, and the bandwidths between them. A schedule maps one graph onto the other. A failure deletes a node from one graph and strands work in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exact contract. The model takes the task times and accuracies, the data on every edge, and the bandwidth on every link as fixed inputs. It decides only two things per task: which machine it runs on, and how much of it runs. Everything the schedulers can change is in those two columns; everything else is data they must respect.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equation that makes the problem data-aware. If task j ran on node b and its successor i runs on node a, the input has to cross the link: cost D over B. If they sit on the same node the transfer is free. Every method in both papers prices this term; the bandwidth-blind baseline is what happens when it is ignored.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completed work solved this version. Given the two graphs and a deadline: decide where each task runs and how much of it runs, so that every task waits for its data and everything finishes on time — and maximize the average accuracy. It is NP-hard, so the exact solver is the benchmark, not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static problem written as the paper writes it. Maximize average delivered accuracy. The constraints say: every task sits on exactly one permitted node; a task can only run where it is placed; a task cannot start before every predecessor has finished and its data has crossed the link — the line that carries the communication cost; and everything finishes by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adds one event to the same model. Partway through execution, a machine fails and whatever was unfinished on it is stranded. The question is no longer where to put everything — it is which part of the workflow actually needs repair, and where the stranded work should go, disturbing as little as possible. Done work is never redone. Healthy placements never move.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completed work. Paper one established the model and four ways to solve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one made three contributions. It formulated the problem as a mixed-integer program with correctness proofs. It built three scalable schedulers around the same cost model so the differences between them are algorithmic rather than accounting differences. And it showed the formulation holds together on real instances.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to solve the same problem. The mixed-integer program answers it exactly but does not scale — it is the reference. LP rounding drops the integer choices, solves the relaxed problem, and samples a machine per task from the fractional answer. The greedy walks the workflow in dependency order and puts each ready task where it finishes earliest, transfers included; when the deadline is missed it lowers the fraction and retries. The genetic algorithm encodes assignments and fractions as a chromosome and evolves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hardened the model. The additions, the experimental setup, and then the five experiments, each with its take-away.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added four things on top of paper one. A max-accuracy bound so a score finally means something. A bandwidth-blind baseline to show what data-awareness is worth. A retry-once failure model. And an honest account of where each method breaks.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additions make the results interpretable. The bound answers 'how good could the score possibly be': run every task completely and ignore the links. No feasible schedule can beat it, so every score is read against it. The blind baseline answers 'what is data-awareness worth': it reports bound-level scores on schedules that are actually infeasible, which is exactly the failure mode the model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method prices transfers the same way, so differences are algorithmic. The pipeline figure shows the flow: the two graphs go in, a scheduler decides the mapping, and the simulator plays out the transfers and the execution.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algorithm that wins at scale. It walks the DAG in dependency order; at each ready task it prices every eligible node by earliest finish — including the transfer of the inputs — and takes the cheapest. If the schedule misses the deadline it lowers the execution fraction by a step and tries again, down to a floor. One pass is O(nm), so the whole thing is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before the results. A discrete-event simulator in NumPy with the HiGHS solver. The parameters are chosen so a transfer can genuinely rival a task, which is the regime that matters. Four datasets, five experiments, five fresh instances per point.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Tighten the deadline. When it barely fits, the exact solver leads and everything else trails. Give it a little room and the greedy reaches the bound. So the method choice matters exactly where the deadline binds.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federation from two to ten machines. The exact solver and the greedy sit on the bound throughout. The GA and rounding drift further below as the placement space grows while their search budget stays fixed.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workflow instead. At ten tasks everyone is on the bound. At a thousand, only the greedy is still there — in a fifth of a second. Rounding survives but pays about ninety seconds per re-solve, and the GA falls while taking over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model is retry-once: a failed task reruns in place and keeps its accuracy if the retry still meets the deadline. Scores stay flat for everyone; feasibility is where the methods separate. The greedy stays feasible at every rate because it finishes early and leaves room for the retry.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 the model was built for. Degrade every link down to five percent of nominal. The blind baseline reports bound-level scores on schedules that are infeasible. The data-aware methods trade accuracy for feasibility and degrade gracefully.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per-dataset table says the same thing. On small instances everyone ties. On medium, the greedy's makespan is 43 versus about 61 for the rest. At the large sizes only the greedy and the GA even fit in memory, and the greedy holds the bound while the GA pays tens of seconds.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not claim. The exact solver caps near 800 assignment variables. The relaxation reaches a hundred thousand rows at a thousand tasks. The GA runs on one fixed budget. And the failure model is retry-once-in-place. That last limit is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proposal itself. The question, the three research questions inside it, and the method.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in one sentence. When a fog machine fails mid-workflow, repartition and reschedule only the affected part — not the whole workflow — while keeping recovery time, moved tasks, and re-shipped data small. Three research questions decompose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detects the failed machine. Its unfinished tasks are stranded and have to be rescued; completed work is never redone. The subtle decision is the boundary: sometimes a task that ran fine still has to move, because its input now sits across a slow path, or because staying pushes it past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'minimum disturbance' means concretely. The recovery cost has three terms: how much later the workflow finishes, how many tasks changed machines, and how many bytes of data have to be re-shipped to the new machines. The repair minimizes that cost subject to the deadline and the accuracy. Each term is measurable, so the experiments can report them separately.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The existing schedulers make the initial partition — that is paper one. When a failure is detected we isolate the stranded tasks, grow the smallest affected region under the boundary rule, pick replacements by capacity and distance to the parents and children, repartition just that region under the recovery cost model, update only the affected paths, and resume from the last good point.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heart of the proposal. The stranded set is mandatory. Beyond that we grow the region while a neighbor fails one of two stay-tests: it cannot make the deadline if it stays, or its input can no longer reach it in time. We stop when nothing fails a test, or at a size cap. The minimality of that region is the claim we verify.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is a smaller instance of the same optimization family — which is the point: the paper-two schedulers become the region solvers. The recovery objective adds movement terms to the accuracy objective. The boundary anchors enter as fixed arrival times the repair must respect. A greedy repair answers in milliseconds; the exact solver is the reference on small regions.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tasks need new communication paths to their parents and children. Recomputing all shortest paths mid-workflow is too slow, so we reuse dynamic shortest-path updates — the work of Riazi, Khanda, and Dr. Bhowmick's group. Only the paths through the deleted machine and the moved tasks get updated. Using them to drive workflow recovery is, as far as we know, new.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pieces exist separately: dynamic path updates, fog rescheduling, partial reconsideration. Nobody couples them. The novelty is the mapping: a failure in the machine graph becomes the smallest affected region in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 will test it, and when.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baselines: complete repartition, the naive upper bound on disturbance; greedy rescue, the cheapest possible repair; no repair at all, the quality floor; and the exact solver on small cases, the reference. The metrics cover recovery speed, schedule quality, and the cost of the disturbance itself.</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vary what makes recovery hard: where the failure hits — the critical path is the interesting case; how many machines fail at once; how much slack remains; and the scales from paper two. Three hypotheses, each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build, solve, evaluate, write. It starts in August and finishes in Spring 2027. The deliverables land on the public repository, and the paper targets a systems venue such as Euro-Par or IPDPS.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risks. The boundary rule might expand to most of the workflow; incremental path updates might not pay off on small graphs; the region repair might trail the exact solver's quality. Each has a mitigation built into the plan.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completed work gives a proved, data-aware formulation, four schedulers on one cost model, and a reproducible platform. The proposal adds three contributions: a principled boundary rule, minimal-region repartitioning, and the first use of incremental path updates for workflow recovery. Paper one placed the workflow, paper two priced its data and its approximation, and paper three keeps it alive when the infrastructure fails.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4.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463040"/>
            <a:ext cx="10698480" cy="2560320"/>
          </a:xfrm>
          <a:prstGeom prst="rect">
            <a:avLst/>
          </a:prstGeom>
          <a:noFill/>
        </p:spPr>
        <p:txBody>
          <a:bodyPr wrap="square">
            <a:spAutoFit/>
          </a:bodyPr>
          <a:lstStyle/>
          <a:p>
            <a:pPr algn="ctr">
              <a:defRPr sz="3400" b="1">
                <a:solidFill>
                  <a:srgbClr val="1A1A1A"/>
                </a:solidFill>
              </a:defRPr>
            </a:pPr>
            <a:r>
              <a:t>Dynamic Partial Repartitioning of DAG Workflows</a:t>
            </a:r>
          </a:p>
          <a:p>
            <a:pPr algn="ctr">
              <a:defRPr sz="3400" b="1">
                <a:solidFill>
                  <a:srgbClr val="1A1A1A"/>
                </a:solidFill>
              </a:defRPr>
            </a:pPr>
            <a:r>
              <a:t>after Resource Failures in Federated Fog Environments</a:t>
            </a:r>
          </a:p>
          <a:p>
            <a:pPr algn="ctr">
              <a:defRPr sz="1400" b="0">
                <a:solidFill>
                  <a:srgbClr val="1A1A1A"/>
                </a:solidFill>
              </a:defRPr>
            </a:pPr>
          </a:p>
          <a:p>
            <a:pPr algn="ctr">
              <a:defRPr sz="2000" b="0">
                <a:solidFill>
                  <a:srgbClr val="1A1A1A"/>
                </a:solidFill>
              </a:defRPr>
            </a:pPr>
            <a:r>
              <a:t>PhD Research Proposal</a:t>
            </a:r>
          </a:p>
        </p:txBody>
      </p:sp>
      <p:cxnSp>
        <p:nvCxnSpPr>
          <p:cNvPr id="3" name="Connector 2"/>
          <p:cNvCxnSpPr/>
          <p:nvPr/>
        </p:nvCxnSpPr>
        <p:spPr>
          <a:xfrm>
            <a:off x="3840480" y="4206240"/>
            <a:ext cx="448056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4480560"/>
            <a:ext cx="10698480" cy="2011680"/>
          </a:xfrm>
          <a:prstGeom prst="rect">
            <a:avLst/>
          </a:prstGeom>
          <a:noFill/>
        </p:spPr>
        <p:txBody>
          <a:bodyPr wrap="square">
            <a:spAutoFit/>
          </a:bodyPr>
          <a:lstStyle/>
          <a:p>
            <a:pPr algn="ctr">
              <a:defRPr sz="1800">
                <a:solidFill>
                  <a:srgbClr val="1A1A1A"/>
                </a:solidFill>
              </a:defRPr>
            </a:pPr>
            <a:r>
              <a:t>Gayani Gupta</a:t>
            </a:r>
          </a:p>
          <a:p>
            <a:pPr algn="ctr">
              <a:defRPr sz="1600">
                <a:solidFill>
                  <a:srgbClr val="595959"/>
                </a:solidFill>
              </a:defRPr>
            </a:pPr>
            <a:r>
              <a:t>Department of Computer Science and Engineering, University of North Texas</a:t>
            </a:r>
          </a:p>
          <a:p>
            <a:pPr algn="ctr">
              <a:defRPr sz="1600">
                <a:solidFill>
                  <a:srgbClr val="595959"/>
                </a:solidFill>
              </a:defRPr>
            </a:pPr>
            <a:r>
              <a:t>Advisors: Dr. Mohsen Amini Salehi and Dr. Sanjukta Bhowmick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this talk covers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1.  Motivation — disaster-response workflows on federated fog</a:t>
            </a:r>
          </a:p>
          <a:p>
            <a:pPr>
              <a:spcAft>
                <a:spcPts val="1000"/>
              </a:spcAft>
              <a:defRPr sz="1900">
                <a:solidFill>
                  <a:srgbClr val="1A1A1A"/>
                </a:solidFill>
              </a:defRPr>
            </a:pPr>
            <a:r>
              <a:t>•  2.  Related work, and what is still missing</a:t>
            </a:r>
          </a:p>
          <a:p>
            <a:pPr>
              <a:spcAft>
                <a:spcPts val="1000"/>
              </a:spcAft>
              <a:defRPr sz="1900">
                <a:solidFill>
                  <a:srgbClr val="1A1A1A"/>
                </a:solidFill>
              </a:defRPr>
            </a:pPr>
            <a:r>
              <a:t>•  3.  Problem definition — inputs, decisions, objective</a:t>
            </a:r>
          </a:p>
          <a:p>
            <a:pPr>
              <a:spcAft>
                <a:spcPts val="1000"/>
              </a:spcAft>
              <a:defRPr sz="1900">
                <a:solidFill>
                  <a:srgbClr val="1A1A1A"/>
                </a:solidFill>
              </a:defRPr>
            </a:pPr>
            <a:r>
              <a:t>•  4.  Completed work: Paper 1 (published, IEEE Cloud Summit 2025)</a:t>
            </a:r>
          </a:p>
          <a:p>
            <a:pPr>
              <a:spcAft>
                <a:spcPts val="1000"/>
              </a:spcAft>
              <a:defRPr sz="1900">
                <a:solidFill>
                  <a:srgbClr val="1A1A1A"/>
                </a:solidFill>
              </a:defRPr>
            </a:pPr>
            <a:r>
              <a:t>•  5.  Completed work: Paper 2 (in revision, CCGrid 2027), with experimental results</a:t>
            </a:r>
          </a:p>
          <a:p>
            <a:pPr>
              <a:spcAft>
                <a:spcPts val="1000"/>
              </a:spcAft>
              <a:defRPr sz="1900">
                <a:solidFill>
                  <a:srgbClr val="1A1A1A"/>
                </a:solidFill>
              </a:defRPr>
            </a:pPr>
            <a:r>
              <a:t>•  6.  Proposed research: dynamic partial repartitioning after node failures</a:t>
            </a:r>
          </a:p>
          <a:p>
            <a:pPr>
              <a:spcAft>
                <a:spcPts val="1000"/>
              </a:spcAft>
              <a:defRPr sz="1900">
                <a:solidFill>
                  <a:srgbClr val="1A1A1A"/>
                </a:solidFill>
              </a:defRPr>
            </a:pPr>
            <a:r>
              <a:t>•  7.  Evaluation plan, timeline, risks, and expected contributions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1.  Motivation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Why this problem exists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disaster-response workflow</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flood, a wildfire, an offshore platform incident — a workflow that has to finish on time</a:t>
            </a:r>
          </a:p>
          <a:p>
            <a:pPr>
              <a:spcAft>
                <a:spcPts val="1000"/>
              </a:spcAft>
              <a:defRPr sz="2000">
                <a:solidFill>
                  <a:srgbClr val="1A1A1A"/>
                </a:solidFill>
              </a:defRPr>
            </a:pPr>
            <a:r>
              <a:t>•  The deadline is hard: a late forecast is a missed alert, not a result</a:t>
            </a:r>
          </a:p>
          <a:p>
            <a:pPr>
              <a:spcAft>
                <a:spcPts val="1000"/>
              </a:spcAft>
              <a:defRPr sz="2000">
                <a:solidFill>
                  <a:srgbClr val="1A1A1A"/>
                </a:solidFill>
              </a:defRPr>
            </a:pPr>
            <a:r>
              <a:t>•  The same event that creates the deadline often takes the cloud link down with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federated fog is what is left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a:t>
            </a:r>
          </a:p>
        </p:txBody>
      </p:sp>
      <p:sp>
        <p:nvSpPr>
          <p:cNvPr id="6" name="TextBox 5"/>
          <p:cNvSpPr txBox="1"/>
          <p:nvPr/>
        </p:nvSpPr>
        <p:spPr>
          <a:xfrm>
            <a:off x="640080" y="1234440"/>
            <a:ext cx="6035040" cy="5029200"/>
          </a:xfrm>
          <a:prstGeom prst="rect">
            <a:avLst/>
          </a:prstGeom>
          <a:noFill/>
        </p:spPr>
        <p:txBody>
          <a:bodyPr wrap="square">
            <a:spAutoFit/>
          </a:bodyPr>
          <a:lstStyle/>
          <a:p>
            <a:pPr>
              <a:spcAft>
                <a:spcPts val="1000"/>
              </a:spcAft>
              <a:defRPr sz="2000">
                <a:solidFill>
                  <a:srgbClr val="1A1A1A"/>
                </a:solidFill>
              </a:defRPr>
            </a:pPr>
            <a:r>
              <a:t>•  Fog sites near the event — cell-tower racks, roadside cabinets, platform servers</a:t>
            </a:r>
          </a:p>
          <a:p>
            <a:pPr>
              <a:spcAft>
                <a:spcPts val="1000"/>
              </a:spcAft>
              <a:defRPr sz="2000">
                <a:solidFill>
                  <a:srgbClr val="1A1A1A"/>
                </a:solidFill>
              </a:defRPr>
            </a:pPr>
            <a:r>
              <a:t>•  No single site is strong enough for the whole workflow</a:t>
            </a:r>
          </a:p>
          <a:p>
            <a:pPr>
              <a:spcAft>
                <a:spcPts val="1000"/>
              </a:spcAft>
              <a:defRPr sz="2000">
                <a:solidFill>
                  <a:srgbClr val="1A1A1A"/>
                </a:solidFill>
              </a:defRPr>
            </a:pPr>
            <a:r>
              <a:t>•  But they keep fast, stable links to each other even when the cloud uplink is gone</a:t>
            </a:r>
          </a:p>
          <a:p>
            <a:pPr>
              <a:spcAft>
                <a:spcPts val="1000"/>
              </a:spcAft>
              <a:defRPr sz="2000">
                <a:solidFill>
                  <a:srgbClr val="1A1A1A"/>
                </a:solidFill>
              </a:defRPr>
            </a:pPr>
            <a:r>
              <a:t>•  Federating them creates a small local cloud — at a price: every task can now run in many places, and its input has to travel there first</a:t>
            </a:r>
          </a:p>
        </p:txBody>
      </p:sp>
      <p:pic>
        <p:nvPicPr>
          <p:cNvPr id="7" name="Picture 6" descr="federated-fog-architecture.png"/>
          <p:cNvPicPr>
            <a:picLocks noChangeAspect="1"/>
          </p:cNvPicPr>
          <p:nvPr/>
        </p:nvPicPr>
        <p:blipFill>
          <a:blip r:embed="rId3"/>
          <a:stretch>
            <a:fillRect/>
          </a:stretch>
        </p:blipFill>
        <p:spPr>
          <a:xfrm>
            <a:off x="6858000" y="1188720"/>
            <a:ext cx="4937760" cy="3396343"/>
          </a:xfrm>
          <a:prstGeom prst="rect">
            <a:avLst/>
          </a:prstGeom>
        </p:spPr>
      </p:pic>
      <p:sp>
        <p:nvSpPr>
          <p:cNvPr id="8" name="TextBox 7"/>
          <p:cNvSpPr txBox="1"/>
          <p:nvPr/>
        </p:nvSpPr>
        <p:spPr>
          <a:xfrm>
            <a:off x="6858000" y="5943600"/>
            <a:ext cx="4937760" cy="457200"/>
          </a:xfrm>
          <a:prstGeom prst="rect">
            <a:avLst/>
          </a:prstGeom>
          <a:noFill/>
        </p:spPr>
        <p:txBody>
          <a:bodyPr wrap="none">
            <a:spAutoFit/>
          </a:bodyPr>
          <a:lstStyle/>
          <a:p>
            <a:pPr algn="ctr">
              <a:defRPr sz="1300" i="1">
                <a:solidFill>
                  <a:srgbClr val="595959"/>
                </a:solidFill>
              </a:defRPr>
            </a:pPr>
            <a:r>
              <a:t>Fog sites federated around a disaster area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Two things make the scheduling hard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6</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Data movement rivals computation</a:t>
            </a:r>
          </a:p>
          <a:p>
            <a:pPr>
              <a:spcAft>
                <a:spcPts val="1000"/>
              </a:spcAft>
              <a:defRPr sz="1800">
                <a:solidFill>
                  <a:srgbClr val="595959"/>
                </a:solidFill>
              </a:defRPr>
            </a:pPr>
            <a:r>
              <a:t>      – every dependency edge carries data across a link, and the transfer can take as long as the task itself</a:t>
            </a:r>
          </a:p>
          <a:p>
            <a:pPr>
              <a:spcAft>
                <a:spcPts val="1000"/>
              </a:spcAft>
              <a:defRPr sz="2000">
                <a:solidFill>
                  <a:srgbClr val="1A1A1A"/>
                </a:solidFill>
              </a:defRPr>
            </a:pPr>
            <a:r>
              <a:t>•  Accuracy is a tradeable resource</a:t>
            </a:r>
          </a:p>
          <a:p>
            <a:pPr>
              <a:spcAft>
                <a:spcPts val="1000"/>
              </a:spcAft>
              <a:defRPr sz="1800">
                <a:solidFill>
                  <a:srgbClr val="595959"/>
                </a:solidFill>
              </a:defRPr>
            </a:pPr>
            <a:r>
              <a:t>      – a task can run partially — half the work, half the time, half the accuracy — and often that is enough</a:t>
            </a:r>
          </a:p>
          <a:p>
            <a:pPr>
              <a:spcAft>
                <a:spcPts val="1000"/>
              </a:spcAft>
              <a:defRPr sz="2000">
                <a:solidFill>
                  <a:srgbClr val="1A1A1A"/>
                </a:solidFill>
              </a:defRPr>
            </a:pPr>
            <a:r>
              <a:t>•  And the two interact: where a task runs decides its transfer costs, while how much of it runs decides its runtime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small example of the cost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7</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Two tasks on the same machine: the data between them never touches a link — the transfer is free</a:t>
            </a:r>
          </a:p>
          <a:p>
            <a:pPr>
              <a:spcAft>
                <a:spcPts val="1000"/>
              </a:spcAft>
              <a:defRPr sz="2000">
                <a:solidFill>
                  <a:srgbClr val="1A1A1A"/>
                </a:solidFill>
              </a:defRPr>
            </a:pPr>
            <a:r>
              <a:t>•  The same tasks on different machines: the transfer costs (data size ÷ link bandwidth)</a:t>
            </a:r>
          </a:p>
          <a:p>
            <a:pPr>
              <a:spcAft>
                <a:spcPts val="1000"/>
              </a:spcAft>
              <a:defRPr sz="2000">
                <a:solidFill>
                  <a:srgbClr val="1A1A1A"/>
                </a:solidFill>
              </a:defRPr>
            </a:pPr>
            <a:r>
              <a:t>•  Example: 40 units of data on a 10-unit link = 4 time units — as long as a whole task</a:t>
            </a:r>
          </a:p>
          <a:p>
            <a:pPr>
              <a:spcAft>
                <a:spcPts val="1000"/>
              </a:spcAft>
              <a:defRPr sz="2000">
                <a:solidFill>
                  <a:srgbClr val="1A1A1A"/>
                </a:solidFill>
              </a:defRPr>
            </a:pPr>
            <a:r>
              <a:t>•  So the 'fastest' machine can be the worst choice once the transfer is priced in</a:t>
            </a:r>
          </a:p>
          <a:p>
            <a:pPr>
              <a:spcAft>
                <a:spcPts val="400"/>
              </a:spcAft>
            </a:pPr>
          </a:p>
          <a:p>
            <a:pPr>
              <a:spcAft>
                <a:spcPts val="1000"/>
              </a:spcAft>
              <a:defRPr sz="2000">
                <a:solidFill>
                  <a:srgbClr val="1A1A1A"/>
                </a:solidFill>
              </a:defRPr>
            </a:pPr>
            <a:r>
              <a:t>•  A scheduler that ignores this reports a good schedule that is actually 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PhD as three papers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8</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Paper 1 – the model and four schedulers for allocating DAG workflows across federated fog</a:t>
            </a:r>
          </a:p>
          <a:p>
            <a:pPr>
              <a:spcAft>
                <a:spcPts val="1000"/>
              </a:spcAft>
              <a:defRPr sz="1800">
                <a:solidFill>
                  <a:srgbClr val="595959"/>
                </a:solidFill>
              </a:defRPr>
            </a:pPr>
            <a:r>
              <a:t>      – published at IEEE Cloud Summit 2025</a:t>
            </a:r>
          </a:p>
          <a:p>
            <a:pPr>
              <a:spcAft>
                <a:spcPts val="1000"/>
              </a:spcAft>
              <a:defRPr sz="2000">
                <a:solidFill>
                  <a:srgbClr val="1A1A1A"/>
                </a:solidFill>
              </a:defRPr>
            </a:pPr>
            <a:r>
              <a:t>•  Paper 2 – makes the model data-aware: an accuracy bound, retry semantics, bandwidth degradation, scalability limits</a:t>
            </a:r>
          </a:p>
          <a:p>
            <a:pPr>
              <a:spcAft>
                <a:spcPts val="1000"/>
              </a:spcAft>
              <a:defRPr sz="1800">
                <a:solidFill>
                  <a:srgbClr val="595959"/>
                </a:solidFill>
              </a:defRPr>
            </a:pPr>
            <a:r>
              <a:t>      – manuscript in revision for CCGrid 2027</a:t>
            </a:r>
          </a:p>
          <a:p>
            <a:pPr>
              <a:spcAft>
                <a:spcPts val="1000"/>
              </a:spcAft>
              <a:defRPr sz="2000">
                <a:solidFill>
                  <a:srgbClr val="1A1A1A"/>
                </a:solidFill>
              </a:defRPr>
            </a:pPr>
            <a:r>
              <a:t>•  Paper 3 – dynamic partial repartitioning when a machine fails mid-workflow</a:t>
            </a:r>
          </a:p>
          <a:p>
            <a:pPr>
              <a:spcAft>
                <a:spcPts val="1000"/>
              </a:spcAft>
              <a:defRPr sz="1800">
                <a:solidFill>
                  <a:srgbClr val="595959"/>
                </a:solidFill>
              </a:defRPr>
            </a:pPr>
            <a:r>
              <a:t>      – this proposal — six months starting August 2026, finished Spring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2.  Related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Four research threads, and the gap none of them covers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Classic DAG scheduling</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10</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HEFT (Topcuoglu et al., 2002): rank the tasks, place each one where it finishes earliest</a:t>
            </a:r>
          </a:p>
          <a:p>
            <a:pPr>
              <a:spcAft>
                <a:spcPts val="1000"/>
              </a:spcAft>
              <a:defRPr sz="2000">
                <a:solidFill>
                  <a:srgbClr val="1A1A1A"/>
                </a:solidFill>
              </a:defRPr>
            </a:pPr>
            <a:r>
              <a:t>•  CPOP, PEFT, and the cloud workflow schedulers (Abrishami; Yu and Buyya) refine the same idea</a:t>
            </a:r>
          </a:p>
          <a:p>
            <a:pPr>
              <a:spcAft>
                <a:spcPts val="1000"/>
              </a:spcAft>
              <a:defRPr sz="2000">
                <a:solidFill>
                  <a:srgbClr val="1A1A1A"/>
                </a:solidFill>
              </a:defRPr>
            </a:pPr>
            <a:r>
              <a:t>•  All of them assume tasks run completely, transfers are static weights, and the plan is fixed before execution</a:t>
            </a:r>
          </a:p>
          <a:p>
            <a:pPr>
              <a:spcAft>
                <a:spcPts val="1000"/>
              </a:spcAft>
              <a:defRPr sz="2000">
                <a:solidFill>
                  <a:srgbClr val="1A1A1A"/>
                </a:solidFill>
              </a:defRPr>
            </a:pPr>
            <a:r>
              <a:t>•  Our first paper sits in this line: it adds federation and eligibility to the classic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Fog and edge scheduling</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11</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Fog schedulers handle capacity, eligibility, and heterogeneity across edge, fog, and cloud tiers</a:t>
            </a:r>
          </a:p>
          <a:p>
            <a:pPr>
              <a:spcAft>
                <a:spcPts val="1000"/>
              </a:spcAft>
              <a:defRPr sz="2000">
                <a:solidFill>
                  <a:srgbClr val="1A1A1A"/>
                </a:solidFill>
              </a:defRPr>
            </a:pPr>
            <a:r>
              <a:t>•  Locality is acknowledged, but per-link bandwidth is rarely priced as a first-class cost</a:t>
            </a:r>
          </a:p>
          <a:p>
            <a:pPr>
              <a:spcAft>
                <a:spcPts val="1000"/>
              </a:spcAft>
              <a:defRPr sz="2000">
                <a:solidFill>
                  <a:srgbClr val="1A1A1A"/>
                </a:solidFill>
              </a:defRPr>
            </a:pPr>
            <a:r>
              <a:t>•  Tasks are atomic: they run completely or not at all</a:t>
            </a:r>
          </a:p>
          <a:p>
            <a:pPr>
              <a:spcAft>
                <a:spcPts val="1000"/>
              </a:spcAft>
              <a:defRPr sz="2000">
                <a:solidFill>
                  <a:srgbClr val="1A1A1A"/>
                </a:solidFill>
              </a:defRPr>
            </a:pPr>
            <a:r>
              <a:t>•  And failures are handled by restarting, not by repairing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Approximate computing, and failure recovery</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Approximate computing trades quality for time — useful under deadlines</a:t>
            </a:r>
          </a:p>
          <a:p>
            <a:pPr>
              <a:spcAft>
                <a:spcPts val="1000"/>
              </a:spcAft>
              <a:defRPr sz="1800">
                <a:solidFill>
                  <a:srgbClr val="595959"/>
                </a:solidFill>
              </a:defRPr>
            </a:pPr>
            <a:r>
              <a:t>      – but it assumes the data is already where it needs to be; the transfer cost is not part of the trade</a:t>
            </a:r>
          </a:p>
          <a:p>
            <a:pPr>
              <a:spcAft>
                <a:spcPts val="1000"/>
              </a:spcAft>
              <a:defRPr sz="2000">
                <a:solidFill>
                  <a:srgbClr val="1A1A1A"/>
                </a:solidFill>
              </a:defRPr>
            </a:pPr>
            <a:r>
              <a:t>•  Workflow rescheduling remaps the whole DAG at chosen points (Sakellariou and Zhao, 2004)</a:t>
            </a:r>
          </a:p>
          <a:p>
            <a:pPr>
              <a:spcAft>
                <a:spcPts val="1000"/>
              </a:spcAft>
              <a:defRPr sz="2000">
                <a:solidFill>
                  <a:srgbClr val="1A1A1A"/>
                </a:solidFill>
              </a:defRPr>
            </a:pPr>
            <a:r>
              <a:t>•  Checkpointing and replication recover the work, at a real recompute or replication cost</a:t>
            </a:r>
          </a:p>
          <a:p>
            <a:pPr>
              <a:spcAft>
                <a:spcPts val="1000"/>
              </a:spcAft>
              <a:defRPr sz="2000">
                <a:solidFill>
                  <a:srgbClr val="1A1A1A"/>
                </a:solidFill>
              </a:defRPr>
            </a:pPr>
            <a:r>
              <a:t>•  Dynamic shortest-path updates repair routing after a graph change — nobody has used them for workflow repartitioning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gap</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13</a:t>
            </a:r>
          </a:p>
        </p:txBody>
      </p:sp>
      <p:graphicFrame>
        <p:nvGraphicFramePr>
          <p:cNvPr id="6" name="Table 5"/>
          <p:cNvGraphicFramePr>
            <a:graphicFrameLocks noGrp="1"/>
          </p:cNvGraphicFramePr>
          <p:nvPr/>
        </p:nvGraphicFramePr>
        <p:xfrm>
          <a:off x="731520" y="1371600"/>
          <a:ext cx="10698480" cy="3291840"/>
        </p:xfrm>
        <a:graphic>
          <a:graphicData uri="http://schemas.openxmlformats.org/drawingml/2006/table">
            <a:tbl>
              <a:tblPr firstRow="1" bandRow="1">
                <a:tableStyleId>{5C22544A-7EE6-4342-B048-85BDC9FD1C3A}</a:tableStyleId>
              </a:tblPr>
              <a:tblGrid>
                <a:gridCol w="3657600"/>
                <a:gridCol w="1737360"/>
                <a:gridCol w="1737360"/>
                <a:gridCol w="1737360"/>
                <a:gridCol w="1828800"/>
              </a:tblGrid>
              <a:tr h="658368">
                <a:tc>
                  <a:txBody>
                    <a:bodyPr wrap="square"/>
                    <a:lstStyle/>
                    <a:p>
                      <a:pPr>
                        <a:defRPr sz="1400" b="1">
                          <a:solidFill>
                            <a:srgbClr val="1A1A1A"/>
                          </a:solidFill>
                        </a:defRPr>
                      </a:pPr>
                      <a:r>
                        <a:t>Capability</a:t>
                      </a:r>
                    </a:p>
                  </a:txBody>
                  <a:tcPr marT="50800" marB="50800" marL="101600" marR="101600">
                    <a:solidFill>
                      <a:srgbClr val="E8E8E8"/>
                    </a:solidFill>
                  </a:tcPr>
                </a:tc>
                <a:tc>
                  <a:txBody>
                    <a:bodyPr wrap="square"/>
                    <a:lstStyle/>
                    <a:p>
                      <a:pPr>
                        <a:defRPr sz="1400" b="1">
                          <a:solidFill>
                            <a:srgbClr val="1A1A1A"/>
                          </a:solidFill>
                        </a:defRPr>
                      </a:pPr>
                      <a:r>
                        <a:t>Classic (HEFT)</a:t>
                      </a:r>
                    </a:p>
                  </a:txBody>
                  <a:tcPr marT="50800" marB="50800" marL="101600" marR="101600">
                    <a:solidFill>
                      <a:srgbClr val="E8E8E8"/>
                    </a:solidFill>
                  </a:tcPr>
                </a:tc>
                <a:tc>
                  <a:txBody>
                    <a:bodyPr wrap="square"/>
                    <a:lstStyle/>
                    <a:p>
                      <a:pPr>
                        <a:defRPr sz="1400" b="1">
                          <a:solidFill>
                            <a:srgbClr val="1A1A1A"/>
                          </a:solidFill>
                        </a:defRPr>
                      </a:pPr>
                      <a:r>
                        <a:t>Fog schedulers</a:t>
                      </a:r>
                    </a:p>
                  </a:txBody>
                  <a:tcPr marT="50800" marB="50800" marL="101600" marR="101600">
                    <a:solidFill>
                      <a:srgbClr val="E8E8E8"/>
                    </a:solidFill>
                  </a:tcPr>
                </a:tc>
                <a:tc>
                  <a:txBody>
                    <a:bodyPr wrap="square"/>
                    <a:lstStyle/>
                    <a:p>
                      <a:pPr>
                        <a:defRPr sz="1400" b="1">
                          <a:solidFill>
                            <a:srgbClr val="1A1A1A"/>
                          </a:solidFill>
                        </a:defRPr>
                      </a:pPr>
                      <a:r>
                        <a:t>Papers 1+2</a:t>
                      </a:r>
                    </a:p>
                  </a:txBody>
                  <a:tcPr marT="50800" marB="50800" marL="101600" marR="101600">
                    <a:solidFill>
                      <a:srgbClr val="E8E8E8"/>
                    </a:solidFill>
                  </a:tcPr>
                </a:tc>
                <a:tc>
                  <a:txBody>
                    <a:bodyPr wrap="square"/>
                    <a:lstStyle/>
                    <a:p>
                      <a:pPr>
                        <a:defRPr sz="1400" b="1">
                          <a:solidFill>
                            <a:srgbClr val="1A1A1A"/>
                          </a:solidFill>
                        </a:defRPr>
                      </a:pPr>
                      <a:r>
                        <a:t>This proposal</a:t>
                      </a:r>
                    </a:p>
                  </a:txBody>
                  <a:tcPr marT="50800" marB="50800" marL="101600" marR="101600">
                    <a:solidFill>
                      <a:srgbClr val="E8E8E8"/>
                    </a:solidFill>
                  </a:tcPr>
                </a:tc>
              </a:tr>
              <a:tr h="658368">
                <a:tc>
                  <a:txBody>
                    <a:bodyPr wrap="square"/>
                    <a:lstStyle/>
                    <a:p>
                      <a:pPr>
                        <a:defRPr sz="1400" b="0">
                          <a:solidFill>
                            <a:srgbClr val="1A1A1A"/>
                          </a:solidFill>
                        </a:defRPr>
                      </a:pPr>
                      <a:r>
                        <a:t>Heterogeneous placement</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Data transfers priced per link</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partial</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Approximate execution</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Recovery after a failure</a:t>
                      </a:r>
                    </a:p>
                  </a:txBody>
                  <a:tcPr marT="50800" marB="50800" marL="101600" marR="101600">
                    <a:solidFill>
                      <a:srgbClr val="FFFFFF"/>
                    </a:solidFill>
                  </a:tcPr>
                </a:tc>
                <a:tc>
                  <a:txBody>
                    <a:bodyPr wrap="square"/>
                    <a:lstStyle/>
                    <a:p>
                      <a:pPr>
                        <a:defRPr sz="1400" b="0">
                          <a:solidFill>
                            <a:srgbClr val="1A1A1A"/>
                          </a:solidFill>
                        </a:defRPr>
                      </a:pPr>
                      <a:r>
                        <a:t>restart</a:t>
                      </a:r>
                    </a:p>
                  </a:txBody>
                  <a:tcPr marT="50800" marB="50800" marL="101600" marR="101600">
                    <a:solidFill>
                      <a:srgbClr val="FFFFFF"/>
                    </a:solidFill>
                  </a:tcPr>
                </a:tc>
                <a:tc>
                  <a:txBody>
                    <a:bodyPr wrap="square"/>
                    <a:lstStyle/>
                    <a:p>
                      <a:pPr>
                        <a:defRPr sz="1400" b="0">
                          <a:solidFill>
                            <a:srgbClr val="1A1A1A"/>
                          </a:solidFill>
                        </a:defRPr>
                      </a:pPr>
                      <a:r>
                        <a:t>reschedule all</a:t>
                      </a:r>
                    </a:p>
                  </a:txBody>
                  <a:tcPr marT="50800" marB="50800" marL="101600" marR="101600">
                    <a:solidFill>
                      <a:srgbClr val="FFFFFF"/>
                    </a:solidFill>
                  </a:tcPr>
                </a:tc>
                <a:tc>
                  <a:txBody>
                    <a:bodyPr wrap="square"/>
                    <a:lstStyle/>
                    <a:p>
                      <a:pPr>
                        <a:defRPr sz="1400" b="0">
                          <a:solidFill>
                            <a:srgbClr val="1A1A1A"/>
                          </a:solidFill>
                        </a:defRPr>
                      </a:pPr>
                      <a:r>
                        <a:t>retry the task</a:t>
                      </a:r>
                    </a:p>
                  </a:txBody>
                  <a:tcPr marT="50800" marB="50800" marL="101600" marR="101600">
                    <a:solidFill>
                      <a:srgbClr val="FFFFFF"/>
                    </a:solidFill>
                  </a:tcPr>
                </a:tc>
                <a:tc>
                  <a:txBody>
                    <a:bodyPr wrap="square"/>
                    <a:lstStyle/>
                    <a:p>
                      <a:pPr>
                        <a:defRPr sz="1400" b="0">
                          <a:solidFill>
                            <a:srgbClr val="1A1A1A"/>
                          </a:solidFill>
                        </a:defRPr>
                      </a:pPr>
                      <a:r>
                        <a:t>repair only the region</a:t>
                      </a:r>
                    </a:p>
                  </a:txBody>
                  <a:tcPr marT="50800" marB="50800" marL="101600" marR="101600">
                    <a:solidFill>
                      <a:srgbClr val="FFFFFF"/>
                    </a:solidFill>
                  </a:tcPr>
                </a:tc>
              </a:tr>
            </a:tbl>
          </a:graphicData>
        </a:graphic>
      </p:graphicFrame>
      <p:sp>
        <p:nvSpPr>
          <p:cNvPr id="7" name="TextBox 6"/>
          <p:cNvSpPr txBox="1"/>
          <p:nvPr/>
        </p:nvSpPr>
        <p:spPr>
          <a:xfrm>
            <a:off x="640080" y="5120640"/>
            <a:ext cx="10972800" cy="1463040"/>
          </a:xfrm>
          <a:prstGeom prst="rect">
            <a:avLst/>
          </a:prstGeom>
          <a:noFill/>
        </p:spPr>
        <p:txBody>
          <a:bodyPr wrap="square">
            <a:spAutoFit/>
          </a:bodyPr>
          <a:lstStyle/>
          <a:p>
            <a:pPr>
              <a:defRPr sz="1900" b="1" i="0">
                <a:solidFill>
                  <a:srgbClr val="1A1A1A"/>
                </a:solidFill>
              </a:defRPr>
            </a:pPr>
            <a:r>
              <a:t>Nobody couples a machine failure to the smallest affected region of the workflow graph.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3.  Problem definition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Two graphs, one coupling, a hard deadline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model: two graphs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15</a:t>
            </a:r>
          </a:p>
        </p:txBody>
      </p:sp>
      <p:sp>
        <p:nvSpPr>
          <p:cNvPr id="6" name="TextBox 5"/>
          <p:cNvSpPr txBox="1"/>
          <p:nvPr/>
        </p:nvSpPr>
        <p:spPr>
          <a:xfrm>
            <a:off x="640080" y="1234440"/>
            <a:ext cx="5669280" cy="5029200"/>
          </a:xfrm>
          <a:prstGeom prst="rect">
            <a:avLst/>
          </a:prstGeom>
          <a:noFill/>
        </p:spPr>
        <p:txBody>
          <a:bodyPr wrap="square">
            <a:spAutoFit/>
          </a:bodyPr>
          <a:lstStyle/>
          <a:p>
            <a:pPr>
              <a:spcAft>
                <a:spcPts val="1000"/>
              </a:spcAft>
              <a:defRPr sz="2000">
                <a:solidFill>
                  <a:srgbClr val="1A1A1A"/>
                </a:solidFill>
              </a:defRPr>
            </a:pPr>
            <a:r>
              <a:t>•  The task graph holds the work:</a:t>
            </a:r>
          </a:p>
          <a:p>
            <a:pPr>
              <a:spcAft>
                <a:spcPts val="1000"/>
              </a:spcAft>
              <a:defRPr sz="1800">
                <a:solidFill>
                  <a:srgbClr val="595959"/>
                </a:solidFill>
              </a:defRPr>
            </a:pPr>
            <a:r>
              <a:t>      – each task has an execution time, a full-run accuracy, and the machines it is allowed to use</a:t>
            </a:r>
          </a:p>
          <a:p>
            <a:pPr>
              <a:spcAft>
                <a:spcPts val="1000"/>
              </a:spcAft>
              <a:defRPr sz="1800">
                <a:solidFill>
                  <a:srgbClr val="595959"/>
                </a:solidFill>
              </a:defRPr>
            </a:pPr>
            <a:r>
              <a:t>      – every edge carries a chunk of dependency data</a:t>
            </a:r>
          </a:p>
          <a:p>
            <a:pPr>
              <a:spcAft>
                <a:spcPts val="1000"/>
              </a:spcAft>
              <a:defRPr sz="2000">
                <a:solidFill>
                  <a:srgbClr val="1A1A1A"/>
                </a:solidFill>
              </a:defRPr>
            </a:pPr>
            <a:r>
              <a:t>•  The infrastructure graph holds the machines:</a:t>
            </a:r>
          </a:p>
          <a:p>
            <a:pPr>
              <a:spcAft>
                <a:spcPts val="1000"/>
              </a:spcAft>
              <a:defRPr sz="1800">
                <a:solidFill>
                  <a:srgbClr val="595959"/>
                </a:solidFill>
              </a:defRPr>
            </a:pPr>
            <a:r>
              <a:t>      – capacity, memory, availability, and the bandwidth between every pair</a:t>
            </a:r>
          </a:p>
          <a:p>
            <a:pPr>
              <a:spcAft>
                <a:spcPts val="1000"/>
              </a:spcAft>
              <a:defRPr sz="2000">
                <a:solidFill>
                  <a:srgbClr val="1A1A1A"/>
                </a:solidFill>
              </a:defRPr>
            </a:pPr>
            <a:r>
              <a:t>•  A schedule maps tasks onto machines; a failure deletes a machine and strands whatever was on it</a:t>
            </a:r>
          </a:p>
        </p:txBody>
      </p:sp>
      <p:pic>
        <p:nvPicPr>
          <p:cNvPr id="7" name="Picture 6" descr="disaster-response-dag.png"/>
          <p:cNvPicPr>
            <a:picLocks noChangeAspect="1"/>
          </p:cNvPicPr>
          <p:nvPr/>
        </p:nvPicPr>
        <p:blipFill>
          <a:blip r:embed="rId3"/>
          <a:stretch>
            <a:fillRect/>
          </a:stretch>
        </p:blipFill>
        <p:spPr>
          <a:xfrm>
            <a:off x="6675120" y="1280160"/>
            <a:ext cx="5120640" cy="2535385"/>
          </a:xfrm>
          <a:prstGeom prst="rect">
            <a:avLst/>
          </a:prstGeom>
        </p:spPr>
      </p:pic>
      <p:sp>
        <p:nvSpPr>
          <p:cNvPr id="8" name="TextBox 7"/>
          <p:cNvSpPr txBox="1"/>
          <p:nvPr/>
        </p:nvSpPr>
        <p:spPr>
          <a:xfrm>
            <a:off x="6675120" y="5989320"/>
            <a:ext cx="5120640" cy="457200"/>
          </a:xfrm>
          <a:prstGeom prst="rect">
            <a:avLst/>
          </a:prstGeom>
          <a:noFill/>
        </p:spPr>
        <p:txBody>
          <a:bodyPr wrap="none">
            <a:spAutoFit/>
          </a:bodyPr>
          <a:lstStyle/>
          <a:p>
            <a:pPr algn="ctr">
              <a:defRPr sz="1300" i="1">
                <a:solidFill>
                  <a:srgbClr val="595959"/>
                </a:solidFill>
              </a:defRPr>
            </a:pPr>
            <a:r>
              <a:t>A wildfire workflow mapped onto the fog resource network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Inputs and decisions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16</a:t>
            </a:r>
          </a:p>
        </p:txBody>
      </p:sp>
      <p:graphicFrame>
        <p:nvGraphicFramePr>
          <p:cNvPr id="6" name="Table 5"/>
          <p:cNvGraphicFramePr>
            <a:graphicFrameLocks noGrp="1"/>
          </p:cNvGraphicFramePr>
          <p:nvPr/>
        </p:nvGraphicFramePr>
        <p:xfrm>
          <a:off x="822960" y="1371600"/>
          <a:ext cx="10515600" cy="3474720"/>
        </p:xfrm>
        <a:graphic>
          <a:graphicData uri="http://schemas.openxmlformats.org/drawingml/2006/table">
            <a:tbl>
              <a:tblPr firstRow="1" bandRow="1">
                <a:tableStyleId>{5C22544A-7EE6-4342-B048-85BDC9FD1C3A}</a:tableStyleId>
              </a:tblPr>
              <a:tblGrid>
                <a:gridCol w="2011680"/>
                <a:gridCol w="6217920"/>
                <a:gridCol w="2286000"/>
              </a:tblGrid>
              <a:tr h="579120">
                <a:tc>
                  <a:txBody>
                    <a:bodyPr wrap="square"/>
                    <a:lstStyle/>
                    <a:p>
                      <a:pPr>
                        <a:defRPr sz="1500" b="1">
                          <a:solidFill>
                            <a:srgbClr val="1A1A1A"/>
                          </a:solidFill>
                        </a:defRPr>
                      </a:pPr>
                      <a:r>
                        <a:t>Symbol</a:t>
                      </a:r>
                    </a:p>
                  </a:txBody>
                  <a:tcPr marT="50800" marB="50800" marL="101600" marR="101600">
                    <a:solidFill>
                      <a:srgbClr val="E8E8E8"/>
                    </a:solidFill>
                  </a:tcPr>
                </a:tc>
                <a:tc>
                  <a:txBody>
                    <a:bodyPr wrap="square"/>
                    <a:lstStyle/>
                    <a:p>
                      <a:pPr>
                        <a:defRPr sz="1500" b="1">
                          <a:solidFill>
                            <a:srgbClr val="1A1A1A"/>
                          </a:solidFill>
                        </a:defRPr>
                      </a:pPr>
                      <a:r>
                        <a:t>Meaning</a:t>
                      </a:r>
                    </a:p>
                  </a:txBody>
                  <a:tcPr marT="50800" marB="50800" marL="101600" marR="101600">
                    <a:solidFill>
                      <a:srgbClr val="E8E8E8"/>
                    </a:solidFill>
                  </a:tcPr>
                </a:tc>
                <a:tc>
                  <a:txBody>
                    <a:bodyPr wrap="square"/>
                    <a:lstStyle/>
                    <a:p>
                      <a:pPr>
                        <a:defRPr sz="1500" b="1">
                          <a:solidFill>
                            <a:srgbClr val="1A1A1A"/>
                          </a:solidFill>
                        </a:defRPr>
                      </a:pPr>
                      <a:r>
                        <a:t>Fixed input or decided?</a:t>
                      </a:r>
                    </a:p>
                  </a:txBody>
                  <a:tcPr marT="50800" marB="50800" marL="101600" marR="101600">
                    <a:solidFill>
                      <a:srgbClr val="E8E8E8"/>
                    </a:solidFill>
                  </a:tcPr>
                </a:tc>
              </a:tr>
              <a:tr h="579120">
                <a:tc>
                  <a:txBody>
                    <a:bodyPr wrap="square"/>
                    <a:lstStyle/>
                    <a:p>
                      <a:pPr>
                        <a:defRPr sz="1500" b="0">
                          <a:solidFill>
                            <a:srgbClr val="1A1A1A"/>
                          </a:solidFill>
                        </a:defRPr>
                      </a:pPr>
                      <a:r>
                        <a:t>T_i ,  A_i</a:t>
                      </a:r>
                    </a:p>
                  </a:txBody>
                  <a:tcPr marT="50800" marB="50800" marL="101600" marR="101600">
                    <a:solidFill>
                      <a:srgbClr val="FFFFFF"/>
                    </a:solidFill>
                  </a:tcPr>
                </a:tc>
                <a:tc>
                  <a:txBody>
                    <a:bodyPr wrap="square"/>
                    <a:lstStyle/>
                    <a:p>
                      <a:pPr>
                        <a:defRPr sz="1500" b="0">
                          <a:solidFill>
                            <a:srgbClr val="1A1A1A"/>
                          </a:solidFill>
                        </a:defRPr>
                      </a:pPr>
                      <a:r>
                        <a:t>task runtime, and accuracy at a full run</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D_ji</a:t>
                      </a:r>
                    </a:p>
                  </a:txBody>
                  <a:tcPr marT="50800" marB="50800" marL="101600" marR="101600">
                    <a:solidFill>
                      <a:srgbClr val="FFFFFF"/>
                    </a:solidFill>
                  </a:tcPr>
                </a:tc>
                <a:tc>
                  <a:txBody>
                    <a:bodyPr wrap="square"/>
                    <a:lstStyle/>
                    <a:p>
                      <a:pPr>
                        <a:defRPr sz="1500" b="0">
                          <a:solidFill>
                            <a:srgbClr val="1A1A1A"/>
                          </a:solidFill>
                        </a:defRPr>
                      </a:pPr>
                      <a:r>
                        <a:t>data size on each workflow edge</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B_ba</a:t>
                      </a:r>
                    </a:p>
                  </a:txBody>
                  <a:tcPr marT="50800" marB="50800" marL="101600" marR="101600">
                    <a:solidFill>
                      <a:srgbClr val="FFFFFF"/>
                    </a:solidFill>
                  </a:tcPr>
                </a:tc>
                <a:tc>
                  <a:txBody>
                    <a:bodyPr wrap="square"/>
                    <a:lstStyle/>
                    <a:p>
                      <a:pPr>
                        <a:defRPr sz="1500" b="0">
                          <a:solidFill>
                            <a:srgbClr val="1A1A1A"/>
                          </a:solidFill>
                        </a:defRPr>
                      </a:pPr>
                      <a:r>
                        <a:t>bandwidth on each machine link</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e_ia</a:t>
                      </a:r>
                    </a:p>
                  </a:txBody>
                  <a:tcPr marT="50800" marB="50800" marL="101600" marR="101600">
                    <a:solidFill>
                      <a:srgbClr val="FFFFFF"/>
                    </a:solidFill>
                  </a:tcPr>
                </a:tc>
                <a:tc>
                  <a:txBody>
                    <a:bodyPr wrap="square"/>
                    <a:lstStyle/>
                    <a:p>
                      <a:pPr>
                        <a:defRPr sz="1500" b="0">
                          <a:solidFill>
                            <a:srgbClr val="1A1A1A"/>
                          </a:solidFill>
                        </a:defRPr>
                      </a:pPr>
                      <a:r>
                        <a:t>which machine task i runs on</a:t>
                      </a:r>
                    </a:p>
                  </a:txBody>
                  <a:tcPr marT="50800" marB="50800" marL="101600" marR="101600">
                    <a:solidFill>
                      <a:srgbClr val="FFFFFF"/>
                    </a:solidFill>
                  </a:tcPr>
                </a:tc>
                <a:tc>
                  <a:txBody>
                    <a:bodyPr wrap="square"/>
                    <a:lstStyle/>
                    <a:p>
                      <a:pPr>
                        <a:defRPr sz="1500" b="0">
                          <a:solidFill>
                            <a:srgbClr val="1A1A1A"/>
                          </a:solidFill>
                        </a:defRPr>
                      </a:pPr>
                      <a:r>
                        <a:t>decided</a:t>
                      </a:r>
                    </a:p>
                  </a:txBody>
                  <a:tcPr marT="50800" marB="50800" marL="101600" marR="101600">
                    <a:solidFill>
                      <a:srgbClr val="FFFFFF"/>
                    </a:solidFill>
                  </a:tcPr>
                </a:tc>
              </a:tr>
              <a:tr h="579120">
                <a:tc>
                  <a:txBody>
                    <a:bodyPr wrap="square"/>
                    <a:lstStyle/>
                    <a:p>
                      <a:pPr>
                        <a:defRPr sz="1500" b="0">
                          <a:solidFill>
                            <a:srgbClr val="1A1A1A"/>
                          </a:solidFill>
                        </a:defRPr>
                      </a:pPr>
                      <a:r>
                        <a:t>l_ia</a:t>
                      </a:r>
                    </a:p>
                  </a:txBody>
                  <a:tcPr marT="50800" marB="50800" marL="101600" marR="101600">
                    <a:solidFill>
                      <a:srgbClr val="FFFFFF"/>
                    </a:solidFill>
                  </a:tcPr>
                </a:tc>
                <a:tc>
                  <a:txBody>
                    <a:bodyPr wrap="square"/>
                    <a:lstStyle/>
                    <a:p>
                      <a:pPr>
                        <a:defRPr sz="1500" b="0">
                          <a:solidFill>
                            <a:srgbClr val="1A1A1A"/>
                          </a:solidFill>
                        </a:defRPr>
                      </a:pPr>
                      <a:r>
                        <a:t>what fraction of task i runs (0 to 1)</a:t>
                      </a:r>
                    </a:p>
                  </a:txBody>
                  <a:tcPr marT="50800" marB="50800" marL="101600" marR="101600">
                    <a:solidFill>
                      <a:srgbClr val="FFFFFF"/>
                    </a:solidFill>
                  </a:tcPr>
                </a:tc>
                <a:tc>
                  <a:txBody>
                    <a:bodyPr wrap="square"/>
                    <a:lstStyle/>
                    <a:p>
                      <a:pPr>
                        <a:defRPr sz="1500" b="0">
                          <a:solidFill>
                            <a:srgbClr val="1A1A1A"/>
                          </a:solidFill>
                        </a:defRPr>
                      </a:pPr>
                      <a:r>
                        <a:t>decided</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data sizes and bandwidths are given; the only decisions are where each task runs and how much of it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transfer cost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17</a:t>
            </a:r>
          </a:p>
        </p:txBody>
      </p:sp>
      <p:pic>
        <p:nvPicPr>
          <p:cNvPr id="6" name="Picture 5" descr="eq1.png"/>
          <p:cNvPicPr>
            <a:picLocks noChangeAspect="1"/>
          </p:cNvPicPr>
          <p:nvPr/>
        </p:nvPicPr>
        <p:blipFill>
          <a:blip r:embed="rId3"/>
          <a:stretch>
            <a:fillRect/>
          </a:stretch>
        </p:blipFill>
        <p:spPr>
          <a:xfrm>
            <a:off x="2011680" y="1554480"/>
            <a:ext cx="4634431" cy="402596"/>
          </a:xfrm>
          <a:prstGeom prst="rect">
            <a:avLst/>
          </a:prstGeom>
        </p:spPr>
      </p:pic>
      <p:pic>
        <p:nvPicPr>
          <p:cNvPr id="7" name="Picture 6" descr="eq2.png"/>
          <p:cNvPicPr>
            <a:picLocks noChangeAspect="1"/>
          </p:cNvPicPr>
          <p:nvPr/>
        </p:nvPicPr>
        <p:blipFill>
          <a:blip r:embed="rId4"/>
          <a:stretch>
            <a:fillRect/>
          </a:stretch>
        </p:blipFill>
        <p:spPr>
          <a:xfrm>
            <a:off x="2011680" y="2331720"/>
            <a:ext cx="5382437" cy="507605"/>
          </a:xfrm>
          <a:prstGeom prst="rect">
            <a:avLst/>
          </a:prstGeom>
        </p:spPr>
      </p:pic>
      <p:sp>
        <p:nvSpPr>
          <p:cNvPr id="8" name="TextBox 7"/>
          <p:cNvSpPr txBox="1"/>
          <p:nvPr/>
        </p:nvSpPr>
        <p:spPr>
          <a:xfrm>
            <a:off x="640080" y="3749039"/>
            <a:ext cx="10972800" cy="5029200"/>
          </a:xfrm>
          <a:prstGeom prst="rect">
            <a:avLst/>
          </a:prstGeom>
          <a:noFill/>
        </p:spPr>
        <p:txBody>
          <a:bodyPr wrap="square">
            <a:spAutoFit/>
          </a:bodyPr>
          <a:lstStyle/>
          <a:p>
            <a:pPr>
              <a:spcAft>
                <a:spcPts val="1000"/>
              </a:spcAft>
              <a:defRPr sz="2000">
                <a:solidFill>
                  <a:srgbClr val="1A1A1A"/>
                </a:solidFill>
              </a:defRPr>
            </a:pPr>
            <a:r>
              <a:t>•  Same node — the data never touches a link, so the transfer is free</a:t>
            </a:r>
          </a:p>
          <a:p>
            <a:pPr>
              <a:spcAft>
                <a:spcPts val="1000"/>
              </a:spcAft>
              <a:defRPr sz="2000">
                <a:solidFill>
                  <a:srgbClr val="1A1A1A"/>
                </a:solidFill>
              </a:defRPr>
            </a:pPr>
            <a:r>
              <a:t>•  Different nodes — the transfer costs data size over bandwidth, which can rival the task itself</a:t>
            </a:r>
          </a:p>
          <a:p>
            <a:pPr>
              <a:spcAft>
                <a:spcPts val="1000"/>
              </a:spcAft>
              <a:defRPr sz="2000">
                <a:solidFill>
                  <a:srgbClr val="1A1A1A"/>
                </a:solidFill>
              </a:defRPr>
            </a:pPr>
            <a:r>
              <a:t>•  This term is where D_ji and B_ba enter the optimization — and what a bandwidth-blind scheduler never sees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static problem (Papers 1 and 2)</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18</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Given: the task graph, the infrastructure graph, and a deadline</a:t>
            </a:r>
          </a:p>
          <a:p>
            <a:pPr>
              <a:spcAft>
                <a:spcPts val="1000"/>
              </a:spcAft>
              <a:defRPr sz="2000">
                <a:solidFill>
                  <a:srgbClr val="1A1A1A"/>
                </a:solidFill>
              </a:defRPr>
            </a:pPr>
            <a:r>
              <a:t>•  Decide: for every task, which eligible machine it runs on, and how much of it runs</a:t>
            </a:r>
          </a:p>
          <a:p>
            <a:pPr>
              <a:spcAft>
                <a:spcPts val="1000"/>
              </a:spcAft>
              <a:defRPr sz="2000">
                <a:solidFill>
                  <a:srgbClr val="1A1A1A"/>
                </a:solidFill>
              </a:defRPr>
            </a:pPr>
            <a:r>
              <a:t>•  So that: a task starts only after its predecessors finish and their data arrives, and everything is done by the deadline</a:t>
            </a:r>
          </a:p>
          <a:p>
            <a:pPr>
              <a:spcAft>
                <a:spcPts val="1000"/>
              </a:spcAft>
              <a:defRPr sz="2000">
                <a:solidFill>
                  <a:srgbClr val="1A1A1A"/>
                </a:solidFill>
              </a:defRPr>
            </a:pPr>
            <a:r>
              <a:t>•  Maximize: the average accuracy</a:t>
            </a:r>
          </a:p>
          <a:p>
            <a:pPr>
              <a:spcAft>
                <a:spcPts val="400"/>
              </a:spcAft>
            </a:pPr>
          </a:p>
          <a:p>
            <a:pPr>
              <a:spcAft>
                <a:spcPts val="1000"/>
              </a:spcAft>
              <a:defRPr sz="2000">
                <a:solidFill>
                  <a:srgbClr val="1A1A1A"/>
                </a:solidFill>
              </a:defRPr>
            </a:pPr>
            <a:r>
              <a:t>•  NP-hard even on parallel machines — the exact solver is a reference, not the product</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choose a machine and a fraction for every task so the workflow is feasible and its accuracy is maximal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formulation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19</a:t>
            </a:r>
          </a:p>
        </p:txBody>
      </p:sp>
      <p:pic>
        <p:nvPicPr>
          <p:cNvPr id="6" name="Picture 5" descr="eq3.png"/>
          <p:cNvPicPr>
            <a:picLocks noChangeAspect="1"/>
          </p:cNvPicPr>
          <p:nvPr/>
        </p:nvPicPr>
        <p:blipFill>
          <a:blip r:embed="rId3"/>
          <a:stretch>
            <a:fillRect/>
          </a:stretch>
        </p:blipFill>
        <p:spPr>
          <a:xfrm>
            <a:off x="822960" y="1234440"/>
            <a:ext cx="2549197" cy="558352"/>
          </a:xfrm>
          <a:prstGeom prst="rect">
            <a:avLst/>
          </a:prstGeom>
        </p:spPr>
      </p:pic>
      <p:sp>
        <p:nvSpPr>
          <p:cNvPr id="7" name="TextBox 6"/>
          <p:cNvSpPr txBox="1"/>
          <p:nvPr/>
        </p:nvSpPr>
        <p:spPr>
          <a:xfrm>
            <a:off x="822960" y="1965960"/>
            <a:ext cx="10972800" cy="1463040"/>
          </a:xfrm>
          <a:prstGeom prst="rect">
            <a:avLst/>
          </a:prstGeom>
          <a:noFill/>
        </p:spPr>
        <p:txBody>
          <a:bodyPr wrap="square">
            <a:spAutoFit/>
          </a:bodyPr>
          <a:lstStyle/>
          <a:p>
            <a:pPr>
              <a:defRPr sz="1500" b="0" i="0">
                <a:solidFill>
                  <a:srgbClr val="595959"/>
                </a:solidFill>
              </a:defRPr>
            </a:pPr>
            <a:r>
              <a:t>subject to</a:t>
            </a:r>
          </a:p>
        </p:txBody>
      </p:sp>
      <p:pic>
        <p:nvPicPr>
          <p:cNvPr id="8" name="Picture 7" descr="eq4.png"/>
          <p:cNvPicPr>
            <a:picLocks noChangeAspect="1"/>
          </p:cNvPicPr>
          <p:nvPr/>
        </p:nvPicPr>
        <p:blipFill>
          <a:blip r:embed="rId4"/>
          <a:stretch>
            <a:fillRect/>
          </a:stretch>
        </p:blipFill>
        <p:spPr>
          <a:xfrm>
            <a:off x="1005840" y="2331720"/>
            <a:ext cx="1012945" cy="453763"/>
          </a:xfrm>
          <a:prstGeom prst="rect">
            <a:avLst/>
          </a:prstGeom>
        </p:spPr>
      </p:pic>
      <p:sp>
        <p:nvSpPr>
          <p:cNvPr id="9" name="TextBox 8"/>
          <p:cNvSpPr txBox="1"/>
          <p:nvPr/>
        </p:nvSpPr>
        <p:spPr>
          <a:xfrm>
            <a:off x="7863840" y="2377439"/>
            <a:ext cx="3840480" cy="1463040"/>
          </a:xfrm>
          <a:prstGeom prst="rect">
            <a:avLst/>
          </a:prstGeom>
          <a:noFill/>
        </p:spPr>
        <p:txBody>
          <a:bodyPr wrap="square">
            <a:spAutoFit/>
          </a:bodyPr>
          <a:lstStyle/>
          <a:p>
            <a:pPr>
              <a:defRPr sz="1300" b="0" i="1">
                <a:solidFill>
                  <a:srgbClr val="595959"/>
                </a:solidFill>
              </a:defRPr>
            </a:pPr>
            <a:r>
              <a:t>one node per task</a:t>
            </a:r>
          </a:p>
        </p:txBody>
      </p:sp>
      <p:pic>
        <p:nvPicPr>
          <p:cNvPr id="10" name="Picture 9" descr="eq5.png"/>
          <p:cNvPicPr>
            <a:picLocks noChangeAspect="1"/>
          </p:cNvPicPr>
          <p:nvPr/>
        </p:nvPicPr>
        <p:blipFill>
          <a:blip r:embed="rId5"/>
          <a:stretch>
            <a:fillRect/>
          </a:stretch>
        </p:blipFill>
        <p:spPr>
          <a:xfrm>
            <a:off x="1005840" y="2843784"/>
            <a:ext cx="765372" cy="215404"/>
          </a:xfrm>
          <a:prstGeom prst="rect">
            <a:avLst/>
          </a:prstGeom>
        </p:spPr>
      </p:pic>
      <p:sp>
        <p:nvSpPr>
          <p:cNvPr id="11" name="TextBox 10"/>
          <p:cNvSpPr txBox="1"/>
          <p:nvPr/>
        </p:nvSpPr>
        <p:spPr>
          <a:xfrm>
            <a:off x="7863840" y="2889503"/>
            <a:ext cx="3840480" cy="1463040"/>
          </a:xfrm>
          <a:prstGeom prst="rect">
            <a:avLst/>
          </a:prstGeom>
          <a:noFill/>
        </p:spPr>
        <p:txBody>
          <a:bodyPr wrap="square">
            <a:spAutoFit/>
          </a:bodyPr>
          <a:lstStyle/>
          <a:p>
            <a:pPr>
              <a:defRPr sz="1300" b="0" i="1">
                <a:solidFill>
                  <a:srgbClr val="595959"/>
                </a:solidFill>
              </a:defRPr>
            </a:pPr>
            <a:r>
              <a:t>only eligible nodes</a:t>
            </a:r>
          </a:p>
        </p:txBody>
      </p:sp>
      <p:pic>
        <p:nvPicPr>
          <p:cNvPr id="12" name="Picture 11" descr="eq6.png"/>
          <p:cNvPicPr>
            <a:picLocks noChangeAspect="1"/>
          </p:cNvPicPr>
          <p:nvPr/>
        </p:nvPicPr>
        <p:blipFill>
          <a:blip r:embed="rId6"/>
          <a:stretch>
            <a:fillRect/>
          </a:stretch>
        </p:blipFill>
        <p:spPr>
          <a:xfrm>
            <a:off x="1005840" y="3355848"/>
            <a:ext cx="1078401" cy="215680"/>
          </a:xfrm>
          <a:prstGeom prst="rect">
            <a:avLst/>
          </a:prstGeom>
        </p:spPr>
      </p:pic>
      <p:sp>
        <p:nvSpPr>
          <p:cNvPr id="13" name="TextBox 12"/>
          <p:cNvSpPr txBox="1"/>
          <p:nvPr/>
        </p:nvSpPr>
        <p:spPr>
          <a:xfrm>
            <a:off x="7863840" y="3401568"/>
            <a:ext cx="3840480" cy="1463040"/>
          </a:xfrm>
          <a:prstGeom prst="rect">
            <a:avLst/>
          </a:prstGeom>
          <a:noFill/>
        </p:spPr>
        <p:txBody>
          <a:bodyPr wrap="square">
            <a:spAutoFit/>
          </a:bodyPr>
          <a:lstStyle/>
          <a:p>
            <a:pPr>
              <a:defRPr sz="1300" b="0" i="1">
                <a:solidFill>
                  <a:srgbClr val="595959"/>
                </a:solidFill>
              </a:defRPr>
            </a:pPr>
            <a:r>
              <a:t>runs only where placed</a:t>
            </a:r>
          </a:p>
        </p:txBody>
      </p:sp>
      <p:pic>
        <p:nvPicPr>
          <p:cNvPr id="14" name="Picture 13" descr="eq7.png"/>
          <p:cNvPicPr>
            <a:picLocks noChangeAspect="1"/>
          </p:cNvPicPr>
          <p:nvPr/>
        </p:nvPicPr>
        <p:blipFill>
          <a:blip r:embed="rId7"/>
          <a:stretch>
            <a:fillRect/>
          </a:stretch>
        </p:blipFill>
        <p:spPr>
          <a:xfrm>
            <a:off x="1005840" y="3867912"/>
            <a:ext cx="1952302" cy="452641"/>
          </a:xfrm>
          <a:prstGeom prst="rect">
            <a:avLst/>
          </a:prstGeom>
        </p:spPr>
      </p:pic>
      <p:sp>
        <p:nvSpPr>
          <p:cNvPr id="15" name="TextBox 14"/>
          <p:cNvSpPr txBox="1"/>
          <p:nvPr/>
        </p:nvSpPr>
        <p:spPr>
          <a:xfrm>
            <a:off x="7863840" y="3913632"/>
            <a:ext cx="3840480" cy="1463040"/>
          </a:xfrm>
          <a:prstGeom prst="rect">
            <a:avLst/>
          </a:prstGeom>
          <a:noFill/>
        </p:spPr>
        <p:txBody>
          <a:bodyPr wrap="square">
            <a:spAutoFit/>
          </a:bodyPr>
          <a:lstStyle/>
          <a:p>
            <a:pPr>
              <a:defRPr sz="1300" b="0" i="1">
                <a:solidFill>
                  <a:srgbClr val="595959"/>
                </a:solidFill>
              </a:defRPr>
            </a:pPr>
            <a:r>
              <a:t>starts only after inputs arrive</a:t>
            </a:r>
          </a:p>
        </p:txBody>
      </p:sp>
      <p:pic>
        <p:nvPicPr>
          <p:cNvPr id="16" name="Picture 15" descr="eq8.png"/>
          <p:cNvPicPr>
            <a:picLocks noChangeAspect="1"/>
          </p:cNvPicPr>
          <p:nvPr/>
        </p:nvPicPr>
        <p:blipFill>
          <a:blip r:embed="rId8"/>
          <a:stretch>
            <a:fillRect/>
          </a:stretch>
        </p:blipFill>
        <p:spPr>
          <a:xfrm>
            <a:off x="1005840" y="4379976"/>
            <a:ext cx="2205228" cy="452941"/>
          </a:xfrm>
          <a:prstGeom prst="rect">
            <a:avLst/>
          </a:prstGeom>
        </p:spPr>
      </p:pic>
      <p:sp>
        <p:nvSpPr>
          <p:cNvPr id="17" name="TextBox 16"/>
          <p:cNvSpPr txBox="1"/>
          <p:nvPr/>
        </p:nvSpPr>
        <p:spPr>
          <a:xfrm>
            <a:off x="7863840" y="4425696"/>
            <a:ext cx="3840480" cy="1463040"/>
          </a:xfrm>
          <a:prstGeom prst="rect">
            <a:avLst/>
          </a:prstGeom>
          <a:noFill/>
        </p:spPr>
        <p:txBody>
          <a:bodyPr wrap="square">
            <a:spAutoFit/>
          </a:bodyPr>
          <a:lstStyle/>
          <a:p>
            <a:pPr>
              <a:defRPr sz="1300" b="0" i="1">
                <a:solidFill>
                  <a:srgbClr val="595959"/>
                </a:solidFill>
              </a:defRPr>
            </a:pPr>
            <a:r>
              <a:t>completion time</a:t>
            </a:r>
          </a:p>
        </p:txBody>
      </p:sp>
      <p:pic>
        <p:nvPicPr>
          <p:cNvPr id="18" name="Picture 17" descr="eq9.png"/>
          <p:cNvPicPr>
            <a:picLocks noChangeAspect="1"/>
          </p:cNvPicPr>
          <p:nvPr/>
        </p:nvPicPr>
        <p:blipFill>
          <a:blip r:embed="rId9"/>
          <a:stretch>
            <a:fillRect/>
          </a:stretch>
        </p:blipFill>
        <p:spPr>
          <a:xfrm>
            <a:off x="1005840" y="4892040"/>
            <a:ext cx="823709" cy="210503"/>
          </a:xfrm>
          <a:prstGeom prst="rect">
            <a:avLst/>
          </a:prstGeom>
        </p:spPr>
      </p:pic>
      <p:sp>
        <p:nvSpPr>
          <p:cNvPr id="19" name="TextBox 18"/>
          <p:cNvSpPr txBox="1"/>
          <p:nvPr/>
        </p:nvSpPr>
        <p:spPr>
          <a:xfrm>
            <a:off x="7863840" y="4937759"/>
            <a:ext cx="3840480" cy="1463040"/>
          </a:xfrm>
          <a:prstGeom prst="rect">
            <a:avLst/>
          </a:prstGeom>
          <a:noFill/>
        </p:spPr>
        <p:txBody>
          <a:bodyPr wrap="square">
            <a:spAutoFit/>
          </a:bodyPr>
          <a:lstStyle/>
          <a:p>
            <a:pPr>
              <a:defRPr sz="1300" b="0" i="1">
                <a:solidFill>
                  <a:srgbClr val="595959"/>
                </a:solidFill>
              </a:defRPr>
            </a:pPr>
            <a:r>
              <a:t>deadline</a:t>
            </a:r>
          </a:p>
        </p:txBody>
      </p:sp>
      <p:pic>
        <p:nvPicPr>
          <p:cNvPr id="20" name="Picture 19" descr="eq10.png"/>
          <p:cNvPicPr>
            <a:picLocks noChangeAspect="1"/>
          </p:cNvPicPr>
          <p:nvPr/>
        </p:nvPicPr>
        <p:blipFill>
          <a:blip r:embed="rId10"/>
          <a:stretch>
            <a:fillRect/>
          </a:stretch>
        </p:blipFill>
        <p:spPr>
          <a:xfrm>
            <a:off x="1005840" y="5404104"/>
            <a:ext cx="1128944" cy="220282"/>
          </a:xfrm>
          <a:prstGeom prst="rect">
            <a:avLst/>
          </a:prstGeom>
        </p:spPr>
      </p:pic>
      <p:sp>
        <p:nvSpPr>
          <p:cNvPr id="21" name="TextBox 20"/>
          <p:cNvSpPr txBox="1"/>
          <p:nvPr/>
        </p:nvSpPr>
        <p:spPr>
          <a:xfrm>
            <a:off x="7863840" y="5449824"/>
            <a:ext cx="3840480" cy="1463040"/>
          </a:xfrm>
          <a:prstGeom prst="rect">
            <a:avLst/>
          </a:prstGeom>
          <a:noFill/>
        </p:spPr>
        <p:txBody>
          <a:bodyPr wrap="square">
            <a:spAutoFit/>
          </a:bodyPr>
          <a:lstStyle/>
          <a:p>
            <a:pPr>
              <a:defRPr sz="1300" b="0" i="1">
                <a:solidFill>
                  <a:srgbClr val="595959"/>
                </a:solidFill>
              </a:defRPr>
            </a:pPr>
            <a:r>
              <a:t>placement is binary</a:t>
            </a:r>
          </a:p>
        </p:txBody>
      </p:sp>
      <p:cxnSp>
        <p:nvCxnSpPr>
          <p:cNvPr id="22" name="Connector 21"/>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line M_ia ≥ y_j + Σ e_jb c_ji is where data size and bandwidth enter the optimization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dynamic problem (Paper 3)</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20</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Event: partway through the run, a machine fails; its unfinished tasks are stranded</a:t>
            </a:r>
          </a:p>
          <a:p>
            <a:pPr>
              <a:spcAft>
                <a:spcPts val="1000"/>
              </a:spcAft>
              <a:defRPr sz="2000">
                <a:solidFill>
                  <a:srgbClr val="1A1A1A"/>
                </a:solidFill>
              </a:defRPr>
            </a:pPr>
            <a:r>
              <a:t>•  Decide: which part of the workflow has to be repaired, and where its tasks go on the surviving machines</a:t>
            </a:r>
          </a:p>
          <a:p>
            <a:pPr>
              <a:spcAft>
                <a:spcPts val="1000"/>
              </a:spcAft>
              <a:defRPr sz="2000">
                <a:solidFill>
                  <a:srgbClr val="1A1A1A"/>
                </a:solidFill>
              </a:defRPr>
            </a:pPr>
            <a:r>
              <a:t>•  So that: completed work never restarts, healthy placements never move, and the deadline still holds</a:t>
            </a:r>
          </a:p>
          <a:p>
            <a:pPr>
              <a:spcAft>
                <a:spcPts val="1000"/>
              </a:spcAft>
              <a:defRPr sz="2000">
                <a:solidFill>
                  <a:srgbClr val="1A1A1A"/>
                </a:solidFill>
              </a:defRPr>
            </a:pPr>
            <a:r>
              <a:t>•  Minimize: the recovery cost — added runtime, tasks moved, data re-shipped — while keeping the accuracy</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repair only what the failure broke — done work is never redone and healthy placements never move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4.  Paper 1 — completed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Task allocation across federated fog — published at IEEE Cloud Summit 2025</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1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1 did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Formulated the joint problem — where each task runs and how much of it runs — as a mixed-integer program</a:t>
            </a:r>
          </a:p>
          <a:p>
            <a:pPr>
              <a:spcAft>
                <a:spcPts val="1000"/>
              </a:spcAft>
              <a:defRPr sz="2000">
                <a:solidFill>
                  <a:srgbClr val="1A1A1A"/>
                </a:solidFill>
              </a:defRPr>
            </a:pPr>
            <a:r>
              <a:t>•  Proved the formulation correct: unique assignment, respected precedence, held deadline, optimal accuracy</a:t>
            </a:r>
          </a:p>
          <a:p>
            <a:pPr>
              <a:spcAft>
                <a:spcPts val="1000"/>
              </a:spcAft>
              <a:defRPr sz="2000">
                <a:solidFill>
                  <a:srgbClr val="1A1A1A"/>
                </a:solidFill>
              </a:defRPr>
            </a:pPr>
            <a:r>
              <a:t>•  Built three scalable schedulers on the same cost model: LP rounding, a data-aware greedy, and a genetic algorithm</a:t>
            </a:r>
          </a:p>
          <a:p>
            <a:pPr>
              <a:spcAft>
                <a:spcPts val="1000"/>
              </a:spcAft>
              <a:defRPr sz="2000">
                <a:solidFill>
                  <a:srgbClr val="1A1A1A"/>
                </a:solidFill>
              </a:defRPr>
            </a:pPr>
            <a:r>
              <a:t>•  Published at IEEE Cloud Summit 2025</a:t>
            </a:r>
          </a:p>
          <a:p>
            <a:pPr>
              <a:spcAft>
                <a:spcPts val="400"/>
              </a:spcAft>
            </a:pPr>
          </a:p>
          <a:p>
            <a:pPr>
              <a:spcAft>
                <a:spcPts val="1000"/>
              </a:spcAft>
              <a:defRPr sz="2000">
                <a:solidFill>
                  <a:srgbClr val="1A1A1A"/>
                </a:solidFill>
              </a:defRPr>
            </a:pPr>
            <a:r>
              <a:t>•  What it left open: no bound to score against, no link-degradation study, no machine-level failures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paper 1 delivered the model, the proofs, and four schedulers on one cost model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1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four schedulers, in plain terms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23</a:t>
            </a:r>
          </a:p>
        </p:txBody>
      </p:sp>
      <p:graphicFrame>
        <p:nvGraphicFramePr>
          <p:cNvPr id="6" name="Table 5"/>
          <p:cNvGraphicFramePr>
            <a:graphicFrameLocks noGrp="1"/>
          </p:cNvGraphicFramePr>
          <p:nvPr/>
        </p:nvGraphicFramePr>
        <p:xfrm>
          <a:off x="640080" y="1280160"/>
          <a:ext cx="10972800" cy="4023360"/>
        </p:xfrm>
        <a:graphic>
          <a:graphicData uri="http://schemas.openxmlformats.org/drawingml/2006/table">
            <a:tbl>
              <a:tblPr firstRow="1" bandRow="1">
                <a:tableStyleId>{5C22544A-7EE6-4342-B048-85BDC9FD1C3A}</a:tableStyleId>
              </a:tblPr>
              <a:tblGrid>
                <a:gridCol w="2377440"/>
                <a:gridCol w="6035040"/>
                <a:gridCol w="2560320"/>
              </a:tblGrid>
              <a:tr h="804672">
                <a:tc>
                  <a:txBody>
                    <a:bodyPr wrap="square"/>
                    <a:lstStyle/>
                    <a:p>
                      <a:pPr>
                        <a:defRPr sz="1400" b="1">
                          <a:solidFill>
                            <a:srgbClr val="1A1A1A"/>
                          </a:solidFill>
                        </a:defRPr>
                      </a:pPr>
                      <a:r>
                        <a:t>Scheduler</a:t>
                      </a:r>
                    </a:p>
                  </a:txBody>
                  <a:tcPr marT="50800" marB="50800" marL="101600" marR="101600">
                    <a:solidFill>
                      <a:srgbClr val="E8E8E8"/>
                    </a:solidFill>
                  </a:tcPr>
                </a:tc>
                <a:tc>
                  <a:txBody>
                    <a:bodyPr wrap="square"/>
                    <a:lstStyle/>
                    <a:p>
                      <a:pPr>
                        <a:defRPr sz="1400" b="1">
                          <a:solidFill>
                            <a:srgbClr val="1A1A1A"/>
                          </a:solidFill>
                        </a:defRPr>
                      </a:pPr>
                      <a:r>
                        <a:t>How it works</a:t>
                      </a:r>
                    </a:p>
                  </a:txBody>
                  <a:tcPr marT="50800" marB="50800" marL="101600" marR="101600">
                    <a:solidFill>
                      <a:srgbClr val="E8E8E8"/>
                    </a:solidFill>
                  </a:tcPr>
                </a:tc>
                <a:tc>
                  <a:txBody>
                    <a:bodyPr wrap="square"/>
                    <a:lstStyle/>
                    <a:p>
                      <a:pPr>
                        <a:defRPr sz="1400" b="1">
                          <a:solidFill>
                            <a:srgbClr val="1A1A1A"/>
                          </a:solidFill>
                        </a:defRPr>
                      </a:pPr>
                      <a:r>
                        <a:t>Cost</a:t>
                      </a:r>
                    </a:p>
                  </a:txBody>
                  <a:tcPr marT="50800" marB="50800" marL="101600" marR="101600">
                    <a:solidFill>
                      <a:srgbClr val="E8E8E8"/>
                    </a:solidFill>
                  </a:tcPr>
                </a:tc>
              </a:tr>
              <a:tr h="804672">
                <a:tc>
                  <a:txBody>
                    <a:bodyPr wrap="square"/>
                    <a:lstStyle/>
                    <a:p>
                      <a:pPr>
                        <a:defRPr sz="1400" b="0">
                          <a:solidFill>
                            <a:srgbClr val="1A1A1A"/>
                          </a:solidFill>
                        </a:defRPr>
                      </a:pPr>
                      <a:r>
                        <a:t>Exact (MILP)</a:t>
                      </a:r>
                    </a:p>
                  </a:txBody>
                  <a:tcPr marT="50800" marB="50800" marL="101600" marR="101600">
                    <a:solidFill>
                      <a:srgbClr val="FFFFFF"/>
                    </a:solidFill>
                  </a:tcPr>
                </a:tc>
                <a:tc>
                  <a:txBody>
                    <a:bodyPr wrap="square"/>
                    <a:lstStyle/>
                    <a:p>
                      <a:pPr>
                        <a:defRPr sz="1400" b="0">
                          <a:solidFill>
                            <a:srgbClr val="1A1A1A"/>
                          </a:solidFill>
                        </a:defRPr>
                      </a:pPr>
                      <a:r>
                        <a:t>Solves the problem optimally; the reference</a:t>
                      </a:r>
                    </a:p>
                  </a:txBody>
                  <a:tcPr marT="50800" marB="50800" marL="101600" marR="101600">
                    <a:solidFill>
                      <a:srgbClr val="FFFFFF"/>
                    </a:solidFill>
                  </a:tcPr>
                </a:tc>
                <a:tc>
                  <a:txBody>
                    <a:bodyPr wrap="square"/>
                    <a:lstStyle/>
                    <a:p>
                      <a:pPr>
                        <a:defRPr sz="1400" b="0">
                          <a:solidFill>
                            <a:srgbClr val="1A1A1A"/>
                          </a:solidFill>
                        </a:defRPr>
                      </a:pPr>
                      <a:r>
                        <a:t>does not scale past ~800 variables</a:t>
                      </a:r>
                    </a:p>
                  </a:txBody>
                  <a:tcPr marT="50800" marB="50800" marL="101600" marR="101600">
                    <a:solidFill>
                      <a:srgbClr val="FFFFFF"/>
                    </a:solidFill>
                  </a:tcPr>
                </a:tc>
              </a:tr>
              <a:tr h="804672">
                <a:tc>
                  <a:txBody>
                    <a:bodyPr wrap="square"/>
                    <a:lstStyle/>
                    <a:p>
                      <a:pPr>
                        <a:defRPr sz="1400" b="0">
                          <a:solidFill>
                            <a:srgbClr val="1A1A1A"/>
                          </a:solidFill>
                        </a:defRPr>
                      </a:pPr>
                      <a:r>
                        <a:t>LP rounding</a:t>
                      </a:r>
                    </a:p>
                  </a:txBody>
                  <a:tcPr marT="50800" marB="50800" marL="101600" marR="101600">
                    <a:solidFill>
                      <a:srgbClr val="FFFFFF"/>
                    </a:solidFill>
                  </a:tcPr>
                </a:tc>
                <a:tc>
                  <a:txBody>
                    <a:bodyPr wrap="square"/>
                    <a:lstStyle/>
                    <a:p>
                      <a:pPr>
                        <a:defRPr sz="1400" b="0">
                          <a:solidFill>
                            <a:srgbClr val="1A1A1A"/>
                          </a:solidFill>
                        </a:defRPr>
                      </a:pPr>
                      <a:r>
                        <a:t>Relaxes the integer choices, samples a machine per task, re-solves the fractions</a:t>
                      </a:r>
                    </a:p>
                  </a:txBody>
                  <a:tcPr marT="50800" marB="50800" marL="101600" marR="101600">
                    <a:solidFill>
                      <a:srgbClr val="FFFFFF"/>
                    </a:solidFill>
                  </a:tcPr>
                </a:tc>
                <a:tc>
                  <a:txBody>
                    <a:bodyPr wrap="square"/>
                    <a:lstStyle/>
                    <a:p>
                      <a:pPr>
                        <a:defRPr sz="1400" b="0">
                          <a:solidFill>
                            <a:srgbClr val="1A1A1A"/>
                          </a:solidFill>
                        </a:defRPr>
                      </a:pPr>
                      <a:r>
                        <a:t>up to ~90 s per re-solve</a:t>
                      </a:r>
                    </a:p>
                  </a:txBody>
                  <a:tcPr marT="50800" marB="50800" marL="101600" marR="101600">
                    <a:solidFill>
                      <a:srgbClr val="FFFFFF"/>
                    </a:solidFill>
                  </a:tcPr>
                </a:tc>
              </a:tr>
              <a:tr h="804672">
                <a:tc>
                  <a:txBody>
                    <a:bodyPr wrap="square"/>
                    <a:lstStyle/>
                    <a:p>
                      <a:pPr>
                        <a:defRPr sz="1400" b="0">
                          <a:solidFill>
                            <a:srgbClr val="1A1A1A"/>
                          </a:solidFill>
                        </a:defRPr>
                      </a:pPr>
                      <a:r>
                        <a:t>Data-aware greedy</a:t>
                      </a:r>
                    </a:p>
                  </a:txBody>
                  <a:tcPr marT="50800" marB="50800" marL="101600" marR="101600">
                    <a:solidFill>
                      <a:srgbClr val="FFFFFF"/>
                    </a:solidFill>
                  </a:tcPr>
                </a:tc>
                <a:tc>
                  <a:txBody>
                    <a:bodyPr wrap="square"/>
                    <a:lstStyle/>
                    <a:p>
                      <a:pPr>
                        <a:defRPr sz="1400" b="0">
                          <a:solidFill>
                            <a:srgbClr val="1A1A1A"/>
                          </a:solidFill>
                        </a:defRPr>
                      </a:pPr>
                      <a:r>
                        <a:t>Each ready task goes where it finishes earliest, transfers included; retries smaller fractions on a miss</a:t>
                      </a:r>
                    </a:p>
                  </a:txBody>
                  <a:tcPr marT="50800" marB="50800" marL="101600" marR="101600">
                    <a:solidFill>
                      <a:srgbClr val="FFFFFF"/>
                    </a:solidFill>
                  </a:tcPr>
                </a:tc>
                <a:tc>
                  <a:txBody>
                    <a:bodyPr wrap="square"/>
                    <a:lstStyle/>
                    <a:p>
                      <a:pPr>
                        <a:defRPr sz="1400" b="0">
                          <a:solidFill>
                            <a:srgbClr val="1A1A1A"/>
                          </a:solidFill>
                        </a:defRPr>
                      </a:pPr>
                      <a:r>
                        <a:t>milliseconds</a:t>
                      </a:r>
                    </a:p>
                  </a:txBody>
                  <a:tcPr marT="50800" marB="50800" marL="101600" marR="101600">
                    <a:solidFill>
                      <a:srgbClr val="FFFFFF"/>
                    </a:solidFill>
                  </a:tcPr>
                </a:tc>
              </a:tr>
              <a:tr h="804672">
                <a:tc>
                  <a:txBody>
                    <a:bodyPr wrap="square"/>
                    <a:lstStyle/>
                    <a:p>
                      <a:pPr>
                        <a:defRPr sz="1400" b="0">
                          <a:solidFill>
                            <a:srgbClr val="1A1A1A"/>
                          </a:solidFill>
                        </a:defRPr>
                      </a:pPr>
                      <a:r>
                        <a:t>Genetic algorithm</a:t>
                      </a:r>
                    </a:p>
                  </a:txBody>
                  <a:tcPr marT="50800" marB="50800" marL="101600" marR="101600">
                    <a:solidFill>
                      <a:srgbClr val="FFFFFF"/>
                    </a:solidFill>
                  </a:tcPr>
                </a:tc>
                <a:tc>
                  <a:txBody>
                    <a:bodyPr wrap="square"/>
                    <a:lstStyle/>
                    <a:p>
                      <a:pPr>
                        <a:defRPr sz="1400" b="0">
                          <a:solidFill>
                            <a:srgbClr val="1A1A1A"/>
                          </a:solidFill>
                        </a:defRPr>
                      </a:pPr>
                      <a:r>
                        <a:t>Assignments and fractions as one chromosome, evolved together</a:t>
                      </a:r>
                    </a:p>
                  </a:txBody>
                  <a:tcPr marT="50800" marB="50800" marL="101600" marR="101600">
                    <a:solidFill>
                      <a:srgbClr val="FFFFFF"/>
                    </a:solidFill>
                  </a:tcPr>
                </a:tc>
                <a:tc>
                  <a:txBody>
                    <a:bodyPr wrap="square"/>
                    <a:lstStyle/>
                    <a:p>
                      <a:pPr>
                        <a:defRPr sz="1400" b="0">
                          <a:solidFill>
                            <a:srgbClr val="1A1A1A"/>
                          </a:solidFill>
                        </a:defRPr>
                      </a:pPr>
                      <a:r>
                        <a:t>5–70 s per instance</a:t>
                      </a:r>
                    </a:p>
                  </a:txBody>
                  <a:tcPr marT="50800" marB="50800" marL="101600" marR="101600">
                    <a:solidFill>
                      <a:srgbClr val="FFFFFF"/>
                    </a:solidFill>
                  </a:tcPr>
                </a:tc>
              </a:tr>
            </a:tbl>
          </a:graphicData>
        </a:graphic>
      </p:graphicFrame>
      <p:sp>
        <p:nvSpPr>
          <p:cNvPr id="7" name="TextBox 6"/>
          <p:cNvSpPr txBox="1"/>
          <p:nvPr/>
        </p:nvSpPr>
        <p:spPr>
          <a:xfrm>
            <a:off x="731520" y="5486400"/>
            <a:ext cx="10972800" cy="1463040"/>
          </a:xfrm>
          <a:prstGeom prst="rect">
            <a:avLst/>
          </a:prstGeom>
          <a:noFill/>
        </p:spPr>
        <p:txBody>
          <a:bodyPr wrap="square">
            <a:spAutoFit/>
          </a:bodyPr>
          <a:lstStyle/>
          <a:p>
            <a:pPr>
              <a:defRPr sz="1300" b="0" i="1">
                <a:solidFill>
                  <a:srgbClr val="595959"/>
                </a:solidFill>
              </a:defRPr>
            </a:pPr>
            <a:r>
              <a:t>GA fitness — accuracy minus deadline penalties:</a:t>
            </a:r>
          </a:p>
        </p:txBody>
      </p:sp>
      <p:pic>
        <p:nvPicPr>
          <p:cNvPr id="8" name="Picture 7" descr="eq11.png"/>
          <p:cNvPicPr>
            <a:picLocks noChangeAspect="1"/>
          </p:cNvPicPr>
          <p:nvPr/>
        </p:nvPicPr>
        <p:blipFill>
          <a:blip r:embed="rId3"/>
          <a:stretch>
            <a:fillRect/>
          </a:stretch>
        </p:blipFill>
        <p:spPr>
          <a:xfrm>
            <a:off x="3291840" y="5440680"/>
            <a:ext cx="3817453" cy="45772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5.  Paper 2 — completed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Data-aware scheduling of approximate DAG workflows — in revision for CCGrid 2027</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2 added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25</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max-accuracy bound, so a reported score finally means something</a:t>
            </a:r>
          </a:p>
          <a:p>
            <a:pPr>
              <a:spcAft>
                <a:spcPts val="1000"/>
              </a:spcAft>
              <a:defRPr sz="2000">
                <a:solidFill>
                  <a:srgbClr val="1A1A1A"/>
                </a:solidFill>
              </a:defRPr>
            </a:pPr>
            <a:r>
              <a:t>•  A bandwidth-blind baseline — a scheduler that ignores the links — to measure what data-awareness buys</a:t>
            </a:r>
          </a:p>
          <a:p>
            <a:pPr>
              <a:spcAft>
                <a:spcPts val="1000"/>
              </a:spcAft>
              <a:defRPr sz="2000">
                <a:solidFill>
                  <a:srgbClr val="1A1A1A"/>
                </a:solidFill>
              </a:defRPr>
            </a:pPr>
            <a:r>
              <a:t>•  A retry-once failure model at task level</a:t>
            </a:r>
          </a:p>
          <a:p>
            <a:pPr>
              <a:spcAft>
                <a:spcPts val="1000"/>
              </a:spcAft>
              <a:defRPr sz="2000">
                <a:solidFill>
                  <a:srgbClr val="1A1A1A"/>
                </a:solidFill>
              </a:defRPr>
            </a:pPr>
            <a:r>
              <a:t>•  An honest account of where each method breaks: solver caps, search budgets, dense-storage limits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paper 2 made every score interpretable — a bound, a blind baseline, a failure model, and stated limits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bound and the blind baseline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26</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The bound: run every task completely and ignore the links — the best score any schedule could report</a:t>
            </a:r>
          </a:p>
          <a:p>
            <a:pPr>
              <a:spcAft>
                <a:spcPts val="1000"/>
              </a:spcAft>
              <a:defRPr sz="1700">
                <a:solidFill>
                  <a:srgbClr val="595959"/>
                </a:solidFill>
              </a:defRPr>
            </a:pPr>
            <a:r>
              <a:t>      – no feasible schedule can beat it; every score is read against it</a:t>
            </a:r>
          </a:p>
          <a:p>
            <a:pPr>
              <a:spcAft>
                <a:spcPts val="1000"/>
              </a:spcAft>
              <a:defRPr sz="1900">
                <a:solidFill>
                  <a:srgbClr val="1A1A1A"/>
                </a:solidFill>
              </a:defRPr>
            </a:pPr>
            <a:r>
              <a:t>•  The blind baseline: prices computation but not the links</a:t>
            </a:r>
          </a:p>
          <a:p>
            <a:pPr>
              <a:spcAft>
                <a:spcPts val="1000"/>
              </a:spcAft>
              <a:defRPr sz="1700">
                <a:solidFill>
                  <a:srgbClr val="595959"/>
                </a:solidFill>
              </a:defRPr>
            </a:pPr>
            <a:r>
              <a:t>      – it reports bound-level scores on schedules that are actually infeasible</a:t>
            </a:r>
          </a:p>
          <a:p>
            <a:pPr>
              <a:spcAft>
                <a:spcPts val="1000"/>
              </a:spcAft>
              <a:defRPr sz="1900">
                <a:solidFill>
                  <a:srgbClr val="1A1A1A"/>
                </a:solidFill>
              </a:defRPr>
            </a:pPr>
            <a:r>
              <a:t>•  Together they frame the question the experiments answer: how close can each method get, and at what cost?</a:t>
            </a:r>
          </a:p>
        </p:txBody>
      </p:sp>
      <p:pic>
        <p:nvPicPr>
          <p:cNvPr id="7" name="Picture 6" descr="eq12.png"/>
          <p:cNvPicPr>
            <a:picLocks noChangeAspect="1"/>
          </p:cNvPicPr>
          <p:nvPr/>
        </p:nvPicPr>
        <p:blipFill>
          <a:blip r:embed="rId3"/>
          <a:stretch>
            <a:fillRect/>
          </a:stretch>
        </p:blipFill>
        <p:spPr>
          <a:xfrm>
            <a:off x="1097280" y="4892040"/>
            <a:ext cx="2711580" cy="489273"/>
          </a:xfrm>
          <a:prstGeom prst="rect">
            <a:avLst/>
          </a:prstGeom>
        </p:spPr>
      </p:pic>
      <p:pic>
        <p:nvPicPr>
          <p:cNvPr id="8" name="Picture 7" descr="eq13.png"/>
          <p:cNvPicPr>
            <a:picLocks noChangeAspect="1"/>
          </p:cNvPicPr>
          <p:nvPr/>
        </p:nvPicPr>
        <p:blipFill>
          <a:blip r:embed="rId4"/>
          <a:stretch>
            <a:fillRect/>
          </a:stretch>
        </p:blipFill>
        <p:spPr>
          <a:xfrm>
            <a:off x="6949440" y="4892040"/>
            <a:ext cx="2718144" cy="48963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Four schedulers, one cost model</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27</a:t>
            </a:r>
          </a:p>
        </p:txBody>
      </p:sp>
      <p:sp>
        <p:nvSpPr>
          <p:cNvPr id="6" name="TextBox 5"/>
          <p:cNvSpPr txBox="1"/>
          <p:nvPr/>
        </p:nvSpPr>
        <p:spPr>
          <a:xfrm>
            <a:off x="640080" y="1371600"/>
            <a:ext cx="5303520" cy="5029200"/>
          </a:xfrm>
          <a:prstGeom prst="rect">
            <a:avLst/>
          </a:prstGeom>
          <a:noFill/>
        </p:spPr>
        <p:txBody>
          <a:bodyPr wrap="square">
            <a:spAutoFit/>
          </a:bodyPr>
          <a:lstStyle/>
          <a:p>
            <a:pPr>
              <a:spcAft>
                <a:spcPts val="1000"/>
              </a:spcAft>
              <a:defRPr sz="1900">
                <a:solidFill>
                  <a:srgbClr val="1A1A1A"/>
                </a:solidFill>
              </a:defRPr>
            </a:pPr>
            <a:r>
              <a:t>•  Every method prices transfers the same way, so the differences are algorithmic, not accounting</a:t>
            </a:r>
          </a:p>
          <a:p>
            <a:pPr>
              <a:spcAft>
                <a:spcPts val="1000"/>
              </a:spcAft>
              <a:defRPr sz="1900">
                <a:solidFill>
                  <a:srgbClr val="1A1A1A"/>
                </a:solidFill>
              </a:defRPr>
            </a:pPr>
            <a:r>
              <a:t>•  The exact solver is the benchmark</a:t>
            </a:r>
          </a:p>
          <a:p>
            <a:pPr>
              <a:spcAft>
                <a:spcPts val="1000"/>
              </a:spcAft>
              <a:defRPr sz="1900">
                <a:solidFill>
                  <a:srgbClr val="1A1A1A"/>
                </a:solidFill>
              </a:defRPr>
            </a:pPr>
            <a:r>
              <a:t>•  LP rounding relaxes the integer choices, samples a machine per task, and re-solves the fractions</a:t>
            </a:r>
          </a:p>
          <a:p>
            <a:pPr>
              <a:spcAft>
                <a:spcPts val="1000"/>
              </a:spcAft>
              <a:defRPr sz="1900">
                <a:solidFill>
                  <a:srgbClr val="1A1A1A"/>
                </a:solidFill>
              </a:defRPr>
            </a:pPr>
            <a:r>
              <a:t>•  The greedy places ready tasks by earliest finish; on a deadline miss it lowers the fraction and retries</a:t>
            </a:r>
          </a:p>
          <a:p>
            <a:pPr>
              <a:spcAft>
                <a:spcPts val="1000"/>
              </a:spcAft>
              <a:defRPr sz="1900">
                <a:solidFill>
                  <a:srgbClr val="1A1A1A"/>
                </a:solidFill>
              </a:defRPr>
            </a:pPr>
            <a:r>
              <a:t>•  The GA searches assignments and fractions as one chromosome</a:t>
            </a:r>
          </a:p>
        </p:txBody>
      </p:sp>
      <p:pic>
        <p:nvPicPr>
          <p:cNvPr id="7" name="Picture 6" descr="scheduling-pipeline.png"/>
          <p:cNvPicPr>
            <a:picLocks noChangeAspect="1"/>
          </p:cNvPicPr>
          <p:nvPr/>
        </p:nvPicPr>
        <p:blipFill>
          <a:blip r:embed="rId3"/>
          <a:stretch>
            <a:fillRect/>
          </a:stretch>
        </p:blipFill>
        <p:spPr>
          <a:xfrm>
            <a:off x="6400800" y="1554480"/>
            <a:ext cx="5486400" cy="3352800"/>
          </a:xfrm>
          <a:prstGeom prst="rect">
            <a:avLst/>
          </a:prstGeom>
        </p:spPr>
      </p:pic>
      <p:sp>
        <p:nvSpPr>
          <p:cNvPr id="8" name="TextBox 7"/>
          <p:cNvSpPr txBox="1"/>
          <p:nvPr/>
        </p:nvSpPr>
        <p:spPr>
          <a:xfrm>
            <a:off x="6400800" y="5760720"/>
            <a:ext cx="5486400" cy="457200"/>
          </a:xfrm>
          <a:prstGeom prst="rect">
            <a:avLst/>
          </a:prstGeom>
          <a:noFill/>
        </p:spPr>
        <p:txBody>
          <a:bodyPr wrap="none">
            <a:spAutoFit/>
          </a:bodyPr>
          <a:lstStyle/>
          <a:p>
            <a:pPr algn="ctr">
              <a:defRPr sz="1300" i="1">
                <a:solidFill>
                  <a:srgbClr val="595959"/>
                </a:solidFill>
              </a:defRPr>
            </a:pPr>
            <a:r>
              <a:t>The pipeline every method runs through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greedy scheduler, in code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28</a:t>
            </a:r>
          </a:p>
        </p:txBody>
      </p:sp>
      <p:pic>
        <p:nvPicPr>
          <p:cNvPr id="6" name="Picture 5" descr="eq14.png"/>
          <p:cNvPicPr>
            <a:picLocks noChangeAspect="1"/>
          </p:cNvPicPr>
          <p:nvPr/>
        </p:nvPicPr>
        <p:blipFill>
          <a:blip r:embed="rId3"/>
          <a:stretch>
            <a:fillRect/>
          </a:stretch>
        </p:blipFill>
        <p:spPr>
          <a:xfrm>
            <a:off x="822960" y="1188720"/>
            <a:ext cx="6094308" cy="256217"/>
          </a:xfrm>
          <a:prstGeom prst="rect">
            <a:avLst/>
          </a:prstGeom>
        </p:spPr>
      </p:pic>
      <p:sp>
        <p:nvSpPr>
          <p:cNvPr id="7" name="TextBox 6"/>
          <p:cNvSpPr txBox="1"/>
          <p:nvPr/>
        </p:nvSpPr>
        <p:spPr>
          <a:xfrm>
            <a:off x="822960" y="1828800"/>
            <a:ext cx="10515600" cy="4389120"/>
          </a:xfrm>
          <a:prstGeom prst="rect">
            <a:avLst/>
          </a:prstGeom>
          <a:noFill/>
        </p:spPr>
        <p:txBody>
          <a:bodyPr wrap="square">
            <a:spAutoFit/>
          </a:bodyPr>
          <a:lstStyle/>
          <a:p>
            <a:pPr>
              <a:spcAft>
                <a:spcPts val="400"/>
              </a:spcAft>
              <a:defRPr sz="1500">
                <a:solidFill>
                  <a:srgbClr val="1A1A1A"/>
                </a:solidFill>
                <a:latin typeface="Menlo"/>
              </a:defRPr>
            </a:pPr>
            <a:r>
              <a:t>l ← 1</a:t>
            </a:r>
          </a:p>
          <a:p>
            <a:pPr>
              <a:spcAft>
                <a:spcPts val="400"/>
              </a:spcAft>
              <a:defRPr sz="1500">
                <a:solidFill>
                  <a:srgbClr val="1A1A1A"/>
                </a:solidFill>
                <a:latin typeface="Menlo"/>
              </a:defRPr>
            </a:pPr>
            <a:r>
              <a:t>repeat</a:t>
            </a:r>
          </a:p>
          <a:p>
            <a:pPr>
              <a:spcAft>
                <a:spcPts val="400"/>
              </a:spcAft>
              <a:defRPr sz="1500">
                <a:solidFill>
                  <a:srgbClr val="1A1A1A"/>
                </a:solidFill>
                <a:latin typeface="Menlo"/>
              </a:defRPr>
            </a:pPr>
            <a:r>
              <a:t>    R ← source tasks;  y ← ∞</a:t>
            </a:r>
          </a:p>
          <a:p>
            <a:pPr>
              <a:spcAft>
                <a:spcPts val="400"/>
              </a:spcAft>
              <a:defRPr sz="1500">
                <a:solidFill>
                  <a:srgbClr val="1A1A1A"/>
                </a:solidFill>
                <a:latin typeface="Menlo"/>
              </a:defRPr>
            </a:pPr>
            <a:r>
              <a:t>    while R ≠ ∅:</a:t>
            </a:r>
          </a:p>
          <a:p>
            <a:pPr>
              <a:spcAft>
                <a:spcPts val="400"/>
              </a:spcAft>
              <a:defRPr sz="1500">
                <a:solidFill>
                  <a:srgbClr val="1A1A1A"/>
                </a:solidFill>
                <a:latin typeface="Menlo"/>
              </a:defRPr>
            </a:pPr>
            <a:r>
              <a:t>        pick T_i ∈ R with max π_i</a:t>
            </a:r>
          </a:p>
          <a:p>
            <a:pPr>
              <a:spcAft>
                <a:spcPts val="400"/>
              </a:spcAft>
              <a:defRPr sz="1500">
                <a:solidFill>
                  <a:srgbClr val="1A1A1A"/>
                </a:solidFill>
                <a:latin typeface="Menlo"/>
              </a:defRPr>
            </a:pPr>
            <a:r>
              <a:t>        for each node a with P_ia = 1:</a:t>
            </a:r>
          </a:p>
          <a:p>
            <a:pPr>
              <a:spcAft>
                <a:spcPts val="400"/>
              </a:spcAft>
              <a:defRPr sz="1500">
                <a:solidFill>
                  <a:srgbClr val="1A1A1A"/>
                </a:solidFill>
                <a:latin typeface="Menlo"/>
              </a:defRPr>
            </a:pPr>
            <a:r>
              <a:t>            M_ia ← max over T_j ∈ in_i of ( y_j + Σ_b e_jb c_ji^ba )</a:t>
            </a:r>
          </a:p>
          <a:p>
            <a:pPr>
              <a:spcAft>
                <a:spcPts val="400"/>
              </a:spcAft>
              <a:defRPr sz="1500">
                <a:solidFill>
                  <a:srgbClr val="1A1A1A"/>
                </a:solidFill>
                <a:latin typeface="Menlo"/>
              </a:defRPr>
            </a:pPr>
            <a:r>
              <a:t>            y(a) ← M_ia + t_ia · l</a:t>
            </a:r>
          </a:p>
          <a:p>
            <a:pPr>
              <a:spcAft>
                <a:spcPts val="400"/>
              </a:spcAft>
              <a:defRPr sz="1500">
                <a:solidFill>
                  <a:srgbClr val="1A1A1A"/>
                </a:solidFill>
                <a:latin typeface="Menlo"/>
              </a:defRPr>
            </a:pPr>
            <a:r>
              <a:t>        place T_i on arg-min_a y(a); release successors</a:t>
            </a:r>
          </a:p>
          <a:p>
            <a:pPr>
              <a:spcAft>
                <a:spcPts val="400"/>
              </a:spcAft>
              <a:defRPr sz="1500">
                <a:solidFill>
                  <a:srgbClr val="1A1A1A"/>
                </a:solidFill>
                <a:latin typeface="Menlo"/>
              </a:defRPr>
            </a:pPr>
            <a:r>
              <a:t>    if makespan &gt; t_max:  l ← l - δ</a:t>
            </a:r>
          </a:p>
          <a:p>
            <a:pPr>
              <a:spcAft>
                <a:spcPts val="400"/>
              </a:spcAft>
              <a:defRPr sz="1500">
                <a:solidFill>
                  <a:srgbClr val="1A1A1A"/>
                </a:solidFill>
                <a:latin typeface="Menlo"/>
              </a:defRPr>
            </a:pPr>
            <a:r>
              <a:t>until makespan ≤ t_max  or  l &lt; l_min</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one dependency-ordered pass per fraction level — O(nm) per pass, which is why it scales to 1000 tasks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Experimental setup</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29</a:t>
            </a:r>
          </a:p>
        </p:txBody>
      </p:sp>
      <p:graphicFrame>
        <p:nvGraphicFramePr>
          <p:cNvPr id="6" name="Table 5"/>
          <p:cNvGraphicFramePr>
            <a:graphicFrameLocks noGrp="1"/>
          </p:cNvGraphicFramePr>
          <p:nvPr/>
        </p:nvGraphicFramePr>
        <p:xfrm>
          <a:off x="822960" y="1280160"/>
          <a:ext cx="10515600" cy="4572000"/>
        </p:xfrm>
        <a:graphic>
          <a:graphicData uri="http://schemas.openxmlformats.org/drawingml/2006/table">
            <a:tbl>
              <a:tblPr firstRow="1" bandRow="1">
                <a:tableStyleId>{5C22544A-7EE6-4342-B048-85BDC9FD1C3A}</a:tableStyleId>
              </a:tblPr>
              <a:tblGrid>
                <a:gridCol w="2926080"/>
                <a:gridCol w="7589520"/>
              </a:tblGrid>
              <a:tr h="571500">
                <a:tc>
                  <a:txBody>
                    <a:bodyPr wrap="square"/>
                    <a:lstStyle/>
                    <a:p>
                      <a:pPr>
                        <a:defRPr sz="1400" b="1">
                          <a:solidFill>
                            <a:srgbClr val="1A1A1A"/>
                          </a:solidFill>
                        </a:defRPr>
                      </a:pPr>
                      <a:r>
                        <a:t>Component</a:t>
                      </a:r>
                    </a:p>
                  </a:txBody>
                  <a:tcPr marT="50800" marB="50800" marL="101600" marR="101600">
                    <a:solidFill>
                      <a:srgbClr val="E8E8E8"/>
                    </a:solidFill>
                  </a:tcPr>
                </a:tc>
                <a:tc>
                  <a:txBody>
                    <a:bodyPr wrap="square"/>
                    <a:lstStyle/>
                    <a:p>
                      <a:pPr>
                        <a:defRPr sz="1400" b="1">
                          <a:solidFill>
                            <a:srgbClr val="1A1A1A"/>
                          </a:solidFill>
                        </a:defRPr>
                      </a:pPr>
                      <a:r>
                        <a:t>Setting</a:t>
                      </a:r>
                    </a:p>
                  </a:txBody>
                  <a:tcPr marT="50800" marB="50800" marL="101600" marR="101600">
                    <a:solidFill>
                      <a:srgbClr val="E8E8E8"/>
                    </a:solidFill>
                  </a:tcPr>
                </a:tc>
              </a:tr>
              <a:tr h="571500">
                <a:tc>
                  <a:txBody>
                    <a:bodyPr wrap="square"/>
                    <a:lstStyle/>
                    <a:p>
                      <a:pPr>
                        <a:defRPr sz="1400" b="0">
                          <a:solidFill>
                            <a:srgbClr val="1A1A1A"/>
                          </a:solidFill>
                        </a:defRPr>
                      </a:pPr>
                      <a:r>
                        <a:t>Simulator</a:t>
                      </a:r>
                    </a:p>
                  </a:txBody>
                  <a:tcPr marT="50800" marB="50800" marL="101600" marR="101600">
                    <a:solidFill>
                      <a:srgbClr val="FFFFFF"/>
                    </a:solidFill>
                  </a:tcPr>
                </a:tc>
                <a:tc>
                  <a:txBody>
                    <a:bodyPr wrap="square"/>
                    <a:lstStyle/>
                    <a:p>
                      <a:pPr>
                        <a:defRPr sz="1400" b="0">
                          <a:solidFill>
                            <a:srgbClr val="1A1A1A"/>
                          </a:solidFill>
                        </a:defRPr>
                      </a:pPr>
                      <a:r>
                        <a:t>discrete-event, Python/NumPy + SciPy HiGHS</a:t>
                      </a:r>
                    </a:p>
                  </a:txBody>
                  <a:tcPr marT="50800" marB="50800" marL="101600" marR="101600">
                    <a:solidFill>
                      <a:srgbClr val="FFFFFF"/>
                    </a:solidFill>
                  </a:tcPr>
                </a:tc>
              </a:tr>
              <a:tr h="571500">
                <a:tc>
                  <a:txBody>
                    <a:bodyPr wrap="square"/>
                    <a:lstStyle/>
                    <a:p>
                      <a:pPr>
                        <a:defRPr sz="1400" b="0">
                          <a:solidFill>
                            <a:srgbClr val="1A1A1A"/>
                          </a:solidFill>
                        </a:defRPr>
                      </a:pPr>
                      <a:r>
                        <a:t>Task runtimes</a:t>
                      </a:r>
                    </a:p>
                  </a:txBody>
                  <a:tcPr marT="50800" marB="50800" marL="101600" marR="101600">
                    <a:solidFill>
                      <a:srgbClr val="FFFFFF"/>
                    </a:solidFill>
                  </a:tcPr>
                </a:tc>
                <a:tc>
                  <a:txBody>
                    <a:bodyPr wrap="square"/>
                    <a:lstStyle/>
                    <a:p>
                      <a:pPr>
                        <a:defRPr sz="1400" b="0">
                          <a:solidFill>
                            <a:srgbClr val="1A1A1A"/>
                          </a:solidFill>
                        </a:defRPr>
                      </a:pPr>
                      <a:r>
                        <a:t>uniform 1–5</a:t>
                      </a:r>
                    </a:p>
                  </a:txBody>
                  <a:tcPr marT="50800" marB="50800" marL="101600" marR="101600">
                    <a:solidFill>
                      <a:srgbClr val="FFFFFF"/>
                    </a:solidFill>
                  </a:tcPr>
                </a:tc>
              </a:tr>
              <a:tr h="571500">
                <a:tc>
                  <a:txBody>
                    <a:bodyPr wrap="square"/>
                    <a:lstStyle/>
                    <a:p>
                      <a:pPr>
                        <a:defRPr sz="1400" b="0">
                          <a:solidFill>
                            <a:srgbClr val="1A1A1A"/>
                          </a:solidFill>
                        </a:defRPr>
                      </a:pPr>
                      <a:r>
                        <a:t>Data per edge</a:t>
                      </a:r>
                    </a:p>
                  </a:txBody>
                  <a:tcPr marT="50800" marB="50800" marL="101600" marR="101600">
                    <a:solidFill>
                      <a:srgbClr val="FFFFFF"/>
                    </a:solidFill>
                  </a:tcPr>
                </a:tc>
                <a:tc>
                  <a:txBody>
                    <a:bodyPr wrap="square"/>
                    <a:lstStyle/>
                    <a:p>
                      <a:pPr>
                        <a:defRPr sz="1400" b="0">
                          <a:solidFill>
                            <a:srgbClr val="1A1A1A"/>
                          </a:solidFill>
                        </a:defRPr>
                      </a:pPr>
                      <a:r>
                        <a:t>uniform 5–50</a:t>
                      </a:r>
                    </a:p>
                  </a:txBody>
                  <a:tcPr marT="50800" marB="50800" marL="101600" marR="101600">
                    <a:solidFill>
                      <a:srgbClr val="FFFFFF"/>
                    </a:solidFill>
                  </a:tcPr>
                </a:tc>
              </a:tr>
              <a:tr h="571500">
                <a:tc>
                  <a:txBody>
                    <a:bodyPr wrap="square"/>
                    <a:lstStyle/>
                    <a:p>
                      <a:pPr>
                        <a:defRPr sz="1400" b="0">
                          <a:solidFill>
                            <a:srgbClr val="1A1A1A"/>
                          </a:solidFill>
                        </a:defRPr>
                      </a:pPr>
                      <a:r>
                        <a:t>Link bandwidths</a:t>
                      </a:r>
                    </a:p>
                  </a:txBody>
                  <a:tcPr marT="50800" marB="50800" marL="101600" marR="101600">
                    <a:solidFill>
                      <a:srgbClr val="FFFFFF"/>
                    </a:solidFill>
                  </a:tcPr>
                </a:tc>
                <a:tc>
                  <a:txBody>
                    <a:bodyPr wrap="square"/>
                    <a:lstStyle/>
                    <a:p>
                      <a:pPr>
                        <a:defRPr sz="1400" b="0">
                          <a:solidFill>
                            <a:srgbClr val="1A1A1A"/>
                          </a:solidFill>
                        </a:defRPr>
                      </a:pPr>
                      <a:r>
                        <a:t>uniform 10–100 (a transfer can rival a task)</a:t>
                      </a:r>
                    </a:p>
                  </a:txBody>
                  <a:tcPr marT="50800" marB="50800" marL="101600" marR="101600">
                    <a:solidFill>
                      <a:srgbClr val="FFFFFF"/>
                    </a:solidFill>
                  </a:tcPr>
                </a:tc>
              </a:tr>
              <a:tr h="571500">
                <a:tc>
                  <a:txBody>
                    <a:bodyPr wrap="square"/>
                    <a:lstStyle/>
                    <a:p>
                      <a:pPr>
                        <a:defRPr sz="1400" b="0">
                          <a:solidFill>
                            <a:srgbClr val="1A1A1A"/>
                          </a:solidFill>
                        </a:defRPr>
                      </a:pPr>
                      <a:r>
                        <a:t>Workflow sizes</a:t>
                      </a:r>
                    </a:p>
                  </a:txBody>
                  <a:tcPr marT="50800" marB="50800" marL="101600" marR="101600">
                    <a:solidFill>
                      <a:srgbClr val="FFFFFF"/>
                    </a:solidFill>
                  </a:tcPr>
                </a:tc>
                <a:tc>
                  <a:txBody>
                    <a:bodyPr wrap="square"/>
                    <a:lstStyle/>
                    <a:p>
                      <a:pPr>
                        <a:defRPr sz="1400" b="0">
                          <a:solidFill>
                            <a:srgbClr val="1A1A1A"/>
                          </a:solidFill>
                        </a:defRPr>
                      </a:pPr>
                      <a:r>
                        <a:t>10, 100, 500, 1000 tasks on 3–10 machines</a:t>
                      </a:r>
                    </a:p>
                  </a:txBody>
                  <a:tcPr marT="50800" marB="50800" marL="101600" marR="101600">
                    <a:solidFill>
                      <a:srgbClr val="FFFFFF"/>
                    </a:solidFill>
                  </a:tcPr>
                </a:tc>
              </a:tr>
              <a:tr h="571500">
                <a:tc>
                  <a:txBody>
                    <a:bodyPr wrap="square"/>
                    <a:lstStyle/>
                    <a:p>
                      <a:pPr>
                        <a:defRPr sz="1400" b="0">
                          <a:solidFill>
                            <a:srgbClr val="1A1A1A"/>
                          </a:solidFill>
                        </a:defRPr>
                      </a:pPr>
                      <a:r>
                        <a:t>Experiments</a:t>
                      </a:r>
                    </a:p>
                  </a:txBody>
                  <a:tcPr marT="50800" marB="50800" marL="101600" marR="101600">
                    <a:solidFill>
                      <a:srgbClr val="FFFFFF"/>
                    </a:solidFill>
                  </a:tcPr>
                </a:tc>
                <a:tc>
                  <a:txBody>
                    <a:bodyPr wrap="square"/>
                    <a:lstStyle/>
                    <a:p>
                      <a:pPr>
                        <a:defRPr sz="1400" b="0">
                          <a:solidFill>
                            <a:srgbClr val="1A1A1A"/>
                          </a:solidFill>
                        </a:defRPr>
                      </a:pPr>
                      <a:r>
                        <a:t>deadline slack, federation size, workflow size, failure rate, bandwidth</a:t>
                      </a:r>
                    </a:p>
                  </a:txBody>
                  <a:tcPr marT="50800" marB="50800" marL="101600" marR="101600">
                    <a:solidFill>
                      <a:srgbClr val="FFFFFF"/>
                    </a:solidFill>
                  </a:tcPr>
                </a:tc>
              </a:tr>
              <a:tr h="571500">
                <a:tc>
                  <a:txBody>
                    <a:bodyPr wrap="square"/>
                    <a:lstStyle/>
                    <a:p>
                      <a:pPr>
                        <a:defRPr sz="1400" b="0">
                          <a:solidFill>
                            <a:srgbClr val="1A1A1A"/>
                          </a:solidFill>
                        </a:defRPr>
                      </a:pPr>
                      <a:r>
                        <a:t>Metrics</a:t>
                      </a:r>
                    </a:p>
                  </a:txBody>
                  <a:tcPr marT="50800" marB="50800" marL="101600" marR="101600">
                    <a:solidFill>
                      <a:srgbClr val="FFFFFF"/>
                    </a:solidFill>
                  </a:tcPr>
                </a:tc>
                <a:tc>
                  <a:txBody>
                    <a:bodyPr wrap="square"/>
                    <a:lstStyle/>
                    <a:p>
                      <a:pPr>
                        <a:defRPr sz="1400" b="0">
                          <a:solidFill>
                            <a:srgbClr val="1A1A1A"/>
                          </a:solidFill>
                        </a:defRPr>
                      </a:pPr>
                      <a:r>
                        <a:t>score vs. the bound, feasibility, wall time (5 fresh instances per point)</a:t>
                      </a:r>
                    </a:p>
                  </a:txBody>
                  <a:tcPr marT="50800" marB="50800" marL="101600" marR="101600">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1: deadline slack</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30</a:t>
            </a:r>
          </a:p>
        </p:txBody>
      </p:sp>
      <p:pic>
        <p:nvPicPr>
          <p:cNvPr id="6" name="Picture 5" descr="perf_slack_accuracy.png"/>
          <p:cNvPicPr>
            <a:picLocks noChangeAspect="1"/>
          </p:cNvPicPr>
          <p:nvPr/>
        </p:nvPicPr>
        <p:blipFill>
          <a:blip r:embed="rId3"/>
          <a:stretch>
            <a:fillRect/>
          </a:stretch>
        </p:blipFill>
        <p:spPr>
          <a:xfrm>
            <a:off x="640080" y="1097280"/>
            <a:ext cx="6126480" cy="5076226"/>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When the deadline barely fits, the exact solver leads (1.38 vs. a bound of 1.43); the others trail</a:t>
            </a:r>
          </a:p>
          <a:p>
            <a:pPr>
              <a:spcAft>
                <a:spcPts val="1000"/>
              </a:spcAft>
              <a:defRPr sz="1600">
                <a:solidFill>
                  <a:srgbClr val="1A1A1A"/>
                </a:solidFill>
              </a:defRPr>
            </a:pPr>
            <a:r>
              <a:t>•  A little slack and the greedy reaches the bound</a:t>
            </a:r>
          </a:p>
          <a:p>
            <a:pPr>
              <a:spcAft>
                <a:spcPts val="1000"/>
              </a:spcAft>
              <a:defRPr sz="1600">
                <a:solidFill>
                  <a:srgbClr val="1A1A1A"/>
                </a:solidFill>
              </a:defRPr>
            </a:pPr>
            <a:r>
              <a:t>•  Rounding and the GA stay 2.5–8% below even with slack to spare</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method choice matters exactly where the deadline binds; with loose slack almost anything works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2: federation size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31</a:t>
            </a:r>
          </a:p>
        </p:txBody>
      </p:sp>
      <p:pic>
        <p:nvPicPr>
          <p:cNvPr id="6" name="Picture 5" descr="perf_nodes_accuracy.png"/>
          <p:cNvPicPr>
            <a:picLocks noChangeAspect="1"/>
          </p:cNvPicPr>
          <p:nvPr/>
        </p:nvPicPr>
        <p:blipFill>
          <a:blip r:embed="rId3"/>
          <a:stretch>
            <a:fillRect/>
          </a:stretch>
        </p:blipFill>
        <p:spPr>
          <a:xfrm>
            <a:off x="640080" y="1097280"/>
            <a:ext cx="6126480" cy="5076226"/>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exact solver and the greedy match the bound at every size</a:t>
            </a:r>
          </a:p>
          <a:p>
            <a:pPr>
              <a:spcAft>
                <a:spcPts val="1000"/>
              </a:spcAft>
              <a:defRPr sz="1600">
                <a:solidFill>
                  <a:srgbClr val="1A1A1A"/>
                </a:solidFill>
              </a:defRPr>
            </a:pPr>
            <a:r>
              <a:t>•  The GA drifts from 1.5% below the bound at two machines to about 8% at ten</a:t>
            </a:r>
          </a:p>
          <a:p>
            <a:pPr>
              <a:spcAft>
                <a:spcPts val="1000"/>
              </a:spcAft>
              <a:defRPr sz="1600">
                <a:solidFill>
                  <a:srgbClr val="1A1A1A"/>
                </a:solidFill>
              </a:defRPr>
            </a:pPr>
            <a:r>
              <a:t>•  A bigger placement space with a fixed search budget just means a worse search</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more machines buy feasibility, not accuracy — extra capacity never lifts a method above the bound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3: workflow size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32</a:t>
            </a:r>
          </a:p>
        </p:txBody>
      </p:sp>
      <p:pic>
        <p:nvPicPr>
          <p:cNvPr id="6" name="Picture 5" descr="perf_task_size_accuracy.png"/>
          <p:cNvPicPr>
            <a:picLocks noChangeAspect="1"/>
          </p:cNvPicPr>
          <p:nvPr/>
        </p:nvPicPr>
        <p:blipFill>
          <a:blip r:embed="rId3"/>
          <a:stretch>
            <a:fillRect/>
          </a:stretch>
        </p:blipFill>
        <p:spPr>
          <a:xfrm>
            <a:off x="640080" y="1097280"/>
            <a:ext cx="6126480" cy="2505894"/>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At 10 tasks all four methods sit on the bound</a:t>
            </a:r>
          </a:p>
          <a:p>
            <a:pPr>
              <a:spcAft>
                <a:spcPts val="1000"/>
              </a:spcAft>
              <a:defRPr sz="1600">
                <a:solidFill>
                  <a:srgbClr val="1A1A1A"/>
                </a:solidFill>
              </a:defRPr>
            </a:pPr>
            <a:r>
              <a:t>•  At 1000 tasks the exact solver is past its cap; the greedy stays on the bound</a:t>
            </a:r>
          </a:p>
          <a:p>
            <a:pPr>
              <a:spcAft>
                <a:spcPts val="1000"/>
              </a:spcAft>
              <a:defRPr sz="1600">
                <a:solidFill>
                  <a:srgbClr val="1A1A1A"/>
                </a:solidFill>
              </a:defRPr>
            </a:pPr>
            <a:r>
              <a:t>•  The right panel prices the run: greedy answers in 0.15 s, rounding needs ~93 s, and the GA takes ~159 s for a worse score</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at scale only the greedy is both fast and bound-level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4: task failures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33</a:t>
            </a:r>
          </a:p>
        </p:txBody>
      </p:sp>
      <p:pic>
        <p:nvPicPr>
          <p:cNvPr id="6" name="Picture 5" descr="perf_failure_accuracy.png"/>
          <p:cNvPicPr>
            <a:picLocks noChangeAspect="1"/>
          </p:cNvPicPr>
          <p:nvPr/>
        </p:nvPicPr>
        <p:blipFill>
          <a:blip r:embed="rId3"/>
          <a:stretch>
            <a:fillRect/>
          </a:stretch>
        </p:blipFill>
        <p:spPr>
          <a:xfrm>
            <a:off x="640080" y="1097280"/>
            <a:ext cx="6126480" cy="2503540"/>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Retry-once: a failed task reruns in place, keeping its accuracy if the retry still meets the deadline</a:t>
            </a:r>
          </a:p>
          <a:p>
            <a:pPr>
              <a:spcAft>
                <a:spcPts val="1000"/>
              </a:spcAft>
              <a:defRPr sz="1600">
                <a:solidFill>
                  <a:srgbClr val="1A1A1A"/>
                </a:solidFill>
              </a:defRPr>
            </a:pPr>
            <a:r>
              <a:t>•  Scores stay flat for everyone; feasibility is where they separate</a:t>
            </a:r>
          </a:p>
          <a:p>
            <a:pPr>
              <a:spcAft>
                <a:spcPts val="1000"/>
              </a:spcAft>
              <a:defRPr sz="1600">
                <a:solidFill>
                  <a:srgbClr val="1A1A1A"/>
                </a:solidFill>
              </a:defRPr>
            </a:pPr>
            <a:r>
              <a:t>•  At the highest failure rate: greedy still 100% feasible, the others drop to ~60% and ~20%</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under failures the differentiator is feasibility — finishing early is what absorbs the retries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5: link degradation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34</a:t>
            </a:r>
          </a:p>
        </p:txBody>
      </p:sp>
      <p:pic>
        <p:nvPicPr>
          <p:cNvPr id="6" name="Picture 5" descr="perf_bandwidth_accuracy.png"/>
          <p:cNvPicPr>
            <a:picLocks noChangeAspect="1"/>
          </p:cNvPicPr>
          <p:nvPr/>
        </p:nvPicPr>
        <p:blipFill>
          <a:blip r:embed="rId3"/>
          <a:stretch>
            <a:fillRect/>
          </a:stretch>
        </p:blipFill>
        <p:spPr>
          <a:xfrm>
            <a:off x="640080" y="1097280"/>
            <a:ext cx="6126480" cy="2502365"/>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bandwidth-blind baseline shows bound-level scores at every level — while going fully infeasible below a fifth of nominal</a:t>
            </a:r>
          </a:p>
          <a:p>
            <a:pPr>
              <a:spcAft>
                <a:spcPts val="1000"/>
              </a:spcAft>
              <a:defRPr sz="1600">
                <a:solidFill>
                  <a:srgbClr val="1A1A1A"/>
                </a:solidFill>
              </a:defRPr>
            </a:pPr>
            <a:r>
              <a:t>•  The exact solver stays feasible throughout and loses only ~10% of score</a:t>
            </a:r>
          </a:p>
          <a:p>
            <a:pPr>
              <a:spcAft>
                <a:spcPts val="1000"/>
              </a:spcAft>
              <a:defRPr sz="1600">
                <a:solidFill>
                  <a:srgbClr val="1A1A1A"/>
                </a:solidFill>
              </a:defRPr>
            </a:pPr>
            <a:r>
              <a:t>•  The greedy stays feasible to a tenth by paying in accuracy</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 scheduler that ignores the links reports a perfect score on a workflow that finishes late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same story at every scale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35</a:t>
            </a:r>
          </a:p>
        </p:txBody>
      </p:sp>
      <p:graphicFrame>
        <p:nvGraphicFramePr>
          <p:cNvPr id="6" name="Table 5"/>
          <p:cNvGraphicFramePr>
            <a:graphicFrameLocks noGrp="1"/>
          </p:cNvGraphicFramePr>
          <p:nvPr/>
        </p:nvGraphicFramePr>
        <p:xfrm>
          <a:off x="822960" y="1280160"/>
          <a:ext cx="10515600" cy="3474720"/>
        </p:xfrm>
        <a:graphic>
          <a:graphicData uri="http://schemas.openxmlformats.org/drawingml/2006/table">
            <a:tbl>
              <a:tblPr firstRow="1" bandRow="1">
                <a:tableStyleId>{5C22544A-7EE6-4342-B048-85BDC9FD1C3A}</a:tableStyleId>
              </a:tblPr>
              <a:tblGrid>
                <a:gridCol w="2743200"/>
                <a:gridCol w="2377440"/>
                <a:gridCol w="1554480"/>
                <a:gridCol w="2011680"/>
                <a:gridCol w="1828800"/>
              </a:tblGrid>
              <a:tr h="579120">
                <a:tc>
                  <a:txBody>
                    <a:bodyPr wrap="square"/>
                    <a:lstStyle/>
                    <a:p>
                      <a:pPr>
                        <a:defRPr sz="1400" b="1">
                          <a:solidFill>
                            <a:srgbClr val="1A1A1A"/>
                          </a:solidFill>
                        </a:defRPr>
                      </a:pPr>
                      <a:r>
                        <a:t>Dataset</a:t>
                      </a:r>
                    </a:p>
                  </a:txBody>
                  <a:tcPr marT="50800" marB="50800" marL="101600" marR="101600">
                    <a:solidFill>
                      <a:srgbClr val="E8E8E8"/>
                    </a:solidFill>
                  </a:tcPr>
                </a:tc>
                <a:tc>
                  <a:txBody>
                    <a:bodyPr wrap="square"/>
                    <a:lstStyle/>
                    <a:p>
                      <a:pPr>
                        <a:defRPr sz="1400" b="1">
                          <a:solidFill>
                            <a:srgbClr val="1A1A1A"/>
                          </a:solidFill>
                        </a:defRPr>
                      </a:pPr>
                      <a:r>
                        <a:t>Method</a:t>
                      </a:r>
                    </a:p>
                  </a:txBody>
                  <a:tcPr marT="50800" marB="50800" marL="101600" marR="101600">
                    <a:solidFill>
                      <a:srgbClr val="E8E8E8"/>
                    </a:solidFill>
                  </a:tcPr>
                </a:tc>
                <a:tc>
                  <a:txBody>
                    <a:bodyPr wrap="square"/>
                    <a:lstStyle/>
                    <a:p>
                      <a:pPr>
                        <a:defRPr sz="1400" b="1">
                          <a:solidFill>
                            <a:srgbClr val="1A1A1A"/>
                          </a:solidFill>
                        </a:defRPr>
                      </a:pPr>
                      <a:r>
                        <a:t>Score</a:t>
                      </a:r>
                    </a:p>
                  </a:txBody>
                  <a:tcPr marT="50800" marB="50800" marL="101600" marR="101600">
                    <a:solidFill>
                      <a:srgbClr val="E8E8E8"/>
                    </a:solidFill>
                  </a:tcPr>
                </a:tc>
                <a:tc>
                  <a:txBody>
                    <a:bodyPr wrap="square"/>
                    <a:lstStyle/>
                    <a:p>
                      <a:pPr>
                        <a:defRPr sz="1400" b="1">
                          <a:solidFill>
                            <a:srgbClr val="1A1A1A"/>
                          </a:solidFill>
                        </a:defRPr>
                      </a:pPr>
                      <a:r>
                        <a:t>Makespan</a:t>
                      </a:r>
                    </a:p>
                  </a:txBody>
                  <a:tcPr marT="50800" marB="50800" marL="101600" marR="101600">
                    <a:solidFill>
                      <a:srgbClr val="E8E8E8"/>
                    </a:solidFill>
                  </a:tcPr>
                </a:tc>
                <a:tc>
                  <a:txBody>
                    <a:bodyPr wrap="square"/>
                    <a:lstStyle/>
                    <a:p>
                      <a:pPr>
                        <a:defRPr sz="1400" b="1">
                          <a:solidFill>
                            <a:srgbClr val="1A1A1A"/>
                          </a:solidFill>
                        </a:defRPr>
                      </a:pPr>
                      <a:r>
                        <a:t>Runtime</a:t>
                      </a:r>
                    </a:p>
                  </a:txBody>
                  <a:tcPr marT="50800" marB="50800" marL="101600" marR="101600">
                    <a:solidFill>
                      <a:srgbClr val="E8E8E8"/>
                    </a:solidFill>
                  </a:tcPr>
                </a:tc>
              </a:tr>
              <a:tr h="579120">
                <a:tc>
                  <a:txBody>
                    <a:bodyPr wrap="square"/>
                    <a:lstStyle/>
                    <a:p>
                      <a:pPr>
                        <a:defRPr sz="1400" b="0">
                          <a:solidFill>
                            <a:srgbClr val="1A1A1A"/>
                          </a:solidFill>
                        </a:defRPr>
                      </a:pPr>
                      <a:r>
                        <a:t>small (10 tasks)</a:t>
                      </a:r>
                    </a:p>
                  </a:txBody>
                  <a:tcPr marT="50800" marB="50800" marL="101600" marR="101600">
                    <a:solidFill>
                      <a:srgbClr val="FFFFFF"/>
                    </a:solidFill>
                  </a:tcPr>
                </a:tc>
                <a:tc>
                  <a:txBody>
                    <a:bodyPr wrap="square"/>
                    <a:lstStyle/>
                    <a:p>
                      <a:pPr>
                        <a:defRPr sz="1400" b="0">
                          <a:solidFill>
                            <a:srgbClr val="1A1A1A"/>
                          </a:solidFill>
                        </a:defRPr>
                      </a:pPr>
                      <a:r>
                        <a:t>all four</a:t>
                      </a:r>
                    </a:p>
                  </a:txBody>
                  <a:tcPr marT="50800" marB="50800" marL="101600" marR="101600">
                    <a:solidFill>
                      <a:srgbClr val="FFFFFF"/>
                    </a:solidFill>
                  </a:tcPr>
                </a:tc>
                <a:tc>
                  <a:txBody>
                    <a:bodyPr wrap="square"/>
                    <a:lstStyle/>
                    <a:p>
                      <a:pPr>
                        <a:defRPr sz="1400" b="0">
                          <a:solidFill>
                            <a:srgbClr val="1A1A1A"/>
                          </a:solidFill>
                        </a:defRPr>
                      </a:pPr>
                      <a:r>
                        <a:t>1.64</a:t>
                      </a:r>
                    </a:p>
                  </a:txBody>
                  <a:tcPr marT="50800" marB="50800" marL="101600" marR="101600">
                    <a:solidFill>
                      <a:srgbClr val="FFFFFF"/>
                    </a:solidFill>
                  </a:tcPr>
                </a:tc>
                <a:tc>
                  <a:txBody>
                    <a:bodyPr wrap="square"/>
                    <a:lstStyle/>
                    <a:p>
                      <a:pPr>
                        <a:defRPr sz="1400" b="0">
                          <a:solidFill>
                            <a:srgbClr val="1A1A1A"/>
                          </a:solidFill>
                        </a:defRPr>
                      </a:pPr>
                      <a:r>
                        <a:t>17–19</a:t>
                      </a:r>
                    </a:p>
                  </a:txBody>
                  <a:tcPr marT="50800" marB="50800" marL="101600" marR="101600">
                    <a:solidFill>
                      <a:srgbClr val="FFFFFF"/>
                    </a:solidFill>
                  </a:tcPr>
                </a:tc>
                <a:tc>
                  <a:txBody>
                    <a:bodyPr wrap="square"/>
                    <a:lstStyle/>
                    <a:p>
                      <a:pPr>
                        <a:defRPr sz="1400" b="0">
                          <a:solidFill>
                            <a:srgbClr val="1A1A1A"/>
                          </a:solidFill>
                        </a:defRPr>
                      </a:pPr>
                      <a:r>
                        <a:t>&lt; 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exact / greedy</a:t>
                      </a:r>
                    </a:p>
                  </a:txBody>
                  <a:tcPr marT="50800" marB="50800" marL="101600" marR="101600">
                    <a:solidFill>
                      <a:srgbClr val="FFFFFF"/>
                    </a:solidFill>
                  </a:tcPr>
                </a:tc>
                <a:tc>
                  <a:txBody>
                    <a:bodyPr wrap="square"/>
                    <a:lstStyle/>
                    <a:p>
                      <a:pPr>
                        <a:defRPr sz="1400" b="0">
                          <a:solidFill>
                            <a:srgbClr val="1A1A1A"/>
                          </a:solidFill>
                        </a:defRPr>
                      </a:pPr>
                      <a:r>
                        <a:t>1.44</a:t>
                      </a:r>
                    </a:p>
                  </a:txBody>
                  <a:tcPr marT="50800" marB="50800" marL="101600" marR="101600">
                    <a:solidFill>
                      <a:srgbClr val="FFFFFF"/>
                    </a:solidFill>
                  </a:tcPr>
                </a:tc>
                <a:tc>
                  <a:txBody>
                    <a:bodyPr wrap="square"/>
                    <a:lstStyle/>
                    <a:p>
                      <a:pPr>
                        <a:defRPr sz="1400" b="0">
                          <a:solidFill>
                            <a:srgbClr val="1A1A1A"/>
                          </a:solidFill>
                        </a:defRPr>
                      </a:pPr>
                      <a:r>
                        <a:t>61 / 43</a:t>
                      </a:r>
                    </a:p>
                  </a:txBody>
                  <a:tcPr marT="50800" marB="50800" marL="101600" marR="101600">
                    <a:solidFill>
                      <a:srgbClr val="FFFFFF"/>
                    </a:solidFill>
                  </a:tcPr>
                </a:tc>
                <a:tc>
                  <a:txBody>
                    <a:bodyPr wrap="square"/>
                    <a:lstStyle/>
                    <a:p>
                      <a:pPr>
                        <a:defRPr sz="1400" b="0">
                          <a:solidFill>
                            <a:srgbClr val="1A1A1A"/>
                          </a:solidFill>
                        </a:defRPr>
                      </a:pPr>
                      <a:r>
                        <a:t>1.4 s / 0.003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rounding / GA</a:t>
                      </a:r>
                    </a:p>
                  </a:txBody>
                  <a:tcPr marT="50800" marB="50800" marL="101600" marR="101600">
                    <a:solidFill>
                      <a:srgbClr val="FFFFFF"/>
                    </a:solidFill>
                  </a:tcPr>
                </a:tc>
                <a:tc>
                  <a:txBody>
                    <a:bodyPr wrap="square"/>
                    <a:lstStyle/>
                    <a:p>
                      <a:pPr>
                        <a:defRPr sz="1400" b="0">
                          <a:solidFill>
                            <a:srgbClr val="1A1A1A"/>
                          </a:solidFill>
                        </a:defRPr>
                      </a:pPr>
                      <a:r>
                        <a:t>1.32 / 1.27</a:t>
                      </a:r>
                    </a:p>
                  </a:txBody>
                  <a:tcPr marT="50800" marB="50800" marL="101600" marR="101600">
                    <a:solidFill>
                      <a:srgbClr val="FFFFFF"/>
                    </a:solidFill>
                  </a:tcPr>
                </a:tc>
                <a:tc>
                  <a:txBody>
                    <a:bodyPr wrap="square"/>
                    <a:lstStyle/>
                    <a:p>
                      <a:pPr>
                        <a:defRPr sz="1400" b="0">
                          <a:solidFill>
                            <a:srgbClr val="1A1A1A"/>
                          </a:solidFill>
                        </a:defRPr>
                      </a:pPr>
                      <a:r>
                        <a:t>62 / 61</a:t>
                      </a:r>
                    </a:p>
                  </a:txBody>
                  <a:tcPr marT="50800" marB="50800" marL="101600" marR="101600">
                    <a:solidFill>
                      <a:srgbClr val="FFFFFF"/>
                    </a:solidFill>
                  </a:tcPr>
                </a:tc>
                <a:tc>
                  <a:txBody>
                    <a:bodyPr wrap="square"/>
                    <a:lstStyle/>
                    <a:p>
                      <a:pPr>
                        <a:defRPr sz="1400" b="0">
                          <a:solidFill>
                            <a:srgbClr val="1A1A1A"/>
                          </a:solidFill>
                        </a:defRPr>
                      </a:pPr>
                      <a:r>
                        <a:t>25 s / 5.2 s</a:t>
                      </a:r>
                    </a:p>
                  </a:txBody>
                  <a:tcPr marT="50800" marB="50800" marL="101600" marR="101600">
                    <a:solidFill>
                      <a:srgbClr val="FFFFFF"/>
                    </a:solidFill>
                  </a:tcPr>
                </a:tc>
              </a:tr>
              <a:tr h="579120">
                <a:tc>
                  <a:txBody>
                    <a:bodyPr wrap="square"/>
                    <a:lstStyle/>
                    <a:p>
                      <a:pPr>
                        <a:defRPr sz="1400" b="0">
                          <a:solidFill>
                            <a:srgbClr val="1A1A1A"/>
                          </a:solidFill>
                        </a:defRPr>
                      </a:pPr>
                      <a:r>
                        <a:t>large (500)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1.42 / 1.17</a:t>
                      </a:r>
                    </a:p>
                  </a:txBody>
                  <a:tcPr marT="50800" marB="50800" marL="101600" marR="101600">
                    <a:solidFill>
                      <a:srgbClr val="FFFFFF"/>
                    </a:solidFill>
                  </a:tcPr>
                </a:tc>
                <a:tc>
                  <a:txBody>
                    <a:bodyPr wrap="square"/>
                    <a:lstStyle/>
                    <a:p>
                      <a:pPr>
                        <a:defRPr sz="1400" b="0">
                          <a:solidFill>
                            <a:srgbClr val="1A1A1A"/>
                          </a:solidFill>
                        </a:defRPr>
                      </a:pPr>
                      <a:r>
                        <a:t>50 / 71</a:t>
                      </a:r>
                    </a:p>
                  </a:txBody>
                  <a:tcPr marT="50800" marB="50800" marL="101600" marR="101600">
                    <a:solidFill>
                      <a:srgbClr val="FFFFFF"/>
                    </a:solidFill>
                  </a:tcPr>
                </a:tc>
                <a:tc>
                  <a:txBody>
                    <a:bodyPr wrap="square"/>
                    <a:lstStyle/>
                    <a:p>
                      <a:pPr>
                        <a:defRPr sz="1400" b="0">
                          <a:solidFill>
                            <a:srgbClr val="1A1A1A"/>
                          </a:solidFill>
                        </a:defRPr>
                      </a:pPr>
                      <a:r>
                        <a:t>0.04 s / 21 s</a:t>
                      </a:r>
                    </a:p>
                  </a:txBody>
                  <a:tcPr marT="50800" marB="50800" marL="101600" marR="101600">
                    <a:solidFill>
                      <a:srgbClr val="FFFFFF"/>
                    </a:solidFill>
                  </a:tcPr>
                </a:tc>
              </a:tr>
              <a:tr h="579120">
                <a:tc>
                  <a:txBody>
                    <a:bodyPr wrap="square"/>
                    <a:lstStyle/>
                    <a:p>
                      <a:pPr>
                        <a:defRPr sz="1400" b="0">
                          <a:solidFill>
                            <a:srgbClr val="1A1A1A"/>
                          </a:solidFill>
                        </a:defRPr>
                      </a:pPr>
                      <a:r>
                        <a:t>xlarge (1000)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1.41 / 1.13</a:t>
                      </a:r>
                    </a:p>
                  </a:txBody>
                  <a:tcPr marT="50800" marB="50800" marL="101600" marR="101600">
                    <a:solidFill>
                      <a:srgbClr val="FFFFFF"/>
                    </a:solidFill>
                  </a:tcPr>
                </a:tc>
                <a:tc>
                  <a:txBody>
                    <a:bodyPr wrap="square"/>
                    <a:lstStyle/>
                    <a:p>
                      <a:pPr>
                        <a:defRPr sz="1400" b="0">
                          <a:solidFill>
                            <a:srgbClr val="1A1A1A"/>
                          </a:solidFill>
                        </a:defRPr>
                      </a:pPr>
                      <a:r>
                        <a:t>83 / 120</a:t>
                      </a:r>
                    </a:p>
                  </a:txBody>
                  <a:tcPr marT="50800" marB="50800" marL="101600" marR="101600">
                    <a:solidFill>
                      <a:srgbClr val="FFFFFF"/>
                    </a:solidFill>
                  </a:tcPr>
                </a:tc>
                <a:tc>
                  <a:txBody>
                    <a:bodyPr wrap="square"/>
                    <a:lstStyle/>
                    <a:p>
                      <a:pPr>
                        <a:defRPr sz="1400" b="0">
                          <a:solidFill>
                            <a:srgbClr val="1A1A1A"/>
                          </a:solidFill>
                        </a:defRPr>
                      </a:pPr>
                      <a:r>
                        <a:t>0.14 s / 73 s</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accuracy is not free in wall time, and neither is the makespan — the gap widens with scale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Honest limits, and what they leave open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36</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The exact solver is capped near 800 assignment variables — a deliberate boundary</a:t>
            </a:r>
          </a:p>
          <a:p>
            <a:pPr>
              <a:spcAft>
                <a:spcPts val="1000"/>
              </a:spcAft>
              <a:defRPr sz="2000">
                <a:solidFill>
                  <a:srgbClr val="1A1A1A"/>
                </a:solidFill>
              </a:defRPr>
            </a:pPr>
            <a:r>
              <a:t>•  The relaxation reaches ~100,000 rows at 1,000 tasks; the GA runs on one fixed budget</a:t>
            </a:r>
          </a:p>
          <a:p>
            <a:pPr>
              <a:spcAft>
                <a:spcPts val="1000"/>
              </a:spcAft>
              <a:defRPr sz="2000">
                <a:solidFill>
                  <a:srgbClr val="1A1A1A"/>
                </a:solidFill>
              </a:defRPr>
            </a:pPr>
            <a:r>
              <a:t>•  The failure model is retry-once-in-place: no replication, checkpointing, or migration</a:t>
            </a:r>
          </a:p>
          <a:p>
            <a:pPr>
              <a:spcAft>
                <a:spcPts val="1000"/>
              </a:spcAft>
              <a:defRPr sz="2000">
                <a:solidFill>
                  <a:srgbClr val="1A1A1A"/>
                </a:solidFill>
              </a:defRPr>
            </a:pPr>
            <a:r>
              <a:t>•  Schedulable instances stop near 10,000 tasks; the million-task experiments are structural</a:t>
            </a:r>
          </a:p>
          <a:p>
            <a:pPr>
              <a:spcAft>
                <a:spcPts val="400"/>
              </a:spcAft>
            </a:pPr>
          </a:p>
          <a:p>
            <a:pPr>
              <a:spcAft>
                <a:spcPts val="1000"/>
              </a:spcAft>
              <a:defRPr sz="2000">
                <a:solidFill>
                  <a:srgbClr val="1A1A1A"/>
                </a:solidFill>
              </a:defRPr>
            </a:pPr>
            <a:r>
              <a:t>•  What is open: a whole machine fails mid-run, and the schedule was decided up front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6.  Paper 3 — the proposed research</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Dynamic partial repartitioning after a node failure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question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38</a:t>
            </a:r>
          </a:p>
        </p:txBody>
      </p:sp>
      <p:sp>
        <p:nvSpPr>
          <p:cNvPr id="6" name="TextBox 5"/>
          <p:cNvSpPr txBox="1"/>
          <p:nvPr/>
        </p:nvSpPr>
        <p:spPr>
          <a:xfrm>
            <a:off x="640080" y="1280160"/>
            <a:ext cx="10972800" cy="1463040"/>
          </a:xfrm>
          <a:prstGeom prst="rect">
            <a:avLst/>
          </a:prstGeom>
          <a:noFill/>
        </p:spPr>
        <p:txBody>
          <a:bodyPr wrap="square">
            <a:spAutoFit/>
          </a:bodyPr>
          <a:lstStyle/>
          <a:p>
            <a:pPr>
              <a:defRPr sz="2100" b="1" i="0">
                <a:solidFill>
                  <a:srgbClr val="1A1A1A"/>
                </a:solidFill>
              </a:defRPr>
            </a:pPr>
            <a:r>
              <a:t>How can we repartition and reschedule only the affected part of a DAG workflow after a fog resource fails — while keeping recovery time, task movement, data re-shipped, and completion time small?</a:t>
            </a:r>
          </a:p>
        </p:txBody>
      </p:sp>
      <p:sp>
        <p:nvSpPr>
          <p:cNvPr id="7" name="TextBox 6"/>
          <p:cNvSpPr txBox="1"/>
          <p:nvPr/>
        </p:nvSpPr>
        <p:spPr>
          <a:xfrm>
            <a:off x="640080" y="3200400"/>
            <a:ext cx="10972800" cy="5029200"/>
          </a:xfrm>
          <a:prstGeom prst="rect">
            <a:avLst/>
          </a:prstGeom>
          <a:noFill/>
        </p:spPr>
        <p:txBody>
          <a:bodyPr wrap="square">
            <a:spAutoFit/>
          </a:bodyPr>
          <a:lstStyle/>
          <a:p>
            <a:pPr>
              <a:spcAft>
                <a:spcPts val="1000"/>
              </a:spcAft>
              <a:defRPr sz="2000">
                <a:solidFill>
                  <a:srgbClr val="1A1A1A"/>
                </a:solidFill>
              </a:defRPr>
            </a:pPr>
            <a:r>
              <a:t>•  RQ1 – the boundary: what is the smallest part of the workflow that must be repartitioned?</a:t>
            </a:r>
          </a:p>
          <a:p>
            <a:pPr>
              <a:spcAft>
                <a:spcPts val="1000"/>
              </a:spcAft>
              <a:defRPr sz="2000">
                <a:solidFill>
                  <a:srgbClr val="1A1A1A"/>
                </a:solidFill>
              </a:defRPr>
            </a:pPr>
            <a:r>
              <a:t>•  RQ2 – the repair: how do we repartition it onto surviving machines at minimum cost and still meet the deadline?</a:t>
            </a:r>
          </a:p>
          <a:p>
            <a:pPr>
              <a:spcAft>
                <a:spcPts val="1000"/>
              </a:spcAft>
              <a:defRPr sz="2000">
                <a:solidFill>
                  <a:srgbClr val="1A1A1A"/>
                </a:solidFill>
              </a:defRPr>
            </a:pPr>
            <a:r>
              <a:t>•  RQ3 – the paths: how do we update communication paths incrementally instead of recomputing them?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a failure looks like mid-run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39</a:t>
            </a:r>
          </a:p>
        </p:txBody>
      </p:sp>
      <p:sp>
        <p:nvSpPr>
          <p:cNvPr id="6" name="TextBox 5"/>
          <p:cNvSpPr txBox="1"/>
          <p:nvPr/>
        </p:nvSpPr>
        <p:spPr>
          <a:xfrm>
            <a:off x="640080" y="1371600"/>
            <a:ext cx="6035040" cy="5029200"/>
          </a:xfrm>
          <a:prstGeom prst="rect">
            <a:avLst/>
          </a:prstGeom>
          <a:noFill/>
        </p:spPr>
        <p:txBody>
          <a:bodyPr wrap="square">
            <a:spAutoFit/>
          </a:bodyPr>
          <a:lstStyle/>
          <a:p>
            <a:pPr>
              <a:spcAft>
                <a:spcPts val="1000"/>
              </a:spcAft>
              <a:defRPr sz="1800">
                <a:solidFill>
                  <a:srgbClr val="1A1A1A"/>
                </a:solidFill>
              </a:defRPr>
            </a:pPr>
            <a:r>
              <a:t>•  A machine dies with work still queued or running on it</a:t>
            </a:r>
          </a:p>
          <a:p>
            <a:pPr>
              <a:spcAft>
                <a:spcPts val="1000"/>
              </a:spcAft>
              <a:defRPr sz="1800">
                <a:solidFill>
                  <a:srgbClr val="1A1A1A"/>
                </a:solidFill>
              </a:defRPr>
            </a:pPr>
            <a:r>
              <a:t>•  The stranded tasks must move — that part is mandatory</a:t>
            </a:r>
          </a:p>
          <a:p>
            <a:pPr>
              <a:spcAft>
                <a:spcPts val="1000"/>
              </a:spcAft>
              <a:defRPr sz="1800">
                <a:solidFill>
                  <a:srgbClr val="1A1A1A"/>
                </a:solidFill>
              </a:defRPr>
            </a:pPr>
            <a:r>
              <a:t>•  But some neighbors may have to move too:</a:t>
            </a:r>
          </a:p>
          <a:p>
            <a:pPr>
              <a:spcAft>
                <a:spcPts val="1000"/>
              </a:spcAft>
              <a:defRPr sz="1600">
                <a:solidFill>
                  <a:srgbClr val="595959"/>
                </a:solidFill>
              </a:defRPr>
            </a:pPr>
            <a:r>
              <a:t>      – a task whose input now crosses a path too slow to serve it in time</a:t>
            </a:r>
          </a:p>
          <a:p>
            <a:pPr>
              <a:spcAft>
                <a:spcPts val="1000"/>
              </a:spcAft>
              <a:defRPr sz="1600">
                <a:solidFill>
                  <a:srgbClr val="595959"/>
                </a:solidFill>
              </a:defRPr>
            </a:pPr>
            <a:r>
              <a:t>      – a task that can no longer finish by the deadline if it stays</a:t>
            </a:r>
          </a:p>
          <a:p>
            <a:pPr>
              <a:spcAft>
                <a:spcPts val="1000"/>
              </a:spcAft>
              <a:defRPr sz="1800">
                <a:solidFill>
                  <a:srgbClr val="1A1A1A"/>
                </a:solidFill>
              </a:defRPr>
            </a:pPr>
            <a:r>
              <a:t>•  The invariant throughout: completed work never restarts, and tasks that are fine never move</a:t>
            </a:r>
          </a:p>
        </p:txBody>
      </p:sp>
      <p:sp>
        <p:nvSpPr>
          <p:cNvPr id="7" name="Rounded Rectangle 6"/>
          <p:cNvSpPr/>
          <p:nvPr/>
        </p:nvSpPr>
        <p:spPr>
          <a:xfrm>
            <a:off x="7132320" y="146304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1A1A1A"/>
                </a:solidFill>
              </a:defRPr>
            </a:pPr>
            <a:r>
              <a:t>Workflow runs under the initial schedule</a:t>
            </a:r>
          </a:p>
        </p:txBody>
      </p:sp>
      <p:cxnSp>
        <p:nvCxnSpPr>
          <p:cNvPr id="8" name="Connector 7"/>
          <p:cNvCxnSpPr/>
          <p:nvPr/>
        </p:nvCxnSpPr>
        <p:spPr>
          <a:xfrm>
            <a:off x="9235440" y="2331720"/>
            <a:ext cx="0" cy="411480"/>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132320" y="274320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A1A1A"/>
                </a:solidFill>
              </a:defRPr>
            </a:pPr>
            <a:r>
              <a:t>A node fails — its unfinished tasks are stranded</a:t>
            </a:r>
          </a:p>
        </p:txBody>
      </p:sp>
      <p:cxnSp>
        <p:nvCxnSpPr>
          <p:cNvPr id="10" name="Connector 9"/>
          <p:cNvCxnSpPr/>
          <p:nvPr/>
        </p:nvCxnSpPr>
        <p:spPr>
          <a:xfrm>
            <a:off x="9235440" y="3611880"/>
            <a:ext cx="0" cy="411480"/>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132320" y="402336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1A1A1A"/>
                </a:solidFill>
              </a:defRPr>
            </a:pPr>
            <a:r>
              <a:t>Repair only the affected region, then resume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recovery cost model</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40</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Recovery cost = added makespan + tasks moved + data re-shipped</a:t>
            </a:r>
          </a:p>
          <a:p>
            <a:pPr>
              <a:spcAft>
                <a:spcPts val="1000"/>
              </a:spcAft>
              <a:defRPr sz="1900">
                <a:solidFill>
                  <a:srgbClr val="1A1A1A"/>
                </a:solidFill>
              </a:defRPr>
            </a:pPr>
            <a:r>
              <a:t>•  Added makespan — how much later the workflow finishes</a:t>
            </a:r>
          </a:p>
          <a:p>
            <a:pPr>
              <a:spcAft>
                <a:spcPts val="1000"/>
              </a:spcAft>
              <a:defRPr sz="1900">
                <a:solidFill>
                  <a:srgbClr val="1A1A1A"/>
                </a:solidFill>
              </a:defRPr>
            </a:pPr>
            <a:r>
              <a:t>•  Tasks moved — how many placements had to change</a:t>
            </a:r>
          </a:p>
          <a:p>
            <a:pPr>
              <a:spcAft>
                <a:spcPts val="1000"/>
              </a:spcAft>
              <a:defRPr sz="1900">
                <a:solidFill>
                  <a:srgbClr val="1A1A1A"/>
                </a:solidFill>
              </a:defRPr>
            </a:pPr>
            <a:r>
              <a:t>•  Data re-shipped — the bytes that must travel to the new machines</a:t>
            </a:r>
          </a:p>
          <a:p>
            <a:pPr>
              <a:spcAft>
                <a:spcPts val="1000"/>
              </a:spcAft>
              <a:defRPr sz="1900">
                <a:solidFill>
                  <a:srgbClr val="1A1A1A"/>
                </a:solidFill>
              </a:defRPr>
            </a:pPr>
            <a:r>
              <a:t>•  Minimized subject to the deadline and the accuracy</a:t>
            </a:r>
          </a:p>
          <a:p>
            <a:pPr>
              <a:spcAft>
                <a:spcPts val="1000"/>
              </a:spcAft>
              <a:defRPr sz="1700">
                <a:solidFill>
                  <a:srgbClr val="595959"/>
                </a:solidFill>
              </a:defRPr>
            </a:pPr>
            <a:r>
              <a:t>      – each term is measured separately in the evaluation</a:t>
            </a:r>
          </a:p>
        </p:txBody>
      </p:sp>
      <p:pic>
        <p:nvPicPr>
          <p:cNvPr id="7" name="Picture 6" descr="eq15.png"/>
          <p:cNvPicPr>
            <a:picLocks noChangeAspect="1"/>
          </p:cNvPicPr>
          <p:nvPr/>
        </p:nvPicPr>
        <p:blipFill>
          <a:blip r:embed="rId3"/>
          <a:stretch>
            <a:fillRect/>
          </a:stretch>
        </p:blipFill>
        <p:spPr>
          <a:xfrm>
            <a:off x="1097280" y="5029200"/>
            <a:ext cx="8272712" cy="256093"/>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method, in seven steps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41</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1.  Build the initial partition with any paper-1 scheduler — that part is already done</a:t>
            </a:r>
          </a:p>
          <a:p>
            <a:pPr>
              <a:spcAft>
                <a:spcPts val="1000"/>
              </a:spcAft>
              <a:defRPr sz="1800">
                <a:solidFill>
                  <a:srgbClr val="1A1A1A"/>
                </a:solidFill>
              </a:defRPr>
            </a:pPr>
            <a:r>
              <a:t>•  2.  Detect the failure and mark the tasks stranded on the failed node</a:t>
            </a:r>
          </a:p>
          <a:p>
            <a:pPr>
              <a:spcAft>
                <a:spcPts val="1000"/>
              </a:spcAft>
              <a:defRPr sz="1800">
                <a:solidFill>
                  <a:srgbClr val="1A1A1A"/>
                </a:solidFill>
              </a:defRPr>
            </a:pPr>
            <a:r>
              <a:t>•  3.  Grow the affected region: stranded tasks, plus any neighbor that fails a stay-test</a:t>
            </a:r>
          </a:p>
          <a:p>
            <a:pPr>
              <a:spcAft>
                <a:spcPts val="1000"/>
              </a:spcAft>
              <a:defRPr sz="1800">
                <a:solidFill>
                  <a:srgbClr val="1A1A1A"/>
                </a:solidFill>
              </a:defRPr>
            </a:pPr>
            <a:r>
              <a:t>•  4.  Choose replacement nodes by spare capacity and by distance to the parents and children</a:t>
            </a:r>
          </a:p>
          <a:p>
            <a:pPr>
              <a:spcAft>
                <a:spcPts val="1000"/>
              </a:spcAft>
              <a:defRPr sz="1800">
                <a:solidFill>
                  <a:srgbClr val="1A1A1A"/>
                </a:solidFill>
              </a:defRPr>
            </a:pPr>
            <a:r>
              <a:t>•  5.  Repartition only that region, under the recovery cost model</a:t>
            </a:r>
          </a:p>
          <a:p>
            <a:pPr>
              <a:spcAft>
                <a:spcPts val="1000"/>
              </a:spcAft>
              <a:defRPr sz="1800">
                <a:solidFill>
                  <a:srgbClr val="1A1A1A"/>
                </a:solidFill>
              </a:defRPr>
            </a:pPr>
            <a:r>
              <a:t>•  6.  Update only the communication paths that actually changed</a:t>
            </a:r>
          </a:p>
          <a:p>
            <a:pPr>
              <a:spcAft>
                <a:spcPts val="1000"/>
              </a:spcAft>
              <a:defRPr sz="1800">
                <a:solidFill>
                  <a:srgbClr val="1A1A1A"/>
                </a:solidFill>
              </a:defRPr>
            </a:pPr>
            <a:r>
              <a:t>•  7.  Resume the workflow from the last good point</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only the affected region is re-planned — the rest of the schedule runs untouched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RQ1: where does the boundary lie?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Start with the stranded tasks — mandatory — then grow the region only while a neighbor fails a stay-test:</a:t>
            </a:r>
          </a:p>
        </p:txBody>
      </p:sp>
      <p:sp>
        <p:nvSpPr>
          <p:cNvPr id="7" name="TextBox 6"/>
          <p:cNvSpPr txBox="1"/>
          <p:nvPr/>
        </p:nvSpPr>
        <p:spPr>
          <a:xfrm>
            <a:off x="1005840" y="1828800"/>
            <a:ext cx="10515600" cy="2011680"/>
          </a:xfrm>
          <a:prstGeom prst="rect">
            <a:avLst/>
          </a:prstGeom>
          <a:noFill/>
        </p:spPr>
        <p:txBody>
          <a:bodyPr wrap="square">
            <a:spAutoFit/>
          </a:bodyPr>
          <a:lstStyle/>
          <a:p>
            <a:pPr>
              <a:spcAft>
                <a:spcPts val="400"/>
              </a:spcAft>
              <a:defRPr sz="1400">
                <a:solidFill>
                  <a:srgbClr val="1A1A1A"/>
                </a:solidFill>
                <a:latin typeface="Menlo"/>
              </a:defRPr>
            </a:pPr>
            <a:r>
              <a:t>R ← {unfinished tasks on the failed node}</a:t>
            </a:r>
          </a:p>
          <a:p>
            <a:pPr>
              <a:spcAft>
                <a:spcPts val="400"/>
              </a:spcAft>
              <a:defRPr sz="1400">
                <a:solidFill>
                  <a:srgbClr val="1A1A1A"/>
                </a:solidFill>
                <a:latin typeface="Menlo"/>
              </a:defRPr>
            </a:pPr>
            <a:r>
              <a:t>repeat</a:t>
            </a:r>
          </a:p>
          <a:p>
            <a:pPr>
              <a:spcAft>
                <a:spcPts val="400"/>
              </a:spcAft>
              <a:defRPr sz="1400">
                <a:solidFill>
                  <a:srgbClr val="1A1A1A"/>
                </a:solidFill>
                <a:latin typeface="Menlo"/>
              </a:defRPr>
            </a:pPr>
            <a:r>
              <a:t>    for each neighbor T_i of R:</a:t>
            </a:r>
          </a:p>
          <a:p>
            <a:pPr>
              <a:spcAft>
                <a:spcPts val="400"/>
              </a:spcAft>
              <a:defRPr sz="1400">
                <a:solidFill>
                  <a:srgbClr val="1A1A1A"/>
                </a:solidFill>
                <a:latin typeface="Menlo"/>
              </a:defRPr>
            </a:pPr>
            <a:r>
              <a:t>        if staying misses the deadline        → admit T_i</a:t>
            </a:r>
          </a:p>
          <a:p>
            <a:pPr>
              <a:spcAft>
                <a:spcPts val="400"/>
              </a:spcAft>
              <a:defRPr sz="1400">
                <a:solidFill>
                  <a:srgbClr val="1A1A1A"/>
                </a:solidFill>
                <a:latin typeface="Menlo"/>
              </a:defRPr>
            </a:pPr>
            <a:r>
              <a:t>        if its input can’t arrive in time    → admit T_i</a:t>
            </a:r>
          </a:p>
          <a:p>
            <a:pPr>
              <a:spcAft>
                <a:spcPts val="400"/>
              </a:spcAft>
              <a:defRPr sz="1400">
                <a:solidFill>
                  <a:srgbClr val="1A1A1A"/>
                </a:solidFill>
                <a:latin typeface="Menlo"/>
              </a:defRPr>
            </a:pPr>
            <a:r>
              <a:t>until no neighbor fails a test  or  |R| = cap</a:t>
            </a:r>
          </a:p>
        </p:txBody>
      </p:sp>
      <p:sp>
        <p:nvSpPr>
          <p:cNvPr id="8" name="TextBox 7"/>
          <p:cNvSpPr txBox="1"/>
          <p:nvPr/>
        </p:nvSpPr>
        <p:spPr>
          <a:xfrm>
            <a:off x="640080" y="4206240"/>
            <a:ext cx="10972800" cy="5029200"/>
          </a:xfrm>
          <a:prstGeom prst="rect">
            <a:avLst/>
          </a:prstGeom>
          <a:noFill/>
        </p:spPr>
        <p:txBody>
          <a:bodyPr wrap="square">
            <a:spAutoFit/>
          </a:bodyPr>
          <a:lstStyle/>
          <a:p>
            <a:pPr>
              <a:spcAft>
                <a:spcPts val="1000"/>
              </a:spcAft>
              <a:defRPr sz="1900">
                <a:solidFill>
                  <a:srgbClr val="1A1A1A"/>
                </a:solidFill>
              </a:defRPr>
            </a:pPr>
            <a:r>
              <a:t>•  The tasks that stayed put become fixed anchors — their output arrival times enter the repair as constants</a:t>
            </a:r>
          </a:p>
          <a:p>
            <a:pPr>
              <a:spcAft>
                <a:spcPts val="1000"/>
              </a:spcAft>
              <a:defRPr sz="1900">
                <a:solidFill>
                  <a:srgbClr val="1A1A1A"/>
                </a:solidFill>
              </a:defRPr>
            </a:pPr>
            <a:r>
              <a:t>•  The minimality of R is the claim the experiments verify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RQ2: repairing the region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43</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Repair is a smaller instance of the same optimization — the paper-2 schedulers become the region solvers</a:t>
            </a:r>
          </a:p>
          <a:p>
            <a:pPr>
              <a:spcAft>
                <a:spcPts val="1000"/>
              </a:spcAft>
              <a:defRPr sz="2000">
                <a:solidFill>
                  <a:srgbClr val="1A1A1A"/>
                </a:solidFill>
              </a:defRPr>
            </a:pPr>
            <a:r>
              <a:t>•  Minimize added makespan + tasks moved + data re-shipped, subject to accuracy and the deadline</a:t>
            </a:r>
          </a:p>
          <a:p>
            <a:pPr>
              <a:spcAft>
                <a:spcPts val="1000"/>
              </a:spcAft>
              <a:defRPr sz="2000">
                <a:solidFill>
                  <a:srgbClr val="1A1A1A"/>
                </a:solidFill>
              </a:defRPr>
            </a:pPr>
            <a:r>
              <a:t>•  The anchors enter as constants: arrival times of data from tasks that stayed put</a:t>
            </a:r>
          </a:p>
          <a:p>
            <a:pPr>
              <a:spcAft>
                <a:spcPts val="1000"/>
              </a:spcAft>
              <a:defRPr sz="2000">
                <a:solidFill>
                  <a:srgbClr val="1A1A1A"/>
                </a:solidFill>
              </a:defRPr>
            </a:pPr>
            <a:r>
              <a:t>•  A greedy repair gives millisecond answers; the exact solver is the reference on small regions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RQ3: updating the paths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44</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Moved tasks need new paths to their parents and children</a:t>
            </a:r>
          </a:p>
          <a:p>
            <a:pPr>
              <a:spcAft>
                <a:spcPts val="1000"/>
              </a:spcAft>
              <a:defRPr sz="2000">
                <a:solidFill>
                  <a:srgbClr val="1A1A1A"/>
                </a:solidFill>
              </a:defRPr>
            </a:pPr>
            <a:r>
              <a:t>•  Recomputing all shortest paths mid-workflow is too slow</a:t>
            </a:r>
          </a:p>
          <a:p>
            <a:pPr>
              <a:spcAft>
                <a:spcPts val="1000"/>
              </a:spcAft>
              <a:defRPr sz="2000">
                <a:solidFill>
                  <a:srgbClr val="1A1A1A"/>
                </a:solidFill>
              </a:defRPr>
            </a:pPr>
            <a:r>
              <a:t>•  So we reuse dynamic shortest-path updates (Riazi, Khanda, Bhowmick and colleagues):</a:t>
            </a:r>
          </a:p>
          <a:p>
            <a:pPr>
              <a:spcAft>
                <a:spcPts val="1000"/>
              </a:spcAft>
              <a:defRPr sz="1800">
                <a:solidFill>
                  <a:srgbClr val="595959"/>
                </a:solidFill>
              </a:defRPr>
            </a:pPr>
            <a:r>
              <a:t>      – only paths through the deleted machine and the moved tasks change</a:t>
            </a:r>
          </a:p>
          <a:p>
            <a:pPr>
              <a:spcAft>
                <a:spcPts val="1000"/>
              </a:spcAft>
              <a:defRPr sz="2000">
                <a:solidFill>
                  <a:srgbClr val="1A1A1A"/>
                </a:solidFill>
              </a:defRPr>
            </a:pPr>
            <a:r>
              <a:t>•  Using dynamic path updates to drive workflow recovery is, as far as we know, new</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is new here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45</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Dynamic shortest-path updates exist — but have never driven workflow repartitioning</a:t>
            </a:r>
          </a:p>
          <a:p>
            <a:pPr>
              <a:spcAft>
                <a:spcPts val="1000"/>
              </a:spcAft>
              <a:defRPr sz="2000">
                <a:solidFill>
                  <a:srgbClr val="1A1A1A"/>
                </a:solidFill>
              </a:defRPr>
            </a:pPr>
            <a:r>
              <a:t>•  Fog rescheduling exists — but without the two-graph coupling</a:t>
            </a:r>
          </a:p>
          <a:p>
            <a:pPr>
              <a:spcAft>
                <a:spcPts val="1000"/>
              </a:spcAft>
              <a:defRPr sz="2000">
                <a:solidFill>
                  <a:srgbClr val="1A1A1A"/>
                </a:solidFill>
              </a:defRPr>
            </a:pPr>
            <a:r>
              <a:t>•  Partial workflow reconsideration exists — but not at failure granularity</a:t>
            </a:r>
          </a:p>
          <a:p>
            <a:pPr>
              <a:spcAft>
                <a:spcPts val="400"/>
              </a:spcAft>
            </a:pPr>
          </a:p>
          <a:p>
            <a:pPr>
              <a:spcAft>
                <a:spcPts val="1000"/>
              </a:spcAft>
              <a:defRPr sz="2000">
                <a:solidFill>
                  <a:srgbClr val="1A1A1A"/>
                </a:solidFill>
              </a:defRPr>
            </a:pPr>
            <a:r>
              <a:t>•  What is new: a node failure maps to the smallest affected region; only that region is repartitioned; only its paths update; the workflow resumes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novelty is the coupling: a failure in one graph becomes a small, well-defined repair in the other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7.  Evaluation plan and timeline</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Baselines, metrics, hypotheses, milestones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Evaluation setup: baselines and metrics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47</a:t>
            </a:r>
          </a:p>
        </p:txBody>
      </p:sp>
      <p:graphicFrame>
        <p:nvGraphicFramePr>
          <p:cNvPr id="6" name="Table 5"/>
          <p:cNvGraphicFramePr>
            <a:graphicFrameLocks noGrp="1"/>
          </p:cNvGraphicFramePr>
          <p:nvPr/>
        </p:nvGraphicFramePr>
        <p:xfrm>
          <a:off x="822960" y="1371600"/>
          <a:ext cx="10515600" cy="3291840"/>
        </p:xfrm>
        <a:graphic>
          <a:graphicData uri="http://schemas.openxmlformats.org/drawingml/2006/table">
            <a:tbl>
              <a:tblPr firstRow="1" bandRow="1">
                <a:tableStyleId>{5C22544A-7EE6-4342-B048-85BDC9FD1C3A}</a:tableStyleId>
              </a:tblPr>
              <a:tblGrid>
                <a:gridCol w="5486400"/>
                <a:gridCol w="5029200"/>
              </a:tblGrid>
              <a:tr h="658368">
                <a:tc>
                  <a:txBody>
                    <a:bodyPr wrap="square"/>
                    <a:lstStyle/>
                    <a:p>
                      <a:pPr>
                        <a:defRPr sz="1400" b="1">
                          <a:solidFill>
                            <a:srgbClr val="1A1A1A"/>
                          </a:solidFill>
                        </a:defRPr>
                      </a:pPr>
                      <a:r>
                        <a:t>Baselines</a:t>
                      </a:r>
                    </a:p>
                  </a:txBody>
                  <a:tcPr marT="50800" marB="50800" marL="101600" marR="101600">
                    <a:solidFill>
                      <a:srgbClr val="E8E8E8"/>
                    </a:solidFill>
                  </a:tcPr>
                </a:tc>
                <a:tc>
                  <a:txBody>
                    <a:bodyPr wrap="square"/>
                    <a:lstStyle/>
                    <a:p>
                      <a:pPr>
                        <a:defRPr sz="1400" b="1">
                          <a:solidFill>
                            <a:srgbClr val="1A1A1A"/>
                          </a:solidFill>
                        </a:defRPr>
                      </a:pPr>
                      <a:r>
                        <a:t>Metrics</a:t>
                      </a:r>
                    </a:p>
                  </a:txBody>
                  <a:tcPr marT="50800" marB="50800" marL="101600" marR="101600">
                    <a:solidFill>
                      <a:srgbClr val="E8E8E8"/>
                    </a:solidFill>
                  </a:tcPr>
                </a:tc>
              </a:tr>
              <a:tr h="658368">
                <a:tc>
                  <a:txBody>
                    <a:bodyPr wrap="square"/>
                    <a:lstStyle/>
                    <a:p>
                      <a:pPr>
                        <a:defRPr sz="1400" b="0">
                          <a:solidFill>
                            <a:srgbClr val="1A1A1A"/>
                          </a:solidFill>
                        </a:defRPr>
                      </a:pPr>
                      <a:r>
                        <a:t>Complete repartition – reschedule everything</a:t>
                      </a:r>
                    </a:p>
                  </a:txBody>
                  <a:tcPr marT="50800" marB="50800" marL="101600" marR="101600">
                    <a:solidFill>
                      <a:srgbClr val="FFFFFF"/>
                    </a:solidFill>
                  </a:tcPr>
                </a:tc>
                <a:tc>
                  <a:txBody>
                    <a:bodyPr wrap="square"/>
                    <a:lstStyle/>
                    <a:p>
                      <a:pPr>
                        <a:defRPr sz="1400" b="0">
                          <a:solidFill>
                            <a:srgbClr val="1A1A1A"/>
                          </a:solidFill>
                        </a:defRPr>
                      </a:pPr>
                      <a:r>
                        <a:t>Recovery time, detect to resume</a:t>
                      </a:r>
                    </a:p>
                  </a:txBody>
                  <a:tcPr marT="50800" marB="50800" marL="101600" marR="101600">
                    <a:solidFill>
                      <a:srgbClr val="FFFFFF"/>
                    </a:solidFill>
                  </a:tcPr>
                </a:tc>
              </a:tr>
              <a:tr h="658368">
                <a:tc>
                  <a:txBody>
                    <a:bodyPr wrap="square"/>
                    <a:lstStyle/>
                    <a:p>
                      <a:pPr>
                        <a:defRPr sz="1400" b="0">
                          <a:solidFill>
                            <a:srgbClr val="1A1A1A"/>
                          </a:solidFill>
                        </a:defRPr>
                      </a:pPr>
                      <a:r>
                        <a:t>Greedy rescue – reassign stranded tasks one by one</a:t>
                      </a:r>
                    </a:p>
                  </a:txBody>
                  <a:tcPr marT="50800" marB="50800" marL="101600" marR="101600">
                    <a:solidFill>
                      <a:srgbClr val="FFFFFF"/>
                    </a:solidFill>
                  </a:tcPr>
                </a:tc>
                <a:tc>
                  <a:txBody>
                    <a:bodyPr wrap="square"/>
                    <a:lstStyle/>
                    <a:p>
                      <a:pPr>
                        <a:defRPr sz="1400" b="0">
                          <a:solidFill>
                            <a:srgbClr val="1A1A1A"/>
                          </a:solidFill>
                        </a:defRPr>
                      </a:pPr>
                      <a:r>
                        <a:t>Completion time and deadline success</a:t>
                      </a:r>
                    </a:p>
                  </a:txBody>
                  <a:tcPr marT="50800" marB="50800" marL="101600" marR="101600">
                    <a:solidFill>
                      <a:srgbClr val="FFFFFF"/>
                    </a:solidFill>
                  </a:tcPr>
                </a:tc>
              </a:tr>
              <a:tr h="658368">
                <a:tc>
                  <a:txBody>
                    <a:bodyPr wrap="square"/>
                    <a:lstStyle/>
                    <a:p>
                      <a:pPr>
                        <a:defRPr sz="1400" b="0">
                          <a:solidFill>
                            <a:srgbClr val="1A1A1A"/>
                          </a:solidFill>
                        </a:defRPr>
                      </a:pPr>
                      <a:r>
                        <a:t>No repair – whatever survives</a:t>
                      </a:r>
                    </a:p>
                  </a:txBody>
                  <a:tcPr marT="50800" marB="50800" marL="101600" marR="101600">
                    <a:solidFill>
                      <a:srgbClr val="FFFFFF"/>
                    </a:solidFill>
                  </a:tcPr>
                </a:tc>
                <a:tc>
                  <a:txBody>
                    <a:bodyPr wrap="square"/>
                    <a:lstStyle/>
                    <a:p>
                      <a:pPr>
                        <a:defRPr sz="1400" b="0">
                          <a:solidFill>
                            <a:srgbClr val="1A1A1A"/>
                          </a:solidFill>
                        </a:defRPr>
                      </a:pPr>
                      <a:r>
                        <a:t>Data re-shipped and communication cost</a:t>
                      </a:r>
                    </a:p>
                  </a:txBody>
                  <a:tcPr marT="50800" marB="50800" marL="101600" marR="101600">
                    <a:solidFill>
                      <a:srgbClr val="FFFFFF"/>
                    </a:solidFill>
                  </a:tcPr>
                </a:tc>
              </a:tr>
              <a:tr h="658368">
                <a:tc>
                  <a:txBody>
                    <a:bodyPr wrap="square"/>
                    <a:lstStyle/>
                    <a:p>
                      <a:pPr>
                        <a:defRPr sz="1400" b="0">
                          <a:solidFill>
                            <a:srgbClr val="1A1A1A"/>
                          </a:solidFill>
                        </a:defRPr>
                      </a:pPr>
                      <a:r>
                        <a:t>Exact repair on small cases – the reference</a:t>
                      </a:r>
                    </a:p>
                  </a:txBody>
                  <a:tcPr marT="50800" marB="50800" marL="101600" marR="101600">
                    <a:solidFill>
                      <a:srgbClr val="FFFFFF"/>
                    </a:solidFill>
                  </a:tcPr>
                </a:tc>
                <a:tc>
                  <a:txBody>
                    <a:bodyPr wrap="square"/>
                    <a:lstStyle/>
                    <a:p>
                      <a:pPr>
                        <a:defRPr sz="1400" b="0">
                          <a:solidFill>
                            <a:srgbClr val="1A1A1A"/>
                          </a:solidFill>
                        </a:defRPr>
                      </a:pPr>
                      <a:r>
                        <a:t>Tasks moved; repaired-schedule quality</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platform from paper two already provides the baselines and the failure injection — the testbed exists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Factors and hypotheses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48</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What I will vary:</a:t>
            </a:r>
          </a:p>
          <a:p>
            <a:pPr>
              <a:spcAft>
                <a:spcPts val="1000"/>
              </a:spcAft>
              <a:defRPr sz="1600">
                <a:solidFill>
                  <a:srgbClr val="595959"/>
                </a:solidFill>
              </a:defRPr>
            </a:pPr>
            <a:r>
              <a:t>      – where the failure hits — a node on the critical path versus a peripheral one</a:t>
            </a:r>
          </a:p>
          <a:p>
            <a:pPr>
              <a:spcAft>
                <a:spcPts val="1000"/>
              </a:spcAft>
              <a:defRPr sz="1600">
                <a:solidFill>
                  <a:srgbClr val="595959"/>
                </a:solidFill>
              </a:defRPr>
            </a:pPr>
            <a:r>
              <a:t>      – how many nodes fail — one versus several at once</a:t>
            </a:r>
          </a:p>
          <a:p>
            <a:pPr>
              <a:spcAft>
                <a:spcPts val="1000"/>
              </a:spcAft>
              <a:defRPr sz="1600">
                <a:solidFill>
                  <a:srgbClr val="595959"/>
                </a:solidFill>
              </a:defRPr>
            </a:pPr>
            <a:r>
              <a:t>      – when it happens — how much deadline slack is left</a:t>
            </a:r>
          </a:p>
          <a:p>
            <a:pPr>
              <a:spcAft>
                <a:spcPts val="1000"/>
              </a:spcAft>
              <a:defRPr sz="1800">
                <a:solidFill>
                  <a:srgbClr val="1A1A1A"/>
                </a:solidFill>
              </a:defRPr>
            </a:pPr>
            <a:r>
              <a:t>•  Scale: workflows of 10–1,000 tasks on federations of 2–10 nodes, as in paper 2</a:t>
            </a:r>
          </a:p>
          <a:p>
            <a:pPr>
              <a:spcAft>
                <a:spcPts val="1000"/>
              </a:spcAft>
              <a:defRPr sz="1800">
                <a:solidFill>
                  <a:srgbClr val="1A1A1A"/>
                </a:solidFill>
              </a:defRPr>
            </a:pPr>
            <a:r>
              <a:t>•  Three falsifiable hypotheses:</a:t>
            </a:r>
          </a:p>
          <a:p>
            <a:pPr>
              <a:spcAft>
                <a:spcPts val="1000"/>
              </a:spcAft>
              <a:defRPr sz="1600">
                <a:solidFill>
                  <a:srgbClr val="595959"/>
                </a:solidFill>
              </a:defRPr>
            </a:pPr>
            <a:r>
              <a:t>      – H1 – recovery time grows with the affected region, not with the whole workflow</a:t>
            </a:r>
          </a:p>
          <a:p>
            <a:pPr>
              <a:spcAft>
                <a:spcPts val="1000"/>
              </a:spcAft>
              <a:defRPr sz="1600">
                <a:solidFill>
                  <a:srgbClr val="595959"/>
                </a:solidFill>
              </a:defRPr>
            </a:pPr>
            <a:r>
              <a:t>      – H2 – tasks moved and data re-shipped stay far below the baselines at equal feasibility</a:t>
            </a:r>
          </a:p>
          <a:p>
            <a:pPr>
              <a:spcAft>
                <a:spcPts val="1000"/>
              </a:spcAft>
              <a:defRPr sz="1600">
                <a:solidFill>
                  <a:srgbClr val="595959"/>
                </a:solidFill>
              </a:defRPr>
            </a:pPr>
            <a:r>
              <a:t>      – H3 – the repair stays near the exact solver's quality on small cases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Six-month plan (Aug 2026 – Jan 2027)</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49</a:t>
            </a:r>
          </a:p>
        </p:txBody>
      </p:sp>
      <p:graphicFrame>
        <p:nvGraphicFramePr>
          <p:cNvPr id="6" name="Table 5"/>
          <p:cNvGraphicFramePr>
            <a:graphicFrameLocks noGrp="1"/>
          </p:cNvGraphicFramePr>
          <p:nvPr/>
        </p:nvGraphicFramePr>
        <p:xfrm>
          <a:off x="640080" y="1143000"/>
          <a:ext cx="10972800" cy="4937760"/>
        </p:xfrm>
        <a:graphic>
          <a:graphicData uri="http://schemas.openxmlformats.org/drawingml/2006/table">
            <a:tbl>
              <a:tblPr firstRow="1" bandRow="1">
                <a:tableStyleId>{5C22544A-7EE6-4342-B048-85BDC9FD1C3A}</a:tableStyleId>
              </a:tblPr>
              <a:tblGrid>
                <a:gridCol w="1371600"/>
                <a:gridCol w="7040880"/>
                <a:gridCol w="2560320"/>
              </a:tblGrid>
              <a:tr h="705394">
                <a:tc>
                  <a:txBody>
                    <a:bodyPr wrap="square"/>
                    <a:lstStyle/>
                    <a:p>
                      <a:pPr>
                        <a:defRPr sz="1300" b="1">
                          <a:solidFill>
                            <a:srgbClr val="1A1A1A"/>
                          </a:solidFill>
                        </a:defRPr>
                      </a:pPr>
                      <a:r>
                        <a:t>Month</a:t>
                      </a:r>
                    </a:p>
                  </a:txBody>
                  <a:tcPr marT="50800" marB="50800" marL="101600" marR="101600">
                    <a:solidFill>
                      <a:srgbClr val="E8E8E8"/>
                    </a:solidFill>
                  </a:tcPr>
                </a:tc>
                <a:tc>
                  <a:txBody>
                    <a:bodyPr wrap="square"/>
                    <a:lstStyle/>
                    <a:p>
                      <a:pPr>
                        <a:defRPr sz="1300" b="1">
                          <a:solidFill>
                            <a:srgbClr val="1A1A1A"/>
                          </a:solidFill>
                        </a:defRPr>
                      </a:pPr>
                      <a:r>
                        <a:t>Work</a:t>
                      </a:r>
                    </a:p>
                  </a:txBody>
                  <a:tcPr marT="50800" marB="50800" marL="101600" marR="101600">
                    <a:solidFill>
                      <a:srgbClr val="E8E8E8"/>
                    </a:solidFill>
                  </a:tcPr>
                </a:tc>
                <a:tc>
                  <a:txBody>
                    <a:bodyPr wrap="square"/>
                    <a:lstStyle/>
                    <a:p>
                      <a:pPr>
                        <a:defRPr sz="1300" b="1">
                          <a:solidFill>
                            <a:srgbClr val="1A1A1A"/>
                          </a:solidFill>
                        </a:defRPr>
                      </a:pPr>
                      <a:r>
                        <a:t>Output</a:t>
                      </a:r>
                    </a:p>
                  </a:txBody>
                  <a:tcPr marT="50800" marB="50800" marL="101600" marR="101600">
                    <a:solidFill>
                      <a:srgbClr val="E8E8E8"/>
                    </a:solidFill>
                  </a:tcPr>
                </a:tc>
              </a:tr>
              <a:tr h="705394">
                <a:tc>
                  <a:txBody>
                    <a:bodyPr wrap="square"/>
                    <a:lstStyle/>
                    <a:p>
                      <a:pPr>
                        <a:defRPr sz="1300" b="0">
                          <a:solidFill>
                            <a:srgbClr val="1A1A1A"/>
                          </a:solidFill>
                        </a:defRPr>
                      </a:pPr>
                      <a:r>
                        <a:t>Aug 2026</a:t>
                      </a:r>
                    </a:p>
                  </a:txBody>
                  <a:tcPr marT="50800" marB="50800" marL="101600" marR="101600">
                    <a:solidFill>
                      <a:srgbClr val="FFFFFF"/>
                    </a:solidFill>
                  </a:tcPr>
                </a:tc>
                <a:tc>
                  <a:txBody>
                    <a:bodyPr wrap="square"/>
                    <a:lstStyle/>
                    <a:p>
                      <a:pPr>
                        <a:defRPr sz="1300" b="0">
                          <a:solidFill>
                            <a:srgbClr val="1A1A1A"/>
                          </a:solidFill>
                        </a:defRPr>
                      </a:pPr>
                      <a:r>
                        <a:t>Extend the simulator to machine failures; boundary rule and region extraction; complete-repartition baseline</a:t>
                      </a:r>
                    </a:p>
                  </a:txBody>
                  <a:tcPr marT="50800" marB="50800" marL="101600" marR="101600">
                    <a:solidFill>
                      <a:srgbClr val="FFFFFF"/>
                    </a:solidFill>
                  </a:tcPr>
                </a:tc>
                <a:tc>
                  <a:txBody>
                    <a:bodyPr wrap="square"/>
                    <a:lstStyle/>
                    <a:p>
                      <a:pPr>
                        <a:defRPr sz="1300" b="0">
                          <a:solidFill>
                            <a:srgbClr val="1A1A1A"/>
                          </a:solidFill>
                        </a:defRPr>
                      </a:pPr>
                      <a:r>
                        <a:t>RQ1 done</a:t>
                      </a:r>
                    </a:p>
                  </a:txBody>
                  <a:tcPr marT="50800" marB="50800" marL="101600" marR="101600">
                    <a:solidFill>
                      <a:srgbClr val="FFFFFF"/>
                    </a:solidFill>
                  </a:tcPr>
                </a:tc>
              </a:tr>
              <a:tr h="705394">
                <a:tc>
                  <a:txBody>
                    <a:bodyPr wrap="square"/>
                    <a:lstStyle/>
                    <a:p>
                      <a:pPr>
                        <a:defRPr sz="1300" b="0">
                          <a:solidFill>
                            <a:srgbClr val="1A1A1A"/>
                          </a:solidFill>
                        </a:defRPr>
                      </a:pPr>
                      <a:r>
                        <a:t>Sep 2026</a:t>
                      </a:r>
                    </a:p>
                  </a:txBody>
                  <a:tcPr marT="50800" marB="50800" marL="101600" marR="101600">
                    <a:solidFill>
                      <a:srgbClr val="FFFFFF"/>
                    </a:solidFill>
                  </a:tcPr>
                </a:tc>
                <a:tc>
                  <a:txBody>
                    <a:bodyPr wrap="square"/>
                    <a:lstStyle/>
                    <a:p>
                      <a:pPr>
                        <a:defRPr sz="1300" b="0">
                          <a:solidFill>
                            <a:srgbClr val="1A1A1A"/>
                          </a:solidFill>
                        </a:defRPr>
                      </a:pPr>
                      <a:r>
                        <a:t>Repartition algorithm and replacement-machine selection</a:t>
                      </a:r>
                    </a:p>
                  </a:txBody>
                  <a:tcPr marT="50800" marB="50800" marL="101600" marR="101600">
                    <a:solidFill>
                      <a:srgbClr val="FFFFFF"/>
                    </a:solidFill>
                  </a:tcPr>
                </a:tc>
                <a:tc>
                  <a:txBody>
                    <a:bodyPr wrap="square"/>
                    <a:lstStyle/>
                    <a:p>
                      <a:pPr>
                        <a:defRPr sz="1300" b="0">
                          <a:solidFill>
                            <a:srgbClr val="1A1A1A"/>
                          </a:solidFill>
                        </a:defRPr>
                      </a:pPr>
                      <a:r>
                        <a:t>RQ2 in code</a:t>
                      </a:r>
                    </a:p>
                  </a:txBody>
                  <a:tcPr marT="50800" marB="50800" marL="101600" marR="101600">
                    <a:solidFill>
                      <a:srgbClr val="FFFFFF"/>
                    </a:solidFill>
                  </a:tcPr>
                </a:tc>
              </a:tr>
              <a:tr h="705394">
                <a:tc>
                  <a:txBody>
                    <a:bodyPr wrap="square"/>
                    <a:lstStyle/>
                    <a:p>
                      <a:pPr>
                        <a:defRPr sz="1300" b="0">
                          <a:solidFill>
                            <a:srgbClr val="1A1A1A"/>
                          </a:solidFill>
                        </a:defRPr>
                      </a:pPr>
                      <a:r>
                        <a:t>Oct 2026</a:t>
                      </a:r>
                    </a:p>
                  </a:txBody>
                  <a:tcPr marT="50800" marB="50800" marL="101600" marR="101600">
                    <a:solidFill>
                      <a:srgbClr val="FFFFFF"/>
                    </a:solidFill>
                  </a:tcPr>
                </a:tc>
                <a:tc>
                  <a:txBody>
                    <a:bodyPr wrap="square"/>
                    <a:lstStyle/>
                    <a:p>
                      <a:pPr>
                        <a:defRPr sz="1300" b="0">
                          <a:solidFill>
                            <a:srgbClr val="1A1A1A"/>
                          </a:solidFill>
                        </a:defRPr>
                      </a:pPr>
                      <a:r>
                        <a:t>Incremental path updates; greedy and exact region solvers</a:t>
                      </a:r>
                    </a:p>
                  </a:txBody>
                  <a:tcPr marT="50800" marB="50800" marL="101600" marR="101600">
                    <a:solidFill>
                      <a:srgbClr val="FFFFFF"/>
                    </a:solidFill>
                  </a:tcPr>
                </a:tc>
                <a:tc>
                  <a:txBody>
                    <a:bodyPr wrap="square"/>
                    <a:lstStyle/>
                    <a:p>
                      <a:pPr>
                        <a:defRPr sz="1300" b="0">
                          <a:solidFill>
                            <a:srgbClr val="1A1A1A"/>
                          </a:solidFill>
                        </a:defRPr>
                      </a:pPr>
                      <a:r>
                        <a:t>RQ3 done</a:t>
                      </a:r>
                    </a:p>
                  </a:txBody>
                  <a:tcPr marT="50800" marB="50800" marL="101600" marR="101600">
                    <a:solidFill>
                      <a:srgbClr val="FFFFFF"/>
                    </a:solidFill>
                  </a:tcPr>
                </a:tc>
              </a:tr>
              <a:tr h="705394">
                <a:tc>
                  <a:txBody>
                    <a:bodyPr wrap="square"/>
                    <a:lstStyle/>
                    <a:p>
                      <a:pPr>
                        <a:defRPr sz="1300" b="0">
                          <a:solidFill>
                            <a:srgbClr val="1A1A1A"/>
                          </a:solidFill>
                        </a:defRPr>
                      </a:pPr>
                      <a:r>
                        <a:t>Nov 2026</a:t>
                      </a:r>
                    </a:p>
                  </a:txBody>
                  <a:tcPr marT="50800" marB="50800" marL="101600" marR="101600">
                    <a:solidFill>
                      <a:srgbClr val="FFFFFF"/>
                    </a:solidFill>
                  </a:tcPr>
                </a:tc>
                <a:tc>
                  <a:txBody>
                    <a:bodyPr wrap="square"/>
                    <a:lstStyle/>
                    <a:p>
                      <a:pPr>
                        <a:defRPr sz="1300" b="0">
                          <a:solidFill>
                            <a:srgbClr val="1A1A1A"/>
                          </a:solidFill>
                        </a:defRPr>
                      </a:pPr>
                      <a:r>
                        <a:t>Full baseline comparison over failure location, count, slack, and scale</a:t>
                      </a:r>
                    </a:p>
                  </a:txBody>
                  <a:tcPr marT="50800" marB="50800" marL="101600" marR="101600">
                    <a:solidFill>
                      <a:srgbClr val="FFFFFF"/>
                    </a:solidFill>
                  </a:tcPr>
                </a:tc>
                <a:tc>
                  <a:txBody>
                    <a:bodyPr wrap="square"/>
                    <a:lstStyle/>
                    <a:p>
                      <a:pPr>
                        <a:defRPr sz="1300" b="0">
                          <a:solidFill>
                            <a:srgbClr val="1A1A1A"/>
                          </a:solidFill>
                        </a:defRPr>
                      </a:pPr>
                      <a:r>
                        <a:t>main results</a:t>
                      </a:r>
                    </a:p>
                  </a:txBody>
                  <a:tcPr marT="50800" marB="50800" marL="101600" marR="101600">
                    <a:solidFill>
                      <a:srgbClr val="FFFFFF"/>
                    </a:solidFill>
                  </a:tcPr>
                </a:tc>
              </a:tr>
              <a:tr h="705394">
                <a:tc>
                  <a:txBody>
                    <a:bodyPr wrap="square"/>
                    <a:lstStyle/>
                    <a:p>
                      <a:pPr>
                        <a:defRPr sz="1300" b="0">
                          <a:solidFill>
                            <a:srgbClr val="1A1A1A"/>
                          </a:solidFill>
                        </a:defRPr>
                      </a:pPr>
                      <a:r>
                        <a:t>Dec 2026</a:t>
                      </a:r>
                    </a:p>
                  </a:txBody>
                  <a:tcPr marT="50800" marB="50800" marL="101600" marR="101600">
                    <a:solidFill>
                      <a:srgbClr val="FFFFFF"/>
                    </a:solidFill>
                  </a:tcPr>
                </a:tc>
                <a:tc>
                  <a:txBody>
                    <a:bodyPr wrap="square"/>
                    <a:lstStyle/>
                    <a:p>
                      <a:pPr>
                        <a:defRPr sz="1300" b="0">
                          <a:solidFill>
                            <a:srgbClr val="1A1A1A"/>
                          </a:solidFill>
                        </a:defRPr>
                      </a:pPr>
                      <a:r>
                        <a:t>Hypothesis tests H1–H3; boundary-rule sensitivity</a:t>
                      </a:r>
                    </a:p>
                  </a:txBody>
                  <a:tcPr marT="50800" marB="50800" marL="101600" marR="101600">
                    <a:solidFill>
                      <a:srgbClr val="FFFFFF"/>
                    </a:solidFill>
                  </a:tcPr>
                </a:tc>
                <a:tc>
                  <a:txBody>
                    <a:bodyPr wrap="square"/>
                    <a:lstStyle/>
                    <a:p>
                      <a:pPr>
                        <a:defRPr sz="1300" b="0">
                          <a:solidFill>
                            <a:srgbClr val="1A1A1A"/>
                          </a:solidFill>
                        </a:defRPr>
                      </a:pPr>
                      <a:r>
                        <a:t>analysis complete</a:t>
                      </a:r>
                    </a:p>
                  </a:txBody>
                  <a:tcPr marT="50800" marB="50800" marL="101600" marR="101600">
                    <a:solidFill>
                      <a:srgbClr val="FFFFFF"/>
                    </a:solidFill>
                  </a:tcPr>
                </a:tc>
              </a:tr>
              <a:tr h="705396">
                <a:tc>
                  <a:txBody>
                    <a:bodyPr wrap="square"/>
                    <a:lstStyle/>
                    <a:p>
                      <a:pPr>
                        <a:defRPr sz="1300" b="0">
                          <a:solidFill>
                            <a:srgbClr val="1A1A1A"/>
                          </a:solidFill>
                        </a:defRPr>
                      </a:pPr>
                      <a:r>
                        <a:t>Jan 2027</a:t>
                      </a:r>
                    </a:p>
                  </a:txBody>
                  <a:tcPr marT="50800" marB="50800" marL="101600" marR="101600">
                    <a:solidFill>
                      <a:srgbClr val="FFFFFF"/>
                    </a:solidFill>
                  </a:tcPr>
                </a:tc>
                <a:tc>
                  <a:txBody>
                    <a:bodyPr wrap="square"/>
                    <a:lstStyle/>
                    <a:p>
                      <a:pPr>
                        <a:defRPr sz="1300" b="0">
                          <a:solidFill>
                            <a:srgbClr val="1A1A1A"/>
                          </a:solidFill>
                        </a:defRPr>
                      </a:pPr>
                      <a:r>
                        <a:t>Write the paper; release the code; prepare the submission</a:t>
                      </a:r>
                    </a:p>
                  </a:txBody>
                  <a:tcPr marT="50800" marB="50800" marL="101600" marR="101600">
                    <a:solidFill>
                      <a:srgbClr val="FFFFFF"/>
                    </a:solidFill>
                  </a:tcPr>
                </a:tc>
                <a:tc>
                  <a:txBody>
                    <a:bodyPr wrap="square"/>
                    <a:lstStyle/>
                    <a:p>
                      <a:pPr>
                        <a:defRPr sz="1300" b="0">
                          <a:solidFill>
                            <a:srgbClr val="1A1A1A"/>
                          </a:solidFill>
                        </a:defRPr>
                      </a:pPr>
                      <a:r>
                        <a:t>paper + artifact (Spring 2027)</a:t>
                      </a:r>
                    </a:p>
                  </a:txBody>
                  <a:tcPr marT="50800" marB="50800" marL="101600" marR="101600">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Risks, and how I will handle them</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50</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1800">
                <a:solidFill>
                  <a:srgbClr val="1A1A1A"/>
                </a:solidFill>
              </a:defRPr>
            </a:pPr>
            <a:r>
              <a:t>•  The boundary rule might grow until it covers most of the workflow</a:t>
            </a:r>
          </a:p>
          <a:p>
            <a:pPr>
              <a:spcAft>
                <a:spcPts val="1000"/>
              </a:spcAft>
              <a:defRPr sz="1600">
                <a:solidFill>
                  <a:srgbClr val="595959"/>
                </a:solidFill>
              </a:defRPr>
            </a:pPr>
            <a:r>
              <a:t>      – then it is no better than repartitioning everything — the size cap prevents this, and the sensitivity study shows when it happens</a:t>
            </a:r>
          </a:p>
          <a:p>
            <a:pPr>
              <a:spcAft>
                <a:spcPts val="1000"/>
              </a:spcAft>
              <a:defRPr sz="1800">
                <a:solidFill>
                  <a:srgbClr val="1A1A1A"/>
                </a:solidFill>
              </a:defRPr>
            </a:pPr>
            <a:r>
              <a:t>•  Incremental path updates might not pay off on small graphs</a:t>
            </a:r>
          </a:p>
          <a:p>
            <a:pPr>
              <a:spcAft>
                <a:spcPts val="1000"/>
              </a:spcAft>
              <a:defRPr sz="1600">
                <a:solidFill>
                  <a:srgbClr val="595959"/>
                </a:solidFill>
              </a:defRPr>
            </a:pPr>
            <a:r>
              <a:t>      – we measure the break-even point and keep full recomputation as a baseline</a:t>
            </a:r>
          </a:p>
          <a:p>
            <a:pPr>
              <a:spcAft>
                <a:spcPts val="1000"/>
              </a:spcAft>
              <a:defRPr sz="1800">
                <a:solidFill>
                  <a:srgbClr val="1A1A1A"/>
                </a:solidFill>
              </a:defRPr>
            </a:pPr>
            <a:r>
              <a:t>•  The region repair might fall short of the exact solver's quality</a:t>
            </a:r>
          </a:p>
          <a:p>
            <a:pPr>
              <a:spcAft>
                <a:spcPts val="1000"/>
              </a:spcAft>
              <a:defRPr sz="1600">
                <a:solidFill>
                  <a:srgbClr val="595959"/>
                </a:solidFill>
              </a:defRPr>
            </a:pPr>
            <a:r>
              <a:t>      – hybrid plan: greedy repair at scale, exact repair on small regions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CONCLUSION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Conclusion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51</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Done — Papers 1 and 2: a proved, data-aware formulation, four schedulers on one cost model, and a reproducible platform</a:t>
            </a:r>
          </a:p>
          <a:p>
            <a:pPr>
              <a:spcAft>
                <a:spcPts val="1000"/>
              </a:spcAft>
              <a:defRPr sz="1800">
                <a:solidFill>
                  <a:srgbClr val="1A1A1A"/>
                </a:solidFill>
              </a:defRPr>
            </a:pPr>
            <a:r>
              <a:t>•  Proposed — RQ1: a boundary rule that finds the smallest part of the workflow a failure actually breaks</a:t>
            </a:r>
          </a:p>
          <a:p>
            <a:pPr>
              <a:spcAft>
                <a:spcPts val="1000"/>
              </a:spcAft>
              <a:defRPr sz="1800">
                <a:solidFill>
                  <a:srgbClr val="1A1A1A"/>
                </a:solidFill>
              </a:defRPr>
            </a:pPr>
            <a:r>
              <a:t>•  Proposed — RQ2: repartitioning that repairs only that region, under a recovery cost model</a:t>
            </a:r>
          </a:p>
          <a:p>
            <a:pPr>
              <a:spcAft>
                <a:spcPts val="1000"/>
              </a:spcAft>
              <a:defRPr sz="1800">
                <a:solidFill>
                  <a:srgbClr val="1A1A1A"/>
                </a:solidFill>
              </a:defRPr>
            </a:pPr>
            <a:r>
              <a:t>•  Proposed — RQ3: incremental updates to the communication paths, instead of recomputing them</a:t>
            </a:r>
          </a:p>
          <a:p>
            <a:pPr>
              <a:spcAft>
                <a:spcPts val="1000"/>
              </a:spcAft>
              <a:defRPr sz="1800">
                <a:solidFill>
                  <a:srgbClr val="1A1A1A"/>
                </a:solidFill>
              </a:defRPr>
            </a:pPr>
            <a:r>
              <a:t>•  Expected outcome: recovery that is faster and less disturbing than repartitioning everything, at near-reference quality</a:t>
            </a:r>
          </a:p>
          <a:p>
            <a:pPr>
              <a:spcAft>
                <a:spcPts val="400"/>
              </a:spcAft>
            </a:pPr>
          </a:p>
          <a:p>
            <a:pPr>
              <a:spcAft>
                <a:spcPts val="1000"/>
              </a:spcAft>
              <a:defRPr sz="1800">
                <a:solidFill>
                  <a:srgbClr val="1A1A1A"/>
                </a:solidFill>
              </a:defRPr>
            </a:pPr>
            <a:r>
              <a:t>•  Paper 1 placed the workflow; Paper 2 priced its data and its approximation; Paper 3 keeps it alive when the infrastructure fails.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097280"/>
          </a:xfrm>
          <a:prstGeom prst="rect">
            <a:avLst/>
          </a:prstGeom>
          <a:noFill/>
        </p:spPr>
        <p:txBody>
          <a:bodyPr wrap="none">
            <a:spAutoFit/>
          </a:bodyPr>
          <a:lstStyle/>
          <a:p>
            <a:pPr algn="ctr">
              <a:defRPr sz="4400" b="1">
                <a:solidFill>
                  <a:srgbClr val="1A1A1A"/>
                </a:solidFill>
              </a:defRPr>
            </a:pPr>
            <a:r>
              <a:t>Thank you</a:t>
            </a:r>
          </a:p>
        </p:txBody>
      </p:sp>
      <p:sp>
        <p:nvSpPr>
          <p:cNvPr id="3" name="TextBox 2"/>
          <p:cNvSpPr txBox="1"/>
          <p:nvPr/>
        </p:nvSpPr>
        <p:spPr>
          <a:xfrm>
            <a:off x="914400" y="3657600"/>
            <a:ext cx="10332720" cy="1280160"/>
          </a:xfrm>
          <a:prstGeom prst="rect">
            <a:avLst/>
          </a:prstGeom>
          <a:noFill/>
        </p:spPr>
        <p:txBody>
          <a:bodyPr wrap="square">
            <a:spAutoFit/>
          </a:bodyPr>
          <a:lstStyle/>
          <a:p>
            <a:pPr algn="ctr">
              <a:defRPr sz="2000">
                <a:solidFill>
                  <a:srgbClr val="595959"/>
                </a:solidFill>
              </a:defRPr>
            </a:pPr>
            <a:r>
              <a:t>Questions and discussion</a:t>
            </a:r>
          </a:p>
          <a:p>
            <a:pPr algn="ctr">
              <a:defRPr sz="1500">
                <a:solidFill>
                  <a:srgbClr val="595959"/>
                </a:solidFill>
              </a:defRPr>
            </a:pPr>
            <a:r>
              <a:t>github.com/gayanigupta/data-aware-scheduling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