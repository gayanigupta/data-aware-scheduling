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my PhD research proposal. The talk follows the standard structure: motivation, related work and the gap, a formal problem definition, the work already completed and its evidence, the proposed research, the evaluation plan and timeline, and a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sections. Sections 1-3 set up the problem. Section 4 reports completed work — the published Cloud Summit paper and the current data-aware study — as preliminary results. Sections 5-6 are the proposal itself. Section 7 concludes.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The motivation in one paragraph: time-critical workflows must run when the network is at its worst, and nearby fog machines — federated — are the only capacity left.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river basin floods. The response workflow — sense, model, forecast, plan, alert — runs as a DAG. The deadline is hard: a forecast after the water is useless. And the uplink to the cloud is degraded or gone — the same event that creates the deadline also takes away the network.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fog site is rarely enough. Nearby sites keep fast links to each other even when the cloud link dies, so federating them creates a small local cloud. The price: every task now has a placement choice, and every choice ships data across a link.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levers define this problem. Lever one: data movement — transfer time D over B can rival a task's own runtime, so the 'fastest' node can be the worst once you pay to move the input. Lever two: approximate execution — a fraction of the work costs that fraction of the time and returns that fraction of the accuracy. The levers interact: placement decides transfers, fractions decide runtimes.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PhD is three papers on one arc. Paper 1 — published at Cloud Summit 2025 — built the model and four schedulers. Paper 2 — the current submission — hardened it: data-aware, bounded, stress-tested. Paper 3 — this proposal — repairs the smallest affected region when a whole resource fails. Each paper answers the question the previous one left open.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Related work in four threads: classic DAG scheduling, fog/edge placement, approximate computing, and failure recovery / rescheduling. Then the gap in one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HEFT is the reference point: rank tasks by upward rank, place each where it finishes earliest. It is compute-centric in spirit — transfers appear only as static edge weights, tasks always run completely, and the plan is fixed at submission.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Fog schedulers handle capacity, eligibility and heterogeneity across edge, fog and cloud tiers. But they treat tasks as atomic — no execution fractions — and data movement is usually a fixed cost or ignored.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Approximate computing trades result quality for time or energy — loop truncation, reduced precision, early termination. Powerful for deadline workloads, but the literature assumes data is already where it needs to be.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closest literature to the proposal. Rescheduling reconsiders a workflow at chosen points (Sakellariou &amp; Zhao); fog studies redistribute tasks on join/leave or uncertain events; dynamic shortest-path algorithms update routing after a graph change. None couples an infrastructure-node failure to the smallest affected region of the task DAG.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column as a capability. Classic schedulers place but neither price data per-link nor approximate nor repair. Fog schedulers add data-awareness. Our Paper 2 adds approximation. The last column — repairing only the affected region after a resource failure — is empty. That is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Before any algorithm: the system model and the formal problem statement — the same notation the MILP in Section 4 uses.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task graph: nodes T_i, edges carry D_ji bytes of dependency data. The infrastructure graph: fog nodes f_a with capacity and eligibility, links (b,a) with bandwidth B_ba. The partition maps tasks to nodes; the failure event deletes a node from one graph and strands work in the other.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completed work's problem, stated formally: given the two graphs and a deadline, choose an assignment and a fraction per task, finish before the deadline, maximize average accuracy. NP-hard — even on unrelated parallel machines.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extends the same model with a failure event. At time tau a resource r* fails. Tasks partition into done, running, pending. Stranded = unfinished tasks on r*. The problem: find the smallest affected region A of the DAG and a repair assignment on surviving nodes that meets the deadline at minimum disturbance — done tasks never restart, unaffected assignments never move.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Completed work as preliminary results: the published Cloud Summit study, then the current data-aware paper — formulation, correctness, schedulers, setup, five experiments each with a take-away, and the limits that motivate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IEEE Cloud Summit 2025. Established the model — placement coupled with data movement — an MILP with correctness proofs, and three scalable schedulers: LP relaxation with randomized rounding, a data-aware greedy, and a genetic algorithm.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MILP itself. Communication delay is piecewise: D over B across nodes, zero co-located. One eligible node per task; a successor waits for finish AND data arrival; completion inside the deadline; the objective is mean accuracy.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technical pieces worth showing. First, the products e*M are linearized with a big-M helper z; the non-obvious detail is z &gt;= 0 — without it, unassigned nodes could push z negative and fake a feasible completion time. Second, five lemmas: uniqueness of the assignment, one fraction per task, start-time correctness, precedence correctness, then the theorem that optimality equals the best feasible schedule.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communication-cost model under every method, so differences are algorithmic, not accounting. MILP is the reference. LP rounding samples each task's node from the fractional solution, then re-solves fractions. Greedy uses priority and earliest-finish placement with a fraction-retry. The GA searches assignments and fractions together with a co-location repair.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setup before the results. Discrete-event simulator, NumPy + SciPy HiGHS. Parameters chosen so a transfer can genuinely rival a task — the contested regime. Four datasets, five sweeps, five fresh instances per point. Metric is average accuracy against the max-accuracy bound, plus feasibility and wall time.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alpha=1.0 the deadline barely fits: MILP 1.38 vs bound 1.43, rounding 1.25, greedy 1.23, GA 1.20. From alpha=1.2 greedy reaches the bound; MILP joins by 1.5. Take-away: method choice matters exactly where the deadline binds; at loose slack almost anything works.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to ten nodes. MILP and greedy on the bound at every size. GA drifts 1.5% to ~8% below; rounding similar. Extra nodes enlarge the placement space but the search budget is fixed — they buy feasible placements, not accuracy.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n=10: everyone on the bound. n=100: GA drifts first. n=1000: MILP past its ~800-variable cap; rounding survives at ~93 s per re-solve; GA falls to 1.10 in ~159 s. Greedy stays on the bound in 0.15 s — the only method both fast and bound-level.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Retry-once: a failed task reruns in place; accuracy is kept if the retry still meets the deadline. Scores are flat — watch feasibility. Greedy stays feasible at every rate because it finishes early; MILP and GA drop to ~60% at 0.5; rounding ~20%.</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Degrade every link to 5% of nominal. The bandwidth-blind baseline is the cautionary tale: bound-level scores at every level — but its schedules are late. MILP stays feasible everywhere; greedy feasible to 0.1x paying accuracy; GA fails at 0.05x; rounding only above 0.5x.</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per-dataset table agrees. Small: identical scores, greedy fastest. Medium: greedy's makespan is 43 vs ~61. Large and xlarge: only greedy and GA fit; greedy holds ~1.41 while the GA falls and pays 20-70 s of search.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Separately we stress-tested generation: million-task DAGs in ~3 s with depth growing like log n; million-node resource graphs in ~7 s. Structural instances only — honest boundary: schedulable dense instances stop where constraints and memory do.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do not claim: the MILP is capped ~800 vars; the LP grows to ~10^5 rows; the GA has one budget; the failure model is retry-once-in-place — no resource loss, replication, or migration. That last limit is the bridge to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 the proposal itself. Formal problem, research questions, then the method in depth.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in one callout, then three research questions that decompose it: the boundary rule, the repair optimization, and the incremental path update.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Monitoring detects the failed node. Stranded unfinished tasks must be rescued; completed work is never redone. The subtle decision is the boundary: check parents and children of stranded tasks — sometimes dependents must move too, for data locality or the deadline.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steps: initial partition with the existing schedulers; detect; isolate the stranded set; grow the minimal affected subgraph under the boundary rule; pick replacements by capacity and shortest paths to parents and children; repartition under the recovery cost model; assign and update only affected paths; resume from the last good point.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heart of the proposal. S is mandatory — the stranded tasks. But dependents may have to move: a child whose input now crosses a long path, a parent re-shipping data, a co-located neighbor that loses its locality. The rule: expand from S while a node fails a stay-test — deadline slack or data-locality — capped so A stays minimal. Proving minimality vs 'big enough to repair well' is RQ1's deliverable.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repair itself is a smaller instance of the same optimization family — which is the point: the Part II schedulers become solvers for the region. Recovery objective adds movement terms to the accuracy objective; constraints add 'boundary pins' — interface tasks that stayed put fix the arrival times the region must respect.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tasks need new communication paths to parents and children. Recomputing all-pairs shortest paths mid-workflow is too slow — so we reuse dynamic SPT updates (Riazi, Khanda, Bhowmick et al.): update only the paths touching the deleted node and the reassigned tasks. That is what makes partial repair fast enough to matter.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pieces exist separately — dynamic path updates, fog rescheduling, join/leave redistribution, partial reconsideration — nobody couples them. The novelty is the two-graph mapping: infra failure to minimal DAG region.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6. The evaluation design, then the 12-month plan.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baselines — complete repartition, greedy rescue, no-repair static, and MILP on small cases as the quality reference (Part II's stack supplies it). Metrics cover speed of recovery, quality of the repaired schedule, and cost of the disturbance.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Vary what makes recovery hard: where the failure hits (critical path vs periphery), how many resources fail at once, workflow and federation size, and how much slack remains. The hard case is late failure with little slack. Three hypotheses, each falsifiable.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quarters: build, solve, evaluate, write. Deliverables land on the existing public repository; the paper targets the systems venues.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risks: the boundary rule might degenerate to 'repartition everything' — mitigated by the cap and the sensitivity study. Incremental SPT may not pay off at small graphs — mitigated by measuring the break-even. Repair quality may trail MILP — mitigated by the hybrid: greedy for speed, MILP where the region is small.</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in one line each. A boundary rule for the smallest affected region. A repartitioning method that repairs only that region under the recovery cost model. And the first use of incremental shortest-path updates for workflow recovery — evaluated against four baselines on the platform that already exists.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welcome.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200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0040"/>
            <a:ext cx="12191695" cy="82296"/>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09360"/>
            <a:ext cx="12191695" cy="5486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2377440"/>
          </a:xfrm>
          <a:prstGeom prst="rect">
            <a:avLst/>
          </a:prstGeom>
          <a:noFill/>
        </p:spPr>
        <p:txBody>
          <a:bodyPr wrap="square">
            <a:spAutoFit/>
          </a:bodyPr>
          <a:lstStyle/>
          <a:p>
            <a:pPr algn="ctr">
              <a:defRPr sz="3400" b="1">
                <a:solidFill>
                  <a:srgbClr val="0B2A4A"/>
                </a:solidFill>
              </a:defRPr>
            </a:pPr>
            <a:r>
              <a:t>Dynamic Partial Repartitioning of DAG Workflows</a:t>
            </a:r>
          </a:p>
          <a:p>
            <a:pPr algn="ctr">
              <a:defRPr sz="3400" b="1">
                <a:solidFill>
                  <a:srgbClr val="0B2A4A"/>
                </a:solidFill>
              </a:defRPr>
            </a:pPr>
            <a:r>
              <a:t>After Resource Failures in Federated Fog Environments</a:t>
            </a:r>
          </a:p>
          <a:p>
            <a:pPr algn="ctr">
              <a:defRPr sz="2000" b="1">
                <a:solidFill>
                  <a:srgbClr val="0B2A4A"/>
                </a:solidFill>
              </a:defRPr>
            </a:pPr>
            <a:r>
              <a:t>PhD Research Proposal</a:t>
            </a:r>
          </a:p>
        </p:txBody>
      </p:sp>
      <p:sp>
        <p:nvSpPr>
          <p:cNvPr id="6" name="TextBox 5"/>
          <p:cNvSpPr txBox="1"/>
          <p:nvPr/>
        </p:nvSpPr>
        <p:spPr>
          <a:xfrm>
            <a:off x="822960" y="3931920"/>
            <a:ext cx="10515600" cy="2103120"/>
          </a:xfrm>
          <a:prstGeom prst="rect">
            <a:avLst/>
          </a:prstGeom>
          <a:noFill/>
        </p:spPr>
        <p:txBody>
          <a:bodyPr wrap="square">
            <a:spAutoFit/>
          </a:bodyPr>
          <a:lstStyle/>
          <a:p>
            <a:pPr algn="ctr">
              <a:defRPr sz="1800">
                <a:solidFill>
                  <a:srgbClr val="5A646E"/>
                </a:solidFill>
              </a:defRPr>
            </a:pPr>
            <a:r>
              <a:t>Gayani Gupta</a:t>
            </a:r>
          </a:p>
          <a:p>
            <a:pPr algn="ctr">
              <a:defRPr sz="1600">
                <a:solidFill>
                  <a:srgbClr val="5A646E"/>
                </a:solidFill>
              </a:defRPr>
            </a:pPr>
            <a:r>
              <a:t>Department of Computer Science and Engineering, University of North Texas</a:t>
            </a:r>
          </a:p>
          <a:p>
            <a:pPr algn="ctr">
              <a:defRPr sz="1500">
                <a:solidFill>
                  <a:srgbClr val="5A646E"/>
                </a:solidFill>
              </a:defRPr>
            </a:pPr>
            <a:r>
              <a:t>Advisor: Mohsen Amini Salehi</a:t>
            </a:r>
          </a:p>
          <a:p>
            <a:pPr algn="ctr">
              <a:defRPr sz="1300">
                <a:solidFill>
                  <a:srgbClr val="5A646E"/>
                </a:solidFill>
              </a:defRPr>
            </a:pPr>
            <a:r>
              <a:t>github.com/gayanigupta/data-aware-scheduling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Outline</a:t>
            </a:r>
          </a:p>
        </p:txBody>
      </p:sp>
      <p:sp>
        <p:nvSpPr>
          <p:cNvPr id="5" name="Rectangle 4"/>
          <p:cNvSpPr/>
          <p:nvPr/>
        </p:nvSpPr>
        <p:spPr>
          <a:xfrm>
            <a:off x="1097280" y="1051560"/>
            <a:ext cx="128016" cy="5486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63040" y="1051560"/>
            <a:ext cx="9601200" cy="548640"/>
          </a:xfrm>
          <a:prstGeom prst="rect">
            <a:avLst/>
          </a:prstGeom>
          <a:noFill/>
        </p:spPr>
        <p:txBody>
          <a:bodyPr wrap="none" anchor="ctr">
            <a:spAutoFit/>
          </a:bodyPr>
          <a:lstStyle/>
          <a:p>
            <a:pPr>
              <a:defRPr sz="2000" b="0">
                <a:solidFill>
                  <a:srgbClr val="232B33"/>
                </a:solidFill>
              </a:defRPr>
            </a:pPr>
            <a:r>
              <a:t>1   Introduction &amp; motivation</a:t>
            </a:r>
          </a:p>
        </p:txBody>
      </p:sp>
      <p:sp>
        <p:nvSpPr>
          <p:cNvPr id="7" name="Rectangle 6"/>
          <p:cNvSpPr/>
          <p:nvPr/>
        </p:nvSpPr>
        <p:spPr>
          <a:xfrm>
            <a:off x="1097280" y="1764792"/>
            <a:ext cx="128016" cy="5486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63040" y="1764792"/>
            <a:ext cx="9601200" cy="548640"/>
          </a:xfrm>
          <a:prstGeom prst="rect">
            <a:avLst/>
          </a:prstGeom>
          <a:noFill/>
        </p:spPr>
        <p:txBody>
          <a:bodyPr wrap="none" anchor="ctr">
            <a:spAutoFit/>
          </a:bodyPr>
          <a:lstStyle/>
          <a:p>
            <a:pPr>
              <a:defRPr sz="2000" b="0">
                <a:solidFill>
                  <a:srgbClr val="232B33"/>
                </a:solidFill>
              </a:defRPr>
            </a:pPr>
            <a:r>
              <a:t>2   Related work — and the gap</a:t>
            </a:r>
          </a:p>
        </p:txBody>
      </p:sp>
      <p:sp>
        <p:nvSpPr>
          <p:cNvPr id="9" name="Rectangle 8"/>
          <p:cNvSpPr/>
          <p:nvPr/>
        </p:nvSpPr>
        <p:spPr>
          <a:xfrm>
            <a:off x="1097280" y="2478024"/>
            <a:ext cx="128016" cy="5486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63040" y="2478024"/>
            <a:ext cx="9601200" cy="548640"/>
          </a:xfrm>
          <a:prstGeom prst="rect">
            <a:avLst/>
          </a:prstGeom>
          <a:noFill/>
        </p:spPr>
        <p:txBody>
          <a:bodyPr wrap="none" anchor="ctr">
            <a:spAutoFit/>
          </a:bodyPr>
          <a:lstStyle/>
          <a:p>
            <a:pPr>
              <a:defRPr sz="2000" b="0">
                <a:solidFill>
                  <a:srgbClr val="232B33"/>
                </a:solidFill>
              </a:defRPr>
            </a:pPr>
            <a:r>
              <a:t>3   Problem definition</a:t>
            </a:r>
          </a:p>
        </p:txBody>
      </p:sp>
      <p:sp>
        <p:nvSpPr>
          <p:cNvPr id="11" name="Rectangle 10"/>
          <p:cNvSpPr/>
          <p:nvPr/>
        </p:nvSpPr>
        <p:spPr>
          <a:xfrm>
            <a:off x="1097280" y="3191256"/>
            <a:ext cx="128016" cy="54864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63040" y="3191256"/>
            <a:ext cx="9601200" cy="548640"/>
          </a:xfrm>
          <a:prstGeom prst="rect">
            <a:avLst/>
          </a:prstGeom>
          <a:noFill/>
        </p:spPr>
        <p:txBody>
          <a:bodyPr wrap="none" anchor="ctr">
            <a:spAutoFit/>
          </a:bodyPr>
          <a:lstStyle/>
          <a:p>
            <a:pPr>
              <a:defRPr sz="2000" b="1">
                <a:solidFill>
                  <a:srgbClr val="232B33"/>
                </a:solidFill>
              </a:defRPr>
            </a:pPr>
            <a:r>
              <a:t>4   Completed work &amp; preliminary results</a:t>
            </a:r>
          </a:p>
        </p:txBody>
      </p:sp>
      <p:sp>
        <p:nvSpPr>
          <p:cNvPr id="13" name="Rectangle 12"/>
          <p:cNvSpPr/>
          <p:nvPr/>
        </p:nvSpPr>
        <p:spPr>
          <a:xfrm>
            <a:off x="1097280" y="3904487"/>
            <a:ext cx="128016" cy="54864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63040" y="3904487"/>
            <a:ext cx="9601200" cy="548640"/>
          </a:xfrm>
          <a:prstGeom prst="rect">
            <a:avLst/>
          </a:prstGeom>
          <a:noFill/>
        </p:spPr>
        <p:txBody>
          <a:bodyPr wrap="none" anchor="ctr">
            <a:spAutoFit/>
          </a:bodyPr>
          <a:lstStyle/>
          <a:p>
            <a:pPr>
              <a:defRPr sz="2000" b="1">
                <a:solidFill>
                  <a:srgbClr val="232B33"/>
                </a:solidFill>
              </a:defRPr>
            </a:pPr>
            <a:r>
              <a:t>5   Proposed research — dynamic partial repartitioning</a:t>
            </a:r>
          </a:p>
        </p:txBody>
      </p:sp>
      <p:sp>
        <p:nvSpPr>
          <p:cNvPr id="15" name="Rectangle 14"/>
          <p:cNvSpPr/>
          <p:nvPr/>
        </p:nvSpPr>
        <p:spPr>
          <a:xfrm>
            <a:off x="1097280" y="4617720"/>
            <a:ext cx="128016" cy="54864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63040" y="4617720"/>
            <a:ext cx="9601200" cy="548640"/>
          </a:xfrm>
          <a:prstGeom prst="rect">
            <a:avLst/>
          </a:prstGeom>
          <a:noFill/>
        </p:spPr>
        <p:txBody>
          <a:bodyPr wrap="none" anchor="ctr">
            <a:spAutoFit/>
          </a:bodyPr>
          <a:lstStyle/>
          <a:p>
            <a:pPr>
              <a:defRPr sz="2000" b="0">
                <a:solidFill>
                  <a:srgbClr val="232B33"/>
                </a:solidFill>
              </a:defRPr>
            </a:pPr>
            <a:r>
              <a:t>6   Evaluation plan &amp; timeline</a:t>
            </a:r>
          </a:p>
        </p:txBody>
      </p:sp>
      <p:sp>
        <p:nvSpPr>
          <p:cNvPr id="17" name="Rectangle 16"/>
          <p:cNvSpPr/>
          <p:nvPr/>
        </p:nvSpPr>
        <p:spPr>
          <a:xfrm>
            <a:off x="1097280" y="5330952"/>
            <a:ext cx="128016" cy="5486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63040" y="5330952"/>
            <a:ext cx="9601200" cy="548640"/>
          </a:xfrm>
          <a:prstGeom prst="rect">
            <a:avLst/>
          </a:prstGeom>
          <a:noFill/>
        </p:spPr>
        <p:txBody>
          <a:bodyPr wrap="none" anchor="ctr">
            <a:spAutoFit/>
          </a:bodyPr>
          <a:lstStyle/>
          <a:p>
            <a:pPr>
              <a:defRPr sz="2000" b="0">
                <a:solidFill>
                  <a:srgbClr val="232B33"/>
                </a:solidFill>
              </a:defRPr>
            </a:pPr>
            <a:r>
              <a:t>7   Conclusion — expected contributions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46120"/>
            <a:ext cx="12191695" cy="82296"/>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32720" cy="548640"/>
          </a:xfrm>
          <a:prstGeom prst="rect">
            <a:avLst/>
          </a:prstGeom>
          <a:noFill/>
        </p:spPr>
        <p:txBody>
          <a:bodyPr wrap="none">
            <a:spAutoFit/>
          </a:bodyPr>
          <a:lstStyle/>
          <a:p>
            <a:pPr>
              <a:defRPr sz="2000" b="1">
                <a:solidFill>
                  <a:srgbClr val="0B2A4A"/>
                </a:solidFill>
              </a:defRPr>
            </a:pPr>
            <a:r>
              <a:t>1  |  INTRODUCTION &amp; MOTIVATION</a:t>
            </a:r>
          </a:p>
        </p:txBody>
      </p:sp>
      <p:sp>
        <p:nvSpPr>
          <p:cNvPr id="5" name="TextBox 4"/>
          <p:cNvSpPr txBox="1"/>
          <p:nvPr/>
        </p:nvSpPr>
        <p:spPr>
          <a:xfrm>
            <a:off x="914400" y="2468880"/>
            <a:ext cx="10332720" cy="1463040"/>
          </a:xfrm>
          <a:prstGeom prst="rect">
            <a:avLst/>
          </a:prstGeom>
          <a:noFill/>
        </p:spPr>
        <p:txBody>
          <a:bodyPr wrap="square">
            <a:spAutoFit/>
          </a:bodyPr>
          <a:lstStyle/>
          <a:p>
            <a:pPr>
              <a:defRPr sz="4000" b="1">
                <a:solidFill>
                  <a:srgbClr val="FFFFFF"/>
                </a:solidFill>
              </a:defRPr>
            </a:pPr>
            <a:r>
              <a:t>Why this problem matters</a:t>
            </a:r>
          </a:p>
        </p:txBody>
      </p:sp>
      <p:sp>
        <p:nvSpPr>
          <p:cNvPr id="6" name="TextBox 5"/>
          <p:cNvSpPr txBox="1"/>
          <p:nvPr/>
        </p:nvSpPr>
        <p:spPr>
          <a:xfrm>
            <a:off x="914400" y="3749039"/>
            <a:ext cx="10332720" cy="1463040"/>
          </a:xfrm>
          <a:prstGeom prst="rect">
            <a:avLst/>
          </a:prstGeom>
          <a:noFill/>
        </p:spPr>
        <p:txBody>
          <a:bodyPr wrap="square">
            <a:spAutoFit/>
          </a:bodyPr>
          <a:lstStyle/>
          <a:p>
            <a:pPr>
              <a:defRPr sz="1800">
                <a:solidFill>
                  <a:srgbClr val="EDF2F7"/>
                </a:solidFill>
              </a:defRPr>
            </a:pPr>
            <a:r>
              <a:t>Time-critical workflows, unreliable networks, and the case for the federated fog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The scenario</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1  |  Introduction &amp; motivation</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700">
                <a:solidFill>
                  <a:srgbClr val="232B33"/>
                </a:solidFill>
              </a:defRPr>
            </a:pPr>
            <a:r>
              <a:t>A disaster unfolds: flood, wildfire, offshore incident</a:t>
            </a:r>
          </a:p>
          <a:p>
            <a:pPr>
              <a:spcAft>
                <a:spcPts val="700"/>
              </a:spcAft>
              <a:defRPr sz="1700">
                <a:solidFill>
                  <a:srgbClr val="232B33"/>
                </a:solidFill>
              </a:defRPr>
            </a:pPr>
            <a:r>
              <a:t>The deadline is hard: a forecast that arrives late is a forecast nobody uses</a:t>
            </a:r>
          </a:p>
          <a:p>
            <a:pPr>
              <a:spcAft>
                <a:spcPts val="700"/>
              </a:spcAft>
              <a:defRPr sz="1700">
                <a:solidFill>
                  <a:srgbClr val="232B33"/>
                </a:solidFill>
              </a:defRPr>
            </a:pPr>
            <a:r>
              <a:t>The uplink to the cloud is degraded or gone — the work must run on nearby fog machines</a:t>
            </a:r>
          </a:p>
        </p:txBody>
      </p:sp>
      <p:sp>
        <p:nvSpPr>
          <p:cNvPr id="8" name="Rounded Rectangle 7"/>
          <p:cNvSpPr/>
          <p:nvPr/>
        </p:nvSpPr>
        <p:spPr>
          <a:xfrm>
            <a:off x="822960" y="3794760"/>
            <a:ext cx="1737360" cy="777240"/>
          </a:xfrm>
          <a:prstGeom prst="roundRect">
            <a:avLst/>
          </a:prstGeom>
          <a:solidFill>
            <a:srgbClr val="0E7C7B"/>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SENSE</a:t>
            </a:r>
          </a:p>
        </p:txBody>
      </p:sp>
      <p:sp>
        <p:nvSpPr>
          <p:cNvPr id="9" name="Rounded Rectangle 8"/>
          <p:cNvSpPr/>
          <p:nvPr/>
        </p:nvSpPr>
        <p:spPr>
          <a:xfrm>
            <a:off x="3063240" y="3794760"/>
            <a:ext cx="1737360" cy="777240"/>
          </a:xfrm>
          <a:prstGeom prst="roundRect">
            <a:avLst/>
          </a:prstGeom>
          <a:solidFill>
            <a:srgbClr val="0E7C7B"/>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MODEL</a:t>
            </a:r>
          </a:p>
        </p:txBody>
      </p:sp>
      <p:cxnSp>
        <p:nvCxnSpPr>
          <p:cNvPr id="10" name="Connector 9"/>
          <p:cNvCxnSpPr/>
          <p:nvPr/>
        </p:nvCxnSpPr>
        <p:spPr>
          <a:xfrm>
            <a:off x="2606040" y="4178808"/>
            <a:ext cx="457200" cy="0"/>
          </a:xfrm>
          <a:prstGeom prst="bentConnector3">
            <a:avLst/>
          </a:prstGeom>
          <a:ln w="28575">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303520" y="3794760"/>
            <a:ext cx="1737360" cy="777240"/>
          </a:xfrm>
          <a:prstGeom prst="roundRect">
            <a:avLst/>
          </a:prstGeom>
          <a:solidFill>
            <a:srgbClr val="0E7C7B"/>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FORECAST</a:t>
            </a:r>
          </a:p>
        </p:txBody>
      </p:sp>
      <p:cxnSp>
        <p:nvCxnSpPr>
          <p:cNvPr id="12" name="Connector 11"/>
          <p:cNvCxnSpPr/>
          <p:nvPr/>
        </p:nvCxnSpPr>
        <p:spPr>
          <a:xfrm>
            <a:off x="4846320" y="4178808"/>
            <a:ext cx="457200" cy="0"/>
          </a:xfrm>
          <a:prstGeom prst="bentConnector3">
            <a:avLst/>
          </a:prstGeom>
          <a:ln w="28575">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543800" y="3794760"/>
            <a:ext cx="1737360" cy="777240"/>
          </a:xfrm>
          <a:prstGeom prst="roundRect">
            <a:avLst/>
          </a:prstGeom>
          <a:solidFill>
            <a:srgbClr val="0E7C7B"/>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PLAN</a:t>
            </a:r>
          </a:p>
        </p:txBody>
      </p:sp>
      <p:cxnSp>
        <p:nvCxnSpPr>
          <p:cNvPr id="14" name="Connector 13"/>
          <p:cNvCxnSpPr/>
          <p:nvPr/>
        </p:nvCxnSpPr>
        <p:spPr>
          <a:xfrm>
            <a:off x="7086600" y="4178808"/>
            <a:ext cx="457200" cy="0"/>
          </a:xfrm>
          <a:prstGeom prst="bentConnector3">
            <a:avLst/>
          </a:prstGeom>
          <a:ln w="28575">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784080" y="3794760"/>
            <a:ext cx="1737360" cy="777240"/>
          </a:xfrm>
          <a:prstGeom prst="roundRect">
            <a:avLst/>
          </a:prstGeom>
          <a:solidFill>
            <a:srgbClr val="E0A41E"/>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ALERT</a:t>
            </a:r>
          </a:p>
        </p:txBody>
      </p:sp>
      <p:cxnSp>
        <p:nvCxnSpPr>
          <p:cNvPr id="16" name="Connector 15"/>
          <p:cNvCxnSpPr/>
          <p:nvPr/>
        </p:nvCxnSpPr>
        <p:spPr>
          <a:xfrm>
            <a:off x="9326880" y="4178808"/>
            <a:ext cx="457200" cy="0"/>
          </a:xfrm>
          <a:prstGeom prst="bentConnector3">
            <a:avLst/>
          </a:prstGeom>
          <a:ln w="28575">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846320" y="5029200"/>
            <a:ext cx="2468880" cy="548640"/>
          </a:xfrm>
          <a:prstGeom prst="roundRect">
            <a:avLst/>
          </a:prstGeom>
          <a:solidFill>
            <a:srgbClr val="0B2A4A"/>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deadline</a:t>
            </a:r>
          </a:p>
        </p:txBody>
      </p:sp>
      <p:cxnSp>
        <p:nvCxnSpPr>
          <p:cNvPr id="18" name="Connector 17"/>
          <p:cNvCxnSpPr/>
          <p:nvPr/>
        </p:nvCxnSpPr>
        <p:spPr>
          <a:xfrm flipV="1">
            <a:off x="6080760" y="4572000"/>
            <a:ext cx="0" cy="457200"/>
          </a:xfrm>
          <a:prstGeom prst="bentConnector3">
            <a:avLst/>
          </a:prstGeom>
          <a:ln w="22225">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509760" y="5074920"/>
            <a:ext cx="2103120" cy="68580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0">
                <a:solidFill>
                  <a:srgbClr val="5A646E"/>
                </a:solidFill>
              </a:defRPr>
            </a:pPr>
            <a:r>
              <a:t>cloud uplink</a:t>
            </a:r>
          </a:p>
        </p:txBody>
      </p:sp>
      <p:cxnSp>
        <p:nvCxnSpPr>
          <p:cNvPr id="20" name="Connector 19"/>
          <p:cNvCxnSpPr/>
          <p:nvPr/>
        </p:nvCxnSpPr>
        <p:spPr>
          <a:xfrm>
            <a:off x="9509760" y="5074920"/>
            <a:ext cx="731520" cy="731520"/>
          </a:xfrm>
          <a:prstGeom prst="line">
            <a:avLst/>
          </a:prstGeom>
          <a:ln w="38100">
            <a:solidFill>
              <a:srgbClr val="C75B12"/>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9509760" y="5074920"/>
            <a:ext cx="731520" cy="731520"/>
          </a:xfrm>
          <a:prstGeom prst="line">
            <a:avLst/>
          </a:prstGeom>
          <a:ln w="38100">
            <a:solidFill>
              <a:srgbClr val="C75B1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Federation is the answer — with a scheduling price</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1  |  Introduction &amp; motivation</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4</a:t>
            </a:r>
          </a:p>
        </p:txBody>
      </p:sp>
      <p:sp>
        <p:nvSpPr>
          <p:cNvPr id="7" name="TextBox 6"/>
          <p:cNvSpPr txBox="1"/>
          <p:nvPr/>
        </p:nvSpPr>
        <p:spPr>
          <a:xfrm>
            <a:off x="594360" y="1143000"/>
            <a:ext cx="6309360" cy="5120640"/>
          </a:xfrm>
          <a:prstGeom prst="rect">
            <a:avLst/>
          </a:prstGeom>
          <a:noFill/>
        </p:spPr>
        <p:txBody>
          <a:bodyPr wrap="square">
            <a:spAutoFit/>
          </a:bodyPr>
          <a:lstStyle/>
          <a:p>
            <a:pPr>
              <a:spcAft>
                <a:spcPts val="700"/>
              </a:spcAft>
              <a:defRPr sz="1700">
                <a:solidFill>
                  <a:srgbClr val="232B33"/>
                </a:solidFill>
              </a:defRPr>
            </a:pPr>
            <a:r>
              <a:t>Fog sites near the event: cell-tower racks, roadside cabinets, platform servers</a:t>
            </a:r>
          </a:p>
          <a:p>
            <a:pPr>
              <a:spcAft>
                <a:spcPts val="700"/>
              </a:spcAft>
              <a:defRPr sz="1700">
                <a:solidFill>
                  <a:srgbClr val="232B33"/>
                </a:solidFill>
              </a:defRPr>
            </a:pPr>
            <a:r>
              <a:t>Individually too weak — but they keep fast, stable links to each other even when the cloud link fails</a:t>
            </a:r>
          </a:p>
          <a:p>
            <a:pPr>
              <a:spcAft>
                <a:spcPts val="700"/>
              </a:spcAft>
              <a:defRPr sz="1700">
                <a:solidFill>
                  <a:srgbClr val="232B33"/>
                </a:solidFill>
              </a:defRPr>
            </a:pPr>
            <a:r>
              <a:t>Federation = a small local cloud built from nearby sites</a:t>
            </a:r>
          </a:p>
          <a:p>
            <a:pPr>
              <a:spcAft>
                <a:spcPts val="700"/>
              </a:spcAft>
              <a:defRPr sz="1700">
                <a:solidFill>
                  <a:srgbClr val="232B33"/>
                </a:solidFill>
              </a:defRPr>
            </a:pPr>
            <a:r>
              <a:t>The price: every task can run in many places, and wherever it runs, its input data has to get there first</a:t>
            </a:r>
          </a:p>
        </p:txBody>
      </p:sp>
      <p:pic>
        <p:nvPicPr>
          <p:cNvPr id="8" name="Picture 7" descr="federated-fog-architecture.png"/>
          <p:cNvPicPr>
            <a:picLocks noChangeAspect="1"/>
          </p:cNvPicPr>
          <p:nvPr/>
        </p:nvPicPr>
        <p:blipFill>
          <a:blip r:embed="rId3"/>
          <a:stretch>
            <a:fillRect/>
          </a:stretch>
        </p:blipFill>
        <p:spPr>
          <a:xfrm>
            <a:off x="7040880" y="1234440"/>
            <a:ext cx="4754880" cy="3270552"/>
          </a:xfrm>
          <a:prstGeom prst="rect">
            <a:avLst/>
          </a:prstGeom>
        </p:spPr>
      </p:pic>
      <p:sp>
        <p:nvSpPr>
          <p:cNvPr id="9" name="TextBox 8"/>
          <p:cNvSpPr txBox="1"/>
          <p:nvPr/>
        </p:nvSpPr>
        <p:spPr>
          <a:xfrm>
            <a:off x="7040880" y="5897880"/>
            <a:ext cx="4754880" cy="548640"/>
          </a:xfrm>
          <a:prstGeom prst="rect">
            <a:avLst/>
          </a:prstGeom>
          <a:noFill/>
        </p:spPr>
        <p:txBody>
          <a:bodyPr wrap="none">
            <a:spAutoFit/>
          </a:bodyPr>
          <a:lstStyle/>
          <a:p>
            <a:pPr algn="ctr">
              <a:defRPr sz="1100" i="1">
                <a:solidFill>
                  <a:srgbClr val="5A646E"/>
                </a:solidFill>
              </a:defRPr>
            </a:pPr>
            <a:r>
              <a:t>Federated fog deployment around a disaster area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Two interacting decisions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1  |  Introduction &amp; motivation</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5</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700">
                <a:solidFill>
                  <a:srgbClr val="232B33"/>
                </a:solidFill>
              </a:defRPr>
            </a:pPr>
            <a:r>
              <a:t>Lever 1 — data movement</a:t>
            </a:r>
          </a:p>
          <a:p>
            <a:pPr lvl="1">
              <a:spcAft>
                <a:spcPts val="700"/>
              </a:spcAft>
              <a:defRPr sz="1500">
                <a:solidFill>
                  <a:srgbClr val="5A646E"/>
                </a:solidFill>
              </a:defRPr>
            </a:pPr>
            <a:r>
              <a:t>  every edge carries D_ji across a link of bandwidth B</a:t>
            </a:r>
          </a:p>
          <a:p>
            <a:pPr lvl="1">
              <a:spcAft>
                <a:spcPts val="700"/>
              </a:spcAft>
              <a:defRPr sz="1500">
                <a:solidFill>
                  <a:srgbClr val="5A646E"/>
                </a:solidFill>
              </a:defRPr>
            </a:pPr>
            <a:r>
              <a:t>  transfer time D_ji/B can rival the task's own runtime</a:t>
            </a:r>
          </a:p>
          <a:p>
            <a:pPr>
              <a:spcAft>
                <a:spcPts val="700"/>
              </a:spcAft>
              <a:defRPr sz="1700">
                <a:solidFill>
                  <a:srgbClr val="232B33"/>
                </a:solidFill>
              </a:defRPr>
            </a:pPr>
            <a:r>
              <a:t>Lever 2 — approximate execution</a:t>
            </a:r>
          </a:p>
          <a:p>
            <a:pPr lvl="1">
              <a:spcAft>
                <a:spcPts val="700"/>
              </a:spcAft>
              <a:defRPr sz="1500">
                <a:solidFill>
                  <a:srgbClr val="5A646E"/>
                </a:solidFill>
              </a:defRPr>
            </a:pPr>
            <a:r>
              <a:t>  run fraction l of a task -&gt; l of the time, l of the accuracy</a:t>
            </a:r>
          </a:p>
          <a:p>
            <a:pPr lvl="1">
              <a:spcAft>
                <a:spcPts val="700"/>
              </a:spcAft>
              <a:defRPr sz="1500">
                <a:solidFill>
                  <a:srgbClr val="5A646E"/>
                </a:solidFill>
              </a:defRPr>
            </a:pPr>
            <a:r>
              <a:t>  a flood model at 80% fidelity still warns in time</a:t>
            </a:r>
          </a:p>
          <a:p>
            <a:pPr>
              <a:spcAft>
                <a:spcPts val="700"/>
              </a:spcAft>
              <a:defRPr sz="1700">
                <a:solidFill>
                  <a:srgbClr val="232B33"/>
                </a:solidFill>
              </a:defRPr>
            </a:pPr>
            <a:r>
              <a:t>The levers interact: placement decides transfers; fractions decide runtimes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The dissertation as three papers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1  |  Introduction &amp; motivation</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6</a:t>
            </a:r>
          </a:p>
        </p:txBody>
      </p:sp>
      <p:sp>
        <p:nvSpPr>
          <p:cNvPr id="7" name="Rectangle 6"/>
          <p:cNvSpPr/>
          <p:nvPr/>
        </p:nvSpPr>
        <p:spPr>
          <a:xfrm>
            <a:off x="731520" y="1371600"/>
            <a:ext cx="2194560" cy="1143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71600"/>
            <a:ext cx="2194560" cy="1143000"/>
          </a:xfrm>
          <a:prstGeom prst="rect">
            <a:avLst/>
          </a:prstGeom>
          <a:noFill/>
        </p:spPr>
        <p:txBody>
          <a:bodyPr wrap="none" anchor="ctr">
            <a:spAutoFit/>
          </a:bodyPr>
          <a:lstStyle/>
          <a:p>
            <a:pPr algn="ctr">
              <a:defRPr sz="1500" b="1">
                <a:solidFill>
                  <a:srgbClr val="FFFFFF"/>
                </a:solidFill>
              </a:defRPr>
            </a:pPr>
            <a:r>
              <a:t>PAPER 1</a:t>
            </a:r>
          </a:p>
        </p:txBody>
      </p:sp>
      <p:sp>
        <p:nvSpPr>
          <p:cNvPr id="9" name="TextBox 8"/>
          <p:cNvSpPr txBox="1"/>
          <p:nvPr/>
        </p:nvSpPr>
        <p:spPr>
          <a:xfrm>
            <a:off x="3291840" y="1371600"/>
            <a:ext cx="8229600" cy="1143000"/>
          </a:xfrm>
          <a:prstGeom prst="rect">
            <a:avLst/>
          </a:prstGeom>
          <a:noFill/>
        </p:spPr>
        <p:txBody>
          <a:bodyPr wrap="square" anchor="ctr">
            <a:spAutoFit/>
          </a:bodyPr>
          <a:lstStyle/>
          <a:p>
            <a:pPr>
              <a:defRPr sz="1600">
                <a:solidFill>
                  <a:srgbClr val="232B33"/>
                </a:solidFill>
              </a:defRPr>
            </a:pPr>
            <a:r>
              <a:t>Efficient DAG task allocation across federated fog — the model + 4 schedulers.  Published: IEEE Cloud Summit 2025</a:t>
            </a:r>
          </a:p>
        </p:txBody>
      </p:sp>
      <p:sp>
        <p:nvSpPr>
          <p:cNvPr id="10" name="Rectangle 9"/>
          <p:cNvSpPr/>
          <p:nvPr/>
        </p:nvSpPr>
        <p:spPr>
          <a:xfrm>
            <a:off x="731520" y="2971800"/>
            <a:ext cx="2194560" cy="1143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971800"/>
            <a:ext cx="2194560" cy="1143000"/>
          </a:xfrm>
          <a:prstGeom prst="rect">
            <a:avLst/>
          </a:prstGeom>
          <a:noFill/>
        </p:spPr>
        <p:txBody>
          <a:bodyPr wrap="none" anchor="ctr">
            <a:spAutoFit/>
          </a:bodyPr>
          <a:lstStyle/>
          <a:p>
            <a:pPr algn="ctr">
              <a:defRPr sz="1500" b="1">
                <a:solidFill>
                  <a:srgbClr val="FFFFFF"/>
                </a:solidFill>
              </a:defRPr>
            </a:pPr>
            <a:r>
              <a:t>PAPER 2</a:t>
            </a:r>
          </a:p>
        </p:txBody>
      </p:sp>
      <p:sp>
        <p:nvSpPr>
          <p:cNvPr id="12" name="TextBox 11"/>
          <p:cNvSpPr txBox="1"/>
          <p:nvPr/>
        </p:nvSpPr>
        <p:spPr>
          <a:xfrm>
            <a:off x="3291840" y="2971800"/>
            <a:ext cx="8229600" cy="1143000"/>
          </a:xfrm>
          <a:prstGeom prst="rect">
            <a:avLst/>
          </a:prstGeom>
          <a:noFill/>
        </p:spPr>
        <p:txBody>
          <a:bodyPr wrap="square" anchor="ctr">
            <a:spAutoFit/>
          </a:bodyPr>
          <a:lstStyle/>
          <a:p>
            <a:pPr>
              <a:defRPr sz="1600">
                <a:solidFill>
                  <a:srgbClr val="232B33"/>
                </a:solidFill>
              </a:defRPr>
            </a:pPr>
            <a:r>
              <a:t>Data-aware scheduling of approximate DAG workflows — bound, retry semantics, bandwidth degradation, scale limits.  Submitted: CCGrid 2027</a:t>
            </a:r>
          </a:p>
        </p:txBody>
      </p:sp>
      <p:sp>
        <p:nvSpPr>
          <p:cNvPr id="13" name="Rectangle 12"/>
          <p:cNvSpPr/>
          <p:nvPr/>
        </p:nvSpPr>
        <p:spPr>
          <a:xfrm>
            <a:off x="731520" y="4572000"/>
            <a:ext cx="2194560" cy="114300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572000"/>
            <a:ext cx="2194560" cy="1143000"/>
          </a:xfrm>
          <a:prstGeom prst="rect">
            <a:avLst/>
          </a:prstGeom>
          <a:noFill/>
        </p:spPr>
        <p:txBody>
          <a:bodyPr wrap="none" anchor="ctr">
            <a:spAutoFit/>
          </a:bodyPr>
          <a:lstStyle/>
          <a:p>
            <a:pPr algn="ctr">
              <a:defRPr sz="1500" b="1">
                <a:solidFill>
                  <a:srgbClr val="FFFFFF"/>
                </a:solidFill>
              </a:defRPr>
            </a:pPr>
            <a:r>
              <a:t>PAPER 3</a:t>
            </a:r>
          </a:p>
        </p:txBody>
      </p:sp>
      <p:sp>
        <p:nvSpPr>
          <p:cNvPr id="15" name="TextBox 14"/>
          <p:cNvSpPr txBox="1"/>
          <p:nvPr/>
        </p:nvSpPr>
        <p:spPr>
          <a:xfrm>
            <a:off x="3291840" y="4572000"/>
            <a:ext cx="8229600" cy="1143000"/>
          </a:xfrm>
          <a:prstGeom prst="rect">
            <a:avLst/>
          </a:prstGeom>
          <a:noFill/>
        </p:spPr>
        <p:txBody>
          <a:bodyPr wrap="square" anchor="ctr">
            <a:spAutoFit/>
          </a:bodyPr>
          <a:lstStyle/>
          <a:p>
            <a:pPr>
              <a:defRPr sz="1600">
                <a:solidFill>
                  <a:srgbClr val="232B33"/>
                </a:solidFill>
              </a:defRPr>
            </a:pPr>
            <a:r>
              <a:t>Dynamic partial repartitioning after resource failure — minimal-region repair, incremental paths.  This proposal — target: IPDPS / CCGrid 2028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46120"/>
            <a:ext cx="12191695" cy="82296"/>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32720" cy="548640"/>
          </a:xfrm>
          <a:prstGeom prst="rect">
            <a:avLst/>
          </a:prstGeom>
          <a:noFill/>
        </p:spPr>
        <p:txBody>
          <a:bodyPr wrap="none">
            <a:spAutoFit/>
          </a:bodyPr>
          <a:lstStyle/>
          <a:p>
            <a:pPr>
              <a:defRPr sz="2000" b="1">
                <a:solidFill>
                  <a:srgbClr val="0B2A4A"/>
                </a:solidFill>
              </a:defRPr>
            </a:pPr>
            <a:r>
              <a:t>2  |  RELATED WORK</a:t>
            </a:r>
          </a:p>
        </p:txBody>
      </p:sp>
      <p:sp>
        <p:nvSpPr>
          <p:cNvPr id="5" name="TextBox 4"/>
          <p:cNvSpPr txBox="1"/>
          <p:nvPr/>
        </p:nvSpPr>
        <p:spPr>
          <a:xfrm>
            <a:off x="914400" y="2468880"/>
            <a:ext cx="10332720" cy="1463040"/>
          </a:xfrm>
          <a:prstGeom prst="rect">
            <a:avLst/>
          </a:prstGeom>
          <a:noFill/>
        </p:spPr>
        <p:txBody>
          <a:bodyPr wrap="square">
            <a:spAutoFit/>
          </a:bodyPr>
          <a:lstStyle/>
          <a:p>
            <a:pPr>
              <a:defRPr sz="4000" b="1">
                <a:solidFill>
                  <a:srgbClr val="FFFFFF"/>
                </a:solidFill>
              </a:defRPr>
            </a:pPr>
            <a:r>
              <a:t>What is known — and what is missing</a:t>
            </a:r>
          </a:p>
        </p:txBody>
      </p:sp>
      <p:sp>
        <p:nvSpPr>
          <p:cNvPr id="6" name="TextBox 5"/>
          <p:cNvSpPr txBox="1"/>
          <p:nvPr/>
        </p:nvSpPr>
        <p:spPr>
          <a:xfrm>
            <a:off x="914400" y="3749039"/>
            <a:ext cx="10332720" cy="1463040"/>
          </a:xfrm>
          <a:prstGeom prst="rect">
            <a:avLst/>
          </a:prstGeom>
          <a:noFill/>
        </p:spPr>
        <p:txBody>
          <a:bodyPr wrap="square">
            <a:spAutoFit/>
          </a:bodyPr>
          <a:lstStyle/>
          <a:p>
            <a:pPr>
              <a:defRPr sz="1800">
                <a:solidFill>
                  <a:srgbClr val="EDF2F7"/>
                </a:solidFill>
              </a:defRPr>
            </a:pPr>
            <a:r>
              <a:t>Four research threads converge; none covers the whole problem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Thread 1 — DAG scheduling &amp; placement</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2  |  Related work</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8</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700">
                <a:solidFill>
                  <a:srgbClr val="232B33"/>
                </a:solidFill>
              </a:defRPr>
            </a:pPr>
            <a:r>
              <a:t>HEFT (Topcuoglu et al. 2002) — the reference DAG scheduler</a:t>
            </a:r>
          </a:p>
          <a:p>
            <a:pPr lvl="1">
              <a:spcAft>
                <a:spcPts val="700"/>
              </a:spcAft>
              <a:defRPr sz="1500">
                <a:solidFill>
                  <a:srgbClr val="5A646E"/>
                </a:solidFill>
              </a:defRPr>
            </a:pPr>
            <a:r>
              <a:t>  upward-rank priority; earliest-finish-time placement</a:t>
            </a:r>
          </a:p>
          <a:p>
            <a:pPr lvl="1">
              <a:spcAft>
                <a:spcPts val="700"/>
              </a:spcAft>
              <a:defRPr sz="1500">
                <a:solidFill>
                  <a:srgbClr val="5A646E"/>
                </a:solidFill>
              </a:defRPr>
            </a:pPr>
            <a:r>
              <a:t>  transfers are static edge weights; full execution only</a:t>
            </a:r>
          </a:p>
          <a:p>
            <a:pPr>
              <a:spcAft>
                <a:spcPts val="700"/>
              </a:spcAft>
              <a:defRPr sz="1700">
                <a:solidFill>
                  <a:srgbClr val="232B33"/>
                </a:solidFill>
              </a:defRPr>
            </a:pPr>
            <a:r>
              <a:t>CPOP, PEFT and descendants — same template, refined priorities</a:t>
            </a:r>
          </a:p>
          <a:p>
            <a:pPr>
              <a:spcAft>
                <a:spcPts val="700"/>
              </a:spcAft>
              <a:defRPr sz="1700">
                <a:solidFill>
                  <a:srgbClr val="232B33"/>
                </a:solidFill>
              </a:defRPr>
            </a:pPr>
            <a:r>
              <a:t>Federated-fog variants add eligibility and federation constraints (our Paper 1 builds here)</a:t>
            </a:r>
          </a:p>
          <a:p>
            <a:pPr>
              <a:spcAft>
                <a:spcPts val="700"/>
              </a:spcAft>
              <a:defRPr sz="1700">
                <a:solidFill>
                  <a:srgbClr val="232B33"/>
                </a:solidFill>
              </a:defRPr>
            </a:pPr>
            <a:r>
              <a:t>Common assumption: one static plan, decided before execution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Thread 2 — Fog / edge scheduling</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2  |  Related work</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9</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700">
                <a:solidFill>
                  <a:srgbClr val="232B33"/>
                </a:solidFill>
              </a:defRPr>
            </a:pPr>
            <a:r>
              <a:t>Fog/edge schedulers manage capacity, eligibility, heterogeneity across the compute continuum</a:t>
            </a:r>
          </a:p>
          <a:p>
            <a:pPr>
              <a:spcAft>
                <a:spcPts val="700"/>
              </a:spcAft>
              <a:defRPr sz="1700">
                <a:solidFill>
                  <a:srgbClr val="232B33"/>
                </a:solidFill>
              </a:defRPr>
            </a:pPr>
            <a:r>
              <a:t>Surveys (Mouradian et al. 2018) catalog placement policies for fog and edge</a:t>
            </a:r>
          </a:p>
          <a:p>
            <a:pPr>
              <a:spcAft>
                <a:spcPts val="700"/>
              </a:spcAft>
              <a:defRPr sz="1700">
                <a:solidFill>
                  <a:srgbClr val="232B33"/>
                </a:solidFill>
              </a:defRPr>
            </a:pPr>
            <a:r>
              <a:t>Data-aware variants price locality — but rarely per-link bandwidth explicitly</a:t>
            </a:r>
          </a:p>
          <a:p>
            <a:pPr>
              <a:spcAft>
                <a:spcPts val="700"/>
              </a:spcAft>
              <a:defRPr sz="1700">
                <a:solidFill>
                  <a:srgbClr val="232B33"/>
                </a:solidFill>
              </a:defRPr>
            </a:pPr>
            <a:r>
              <a:t>Tasks are atomic: run completely or not at all</a:t>
            </a:r>
          </a:p>
          <a:p>
            <a:pPr>
              <a:spcAft>
                <a:spcPts val="700"/>
              </a:spcAft>
              <a:defRPr sz="1700">
                <a:solidFill>
                  <a:srgbClr val="232B33"/>
                </a:solidFill>
              </a:defRPr>
            </a:pPr>
            <a:r>
              <a:t>Schedules are decided up front — failures handled by restart, not repair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Thread 3 — Approximate computing</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2  |  Related work</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10</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700">
                <a:solidFill>
                  <a:srgbClr val="232B33"/>
                </a:solidFill>
              </a:defRPr>
            </a:pPr>
            <a:r>
              <a:t>Trades result quality for time or energy</a:t>
            </a:r>
          </a:p>
          <a:p>
            <a:pPr lvl="1">
              <a:spcAft>
                <a:spcPts val="700"/>
              </a:spcAft>
              <a:defRPr sz="1500">
                <a:solidFill>
                  <a:srgbClr val="5A646E"/>
                </a:solidFill>
              </a:defRPr>
            </a:pPr>
            <a:r>
              <a:t>  loop truncation, reduced precision, early termination</a:t>
            </a:r>
          </a:p>
          <a:p>
            <a:pPr>
              <a:spcAft>
                <a:spcPts val="700"/>
              </a:spcAft>
              <a:defRPr sz="1700">
                <a:solidFill>
                  <a:srgbClr val="232B33"/>
                </a:solidFill>
              </a:defRPr>
            </a:pPr>
            <a:r>
              <a:t>Makes accuracy a schedulable resource — exactly what tight deadlines need</a:t>
            </a:r>
          </a:p>
          <a:p>
            <a:pPr>
              <a:spcAft>
                <a:spcPts val="700"/>
              </a:spcAft>
              <a:defRPr sz="1700">
                <a:solidFill>
                  <a:srgbClr val="232B33"/>
                </a:solidFill>
              </a:defRPr>
            </a:pPr>
            <a:r>
              <a:t>But: the literature assumes data is already in place</a:t>
            </a:r>
          </a:p>
          <a:p>
            <a:pPr lvl="1">
              <a:spcAft>
                <a:spcPts val="700"/>
              </a:spcAft>
              <a:defRPr sz="1500">
                <a:solidFill>
                  <a:srgbClr val="5A646E"/>
                </a:solidFill>
              </a:defRPr>
            </a:pPr>
            <a:r>
              <a:t>  inter-node transfer cost is not part of the trade</a:t>
            </a:r>
          </a:p>
          <a:p>
            <a:pPr>
              <a:spcAft>
                <a:spcPts val="700"/>
              </a:spcAft>
              <a:defRPr sz="1700">
                <a:solidFill>
                  <a:srgbClr val="232B33"/>
                </a:solidFill>
              </a:defRPr>
            </a:pPr>
            <a:r>
              <a:t>Ours: approximation + per-edge data + per-link bandwidth, jointly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Thread 4 — Failure recovery &amp; rescheduling</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2  |  Related work</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11</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700">
                <a:solidFill>
                  <a:srgbClr val="232B33"/>
                </a:solidFill>
              </a:defRPr>
            </a:pPr>
            <a:r>
              <a:t>Workflow rescheduling (Sakellariou &amp; Zhao 2004): reconsider the plan at chosen points — but re-map globally</a:t>
            </a:r>
          </a:p>
          <a:p>
            <a:pPr>
              <a:spcAft>
                <a:spcPts val="700"/>
              </a:spcAft>
              <a:defRPr sz="1700">
                <a:solidFill>
                  <a:srgbClr val="232B33"/>
                </a:solidFill>
              </a:defRPr>
            </a:pPr>
            <a:r>
              <a:t>Fog task redistribution on node join/leave (Lee et al. 2019); uncertain-event rescheduling (Yang et al. 2024)</a:t>
            </a:r>
          </a:p>
          <a:p>
            <a:pPr>
              <a:spcAft>
                <a:spcPts val="700"/>
              </a:spcAft>
              <a:defRPr sz="1700">
                <a:solidFill>
                  <a:srgbClr val="232B33"/>
                </a:solidFill>
              </a:defRPr>
            </a:pPr>
            <a:r>
              <a:t>Checkpoint/restart and replication — recover work, at replication or recompute cost</a:t>
            </a:r>
          </a:p>
          <a:p>
            <a:pPr>
              <a:spcAft>
                <a:spcPts val="700"/>
              </a:spcAft>
              <a:defRPr sz="1700">
                <a:solidFill>
                  <a:srgbClr val="232B33"/>
                </a:solidFill>
              </a:defRPr>
            </a:pPr>
            <a:r>
              <a:t>Dynamic shortest-path updates (Riazi, Bhowmick, Khanda et al.) — repair routing after graph change; never applied to workflow repartitioning</a:t>
            </a:r>
          </a:p>
          <a:p>
            <a:pPr>
              <a:spcAft>
                <a:spcPts val="700"/>
              </a:spcAft>
              <a:defRPr sz="1700">
                <a:solidFill>
                  <a:srgbClr val="232B33"/>
                </a:solidFill>
              </a:defRPr>
            </a:pPr>
            <a:r>
              <a:t>Nobody couples: infra-node failure -&gt; smallest affected DAG region -&gt; repartition only that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The gap, in one table</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2  |  Related work</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12</a:t>
            </a:r>
          </a:p>
        </p:txBody>
      </p:sp>
      <p:graphicFrame>
        <p:nvGraphicFramePr>
          <p:cNvPr id="7" name="Table 6"/>
          <p:cNvGraphicFramePr>
            <a:graphicFrameLocks noGrp="1"/>
          </p:cNvGraphicFramePr>
          <p:nvPr/>
        </p:nvGraphicFramePr>
        <p:xfrm>
          <a:off x="731520" y="1234440"/>
          <a:ext cx="10698480" cy="3108960"/>
        </p:xfrm>
        <a:graphic>
          <a:graphicData uri="http://schemas.openxmlformats.org/drawingml/2006/table">
            <a:tbl>
              <a:tblPr firstRow="1" bandRow="1">
                <a:tableStyleId>{5C22544A-7EE6-4342-B048-85BDC9FD1C3A}</a:tableStyleId>
              </a:tblPr>
              <a:tblGrid>
                <a:gridCol w="3931920"/>
                <a:gridCol w="1691640"/>
                <a:gridCol w="1691640"/>
                <a:gridCol w="1691640"/>
                <a:gridCol w="1691640"/>
              </a:tblGrid>
              <a:tr h="621792">
                <a:tc>
                  <a:txBody>
                    <a:bodyPr wrap="square"/>
                    <a:lstStyle/>
                    <a:p>
                      <a:pPr>
                        <a:defRPr sz="1300" b="1">
                          <a:solidFill>
                            <a:srgbClr val="FFFFFF"/>
                          </a:solidFill>
                        </a:defRPr>
                      </a:pPr>
                      <a:r>
                        <a:t>Capability</a:t>
                      </a:r>
                    </a:p>
                  </a:txBody>
                  <a:tcPr marT="38100" marB="38100" marL="76200" marR="76200">
                    <a:solidFill>
                      <a:srgbClr val="0B2A4A"/>
                    </a:solidFill>
                  </a:tcPr>
                </a:tc>
                <a:tc>
                  <a:txBody>
                    <a:bodyPr wrap="square"/>
                    <a:lstStyle/>
                    <a:p>
                      <a:pPr>
                        <a:defRPr sz="1300" b="1">
                          <a:solidFill>
                            <a:srgbClr val="FFFFFF"/>
                          </a:solidFill>
                        </a:defRPr>
                      </a:pPr>
                      <a:r>
                        <a:t>HEFT / classic</a:t>
                      </a:r>
                    </a:p>
                  </a:txBody>
                  <a:tcPr marT="38100" marB="38100" marL="76200" marR="76200">
                    <a:solidFill>
                      <a:srgbClr val="0B2A4A"/>
                    </a:solidFill>
                  </a:tcPr>
                </a:tc>
                <a:tc>
                  <a:txBody>
                    <a:bodyPr wrap="square"/>
                    <a:lstStyle/>
                    <a:p>
                      <a:pPr>
                        <a:defRPr sz="1300" b="1">
                          <a:solidFill>
                            <a:srgbClr val="FFFFFF"/>
                          </a:solidFill>
                        </a:defRPr>
                      </a:pPr>
                      <a:r>
                        <a:t>Fog schedulers</a:t>
                      </a:r>
                    </a:p>
                  </a:txBody>
                  <a:tcPr marT="38100" marB="38100" marL="76200" marR="76200">
                    <a:solidFill>
                      <a:srgbClr val="0B2A4A"/>
                    </a:solidFill>
                  </a:tcPr>
                </a:tc>
                <a:tc>
                  <a:txBody>
                    <a:bodyPr wrap="square"/>
                    <a:lstStyle/>
                    <a:p>
                      <a:pPr>
                        <a:defRPr sz="1300" b="1">
                          <a:solidFill>
                            <a:srgbClr val="FFFFFF"/>
                          </a:solidFill>
                        </a:defRPr>
                      </a:pPr>
                      <a:r>
                        <a:t>Paper 1 + 2 (ours)</a:t>
                      </a:r>
                    </a:p>
                  </a:txBody>
                  <a:tcPr marT="38100" marB="38100" marL="76200" marR="76200">
                    <a:solidFill>
                      <a:srgbClr val="0B2A4A"/>
                    </a:solidFill>
                  </a:tcPr>
                </a:tc>
                <a:tc>
                  <a:txBody>
                    <a:bodyPr wrap="square"/>
                    <a:lstStyle/>
                    <a:p>
                      <a:pPr>
                        <a:defRPr sz="1300" b="1">
                          <a:solidFill>
                            <a:srgbClr val="FFFFFF"/>
                          </a:solidFill>
                        </a:defRPr>
                      </a:pPr>
                      <a:r>
                        <a:t>Proposed work</a:t>
                      </a:r>
                    </a:p>
                  </a:txBody>
                  <a:tcPr marT="38100" marB="38100" marL="76200" marR="76200">
                    <a:solidFill>
                      <a:srgbClr val="0B2A4A"/>
                    </a:solidFill>
                  </a:tcPr>
                </a:tc>
              </a:tr>
              <a:tr h="621792">
                <a:tc>
                  <a:txBody>
                    <a:bodyPr wrap="square"/>
                    <a:lstStyle/>
                    <a:p>
                      <a:pPr>
                        <a:defRPr sz="1300" b="0">
                          <a:solidFill>
                            <a:srgbClr val="232B33"/>
                          </a:solidFill>
                        </a:defRPr>
                      </a:pPr>
                      <a:r>
                        <a:t>Placement on heterogeneous nodes</a:t>
                      </a:r>
                    </a:p>
                  </a:txBody>
                  <a:tcPr marT="38100" marB="38100" marL="76200" marR="76200">
                    <a:solidFill>
                      <a:srgbClr val="FFFFFF"/>
                    </a:solidFill>
                  </a:tcPr>
                </a:tc>
                <a:tc>
                  <a:txBody>
                    <a:bodyPr wrap="square"/>
                    <a:lstStyle/>
                    <a:p>
                      <a:pPr>
                        <a:defRPr sz="1300" b="0">
                          <a:solidFill>
                            <a:srgbClr val="232B33"/>
                          </a:solidFill>
                        </a:defRPr>
                      </a:pPr>
                      <a:r>
                        <a:t>yes</a:t>
                      </a:r>
                    </a:p>
                  </a:txBody>
                  <a:tcPr marT="38100" marB="38100" marL="76200" marR="76200">
                    <a:solidFill>
                      <a:srgbClr val="FFFFFF"/>
                    </a:solidFill>
                  </a:tcPr>
                </a:tc>
                <a:tc>
                  <a:txBody>
                    <a:bodyPr wrap="square"/>
                    <a:lstStyle/>
                    <a:p>
                      <a:pPr>
                        <a:defRPr sz="1300" b="0">
                          <a:solidFill>
                            <a:srgbClr val="232B33"/>
                          </a:solidFill>
                        </a:defRPr>
                      </a:pPr>
                      <a:r>
                        <a:t>yes</a:t>
                      </a:r>
                    </a:p>
                  </a:txBody>
                  <a:tcPr marT="38100" marB="38100" marL="76200" marR="76200">
                    <a:solidFill>
                      <a:srgbClr val="FFFFFF"/>
                    </a:solidFill>
                  </a:tcPr>
                </a:tc>
                <a:tc>
                  <a:txBody>
                    <a:bodyPr wrap="square"/>
                    <a:lstStyle/>
                    <a:p>
                      <a:pPr>
                        <a:defRPr sz="1300" b="0">
                          <a:solidFill>
                            <a:srgbClr val="232B33"/>
                          </a:solidFill>
                        </a:defRPr>
                      </a:pPr>
                      <a:r>
                        <a:t>yes</a:t>
                      </a:r>
                    </a:p>
                  </a:txBody>
                  <a:tcPr marT="38100" marB="38100" marL="76200" marR="76200">
                    <a:solidFill>
                      <a:srgbClr val="FFFFFF"/>
                    </a:solidFill>
                  </a:tcPr>
                </a:tc>
                <a:tc>
                  <a:txBody>
                    <a:bodyPr wrap="square"/>
                    <a:lstStyle/>
                    <a:p>
                      <a:pPr>
                        <a:defRPr sz="1300" b="0">
                          <a:solidFill>
                            <a:srgbClr val="232B33"/>
                          </a:solidFill>
                        </a:defRPr>
                      </a:pPr>
                      <a:r>
                        <a:t>yes</a:t>
                      </a:r>
                    </a:p>
                  </a:txBody>
                  <a:tcPr marT="38100" marB="38100" marL="76200" marR="76200">
                    <a:solidFill>
                      <a:srgbClr val="FFFFFF"/>
                    </a:solidFill>
                  </a:tcPr>
                </a:tc>
              </a:tr>
              <a:tr h="621792">
                <a:tc>
                  <a:txBody>
                    <a:bodyPr wrap="square"/>
                    <a:lstStyle/>
                    <a:p>
                      <a:pPr>
                        <a:defRPr sz="1300" b="0">
                          <a:solidFill>
                            <a:srgbClr val="232B33"/>
                          </a:solidFill>
                        </a:defRPr>
                      </a:pPr>
                      <a:r>
                        <a:t>Per-edge data + per-link bandwidth</a:t>
                      </a:r>
                    </a:p>
                  </a:txBody>
                  <a:tcPr marT="38100" marB="38100" marL="76200" marR="76200">
                    <a:solidFill>
                      <a:srgbClr val="EDF2F7"/>
                    </a:solidFill>
                  </a:tcPr>
                </a:tc>
                <a:tc>
                  <a:txBody>
                    <a:bodyPr wrap="square"/>
                    <a:lstStyle/>
                    <a:p>
                      <a:pPr>
                        <a:defRPr sz="1300" b="0">
                          <a:solidFill>
                            <a:srgbClr val="232B33"/>
                          </a:solidFill>
                        </a:defRPr>
                      </a:pPr>
                      <a:r>
                        <a:t>no</a:t>
                      </a:r>
                    </a:p>
                  </a:txBody>
                  <a:tcPr marT="38100" marB="38100" marL="76200" marR="76200">
                    <a:solidFill>
                      <a:srgbClr val="EDF2F7"/>
                    </a:solidFill>
                  </a:tcPr>
                </a:tc>
                <a:tc>
                  <a:txBody>
                    <a:bodyPr wrap="square"/>
                    <a:lstStyle/>
                    <a:p>
                      <a:pPr>
                        <a:defRPr sz="1300" b="0">
                          <a:solidFill>
                            <a:srgbClr val="232B33"/>
                          </a:solidFill>
                        </a:defRPr>
                      </a:pPr>
                      <a:r>
                        <a:t>partial</a:t>
                      </a:r>
                    </a:p>
                  </a:txBody>
                  <a:tcPr marT="38100" marB="38100" marL="76200" marR="76200">
                    <a:solidFill>
                      <a:srgbClr val="EDF2F7"/>
                    </a:solidFill>
                  </a:tcPr>
                </a:tc>
                <a:tc>
                  <a:txBody>
                    <a:bodyPr wrap="square"/>
                    <a:lstStyle/>
                    <a:p>
                      <a:pPr>
                        <a:defRPr sz="1300" b="0">
                          <a:solidFill>
                            <a:srgbClr val="232B33"/>
                          </a:solidFill>
                        </a:defRPr>
                      </a:pPr>
                      <a:r>
                        <a:t>yes</a:t>
                      </a:r>
                    </a:p>
                  </a:txBody>
                  <a:tcPr marT="38100" marB="38100" marL="76200" marR="76200">
                    <a:solidFill>
                      <a:srgbClr val="EDF2F7"/>
                    </a:solidFill>
                  </a:tcPr>
                </a:tc>
                <a:tc>
                  <a:txBody>
                    <a:bodyPr wrap="square"/>
                    <a:lstStyle/>
                    <a:p>
                      <a:pPr>
                        <a:defRPr sz="1300" b="0">
                          <a:solidFill>
                            <a:srgbClr val="232B33"/>
                          </a:solidFill>
                        </a:defRPr>
                      </a:pPr>
                      <a:r>
                        <a:t>yes</a:t>
                      </a:r>
                    </a:p>
                  </a:txBody>
                  <a:tcPr marT="38100" marB="38100" marL="76200" marR="76200">
                    <a:solidFill>
                      <a:srgbClr val="EDF2F7"/>
                    </a:solidFill>
                  </a:tcPr>
                </a:tc>
              </a:tr>
              <a:tr h="621792">
                <a:tc>
                  <a:txBody>
                    <a:bodyPr wrap="square"/>
                    <a:lstStyle/>
                    <a:p>
                      <a:pPr>
                        <a:defRPr sz="1300" b="0">
                          <a:solidFill>
                            <a:srgbClr val="232B33"/>
                          </a:solidFill>
                        </a:defRPr>
                      </a:pPr>
                      <a:r>
                        <a:t>Approximate execution fractions</a:t>
                      </a:r>
                    </a:p>
                  </a:txBody>
                  <a:tcPr marT="38100" marB="38100" marL="76200" marR="76200">
                    <a:solidFill>
                      <a:srgbClr val="FFFFFF"/>
                    </a:solidFill>
                  </a:tcPr>
                </a:tc>
                <a:tc>
                  <a:txBody>
                    <a:bodyPr wrap="square"/>
                    <a:lstStyle/>
                    <a:p>
                      <a:pPr>
                        <a:defRPr sz="1300" b="0">
                          <a:solidFill>
                            <a:srgbClr val="232B33"/>
                          </a:solidFill>
                        </a:defRPr>
                      </a:pPr>
                      <a:r>
                        <a:t>no</a:t>
                      </a:r>
                    </a:p>
                  </a:txBody>
                  <a:tcPr marT="38100" marB="38100" marL="76200" marR="76200">
                    <a:solidFill>
                      <a:srgbClr val="FFFFFF"/>
                    </a:solidFill>
                  </a:tcPr>
                </a:tc>
                <a:tc>
                  <a:txBody>
                    <a:bodyPr wrap="square"/>
                    <a:lstStyle/>
                    <a:p>
                      <a:pPr>
                        <a:defRPr sz="1300" b="0">
                          <a:solidFill>
                            <a:srgbClr val="232B33"/>
                          </a:solidFill>
                        </a:defRPr>
                      </a:pPr>
                      <a:r>
                        <a:t>no</a:t>
                      </a:r>
                    </a:p>
                  </a:txBody>
                  <a:tcPr marT="38100" marB="38100" marL="76200" marR="76200">
                    <a:solidFill>
                      <a:srgbClr val="FFFFFF"/>
                    </a:solidFill>
                  </a:tcPr>
                </a:tc>
                <a:tc>
                  <a:txBody>
                    <a:bodyPr wrap="square"/>
                    <a:lstStyle/>
                    <a:p>
                      <a:pPr>
                        <a:defRPr sz="1300" b="0">
                          <a:solidFill>
                            <a:srgbClr val="232B33"/>
                          </a:solidFill>
                        </a:defRPr>
                      </a:pPr>
                      <a:r>
                        <a:t>yes</a:t>
                      </a:r>
                    </a:p>
                  </a:txBody>
                  <a:tcPr marT="38100" marB="38100" marL="76200" marR="76200">
                    <a:solidFill>
                      <a:srgbClr val="FFFFFF"/>
                    </a:solidFill>
                  </a:tcPr>
                </a:tc>
                <a:tc>
                  <a:txBody>
                    <a:bodyPr wrap="square"/>
                    <a:lstStyle/>
                    <a:p>
                      <a:pPr>
                        <a:defRPr sz="1300" b="0">
                          <a:solidFill>
                            <a:srgbClr val="232B33"/>
                          </a:solidFill>
                        </a:defRPr>
                      </a:pPr>
                      <a:r>
                        <a:t>yes</a:t>
                      </a:r>
                    </a:p>
                  </a:txBody>
                  <a:tcPr marT="38100" marB="38100" marL="76200" marR="76200">
                    <a:solidFill>
                      <a:srgbClr val="FFFFFF"/>
                    </a:solidFill>
                  </a:tcPr>
                </a:tc>
              </a:tr>
              <a:tr h="621792">
                <a:tc>
                  <a:txBody>
                    <a:bodyPr wrap="square"/>
                    <a:lstStyle/>
                    <a:p>
                      <a:pPr>
                        <a:defRPr sz="1300" b="0">
                          <a:solidFill>
                            <a:srgbClr val="232B33"/>
                          </a:solidFill>
                        </a:defRPr>
                      </a:pPr>
                      <a:r>
                        <a:t>Recovery after resource failure</a:t>
                      </a:r>
                    </a:p>
                  </a:txBody>
                  <a:tcPr marT="38100" marB="38100" marL="76200" marR="76200">
                    <a:solidFill>
                      <a:srgbClr val="EDF2F7"/>
                    </a:solidFill>
                  </a:tcPr>
                </a:tc>
                <a:tc>
                  <a:txBody>
                    <a:bodyPr wrap="square"/>
                    <a:lstStyle/>
                    <a:p>
                      <a:pPr>
                        <a:defRPr sz="1300" b="0">
                          <a:solidFill>
                            <a:srgbClr val="232B33"/>
                          </a:solidFill>
                        </a:defRPr>
                      </a:pPr>
                      <a:r>
                        <a:t>restart</a:t>
                      </a:r>
                    </a:p>
                  </a:txBody>
                  <a:tcPr marT="38100" marB="38100" marL="76200" marR="76200">
                    <a:solidFill>
                      <a:srgbClr val="EDF2F7"/>
                    </a:solidFill>
                  </a:tcPr>
                </a:tc>
                <a:tc>
                  <a:txBody>
                    <a:bodyPr wrap="square"/>
                    <a:lstStyle/>
                    <a:p>
                      <a:pPr>
                        <a:defRPr sz="1300" b="0">
                          <a:solidFill>
                            <a:srgbClr val="232B33"/>
                          </a:solidFill>
                        </a:defRPr>
                      </a:pPr>
                      <a:r>
                        <a:t>reschedule all</a:t>
                      </a:r>
                    </a:p>
                  </a:txBody>
                  <a:tcPr marT="38100" marB="38100" marL="76200" marR="76200">
                    <a:solidFill>
                      <a:srgbClr val="EDF2F7"/>
                    </a:solidFill>
                  </a:tcPr>
                </a:tc>
                <a:tc>
                  <a:txBody>
                    <a:bodyPr wrap="square"/>
                    <a:lstStyle/>
                    <a:p>
                      <a:pPr>
                        <a:defRPr sz="1300" b="0">
                          <a:solidFill>
                            <a:srgbClr val="232B33"/>
                          </a:solidFill>
                        </a:defRPr>
                      </a:pPr>
                      <a:r>
                        <a:t>retry task</a:t>
                      </a:r>
                    </a:p>
                  </a:txBody>
                  <a:tcPr marT="38100" marB="38100" marL="76200" marR="76200">
                    <a:solidFill>
                      <a:srgbClr val="EDF2F7"/>
                    </a:solidFill>
                  </a:tcPr>
                </a:tc>
                <a:tc>
                  <a:txBody>
                    <a:bodyPr wrap="square"/>
                    <a:lstStyle/>
                    <a:p>
                      <a:pPr>
                        <a:defRPr sz="1300" b="0">
                          <a:solidFill>
                            <a:srgbClr val="232B33"/>
                          </a:solidFill>
                        </a:defRPr>
                      </a:pPr>
                      <a:r>
                        <a:t>repair region only</a:t>
                      </a:r>
                    </a:p>
                  </a:txBody>
                  <a:tcPr marT="38100" marB="38100" marL="76200" marR="76200">
                    <a:solidFill>
                      <a:srgbClr val="EDF2F7"/>
                    </a:solidFill>
                  </a:tcPr>
                </a:tc>
              </a:tr>
            </a:tbl>
          </a:graphicData>
        </a:graphic>
      </p:graphicFrame>
      <p:sp>
        <p:nvSpPr>
          <p:cNvPr id="8" name="Rectangle 7"/>
          <p:cNvSpPr/>
          <p:nvPr/>
        </p:nvSpPr>
        <p:spPr>
          <a:xfrm>
            <a:off x="731520" y="4846320"/>
            <a:ext cx="10698480" cy="86868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4846320"/>
            <a:ext cx="109728"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919472"/>
            <a:ext cx="10241280" cy="722375"/>
          </a:xfrm>
          <a:prstGeom prst="rect">
            <a:avLst/>
          </a:prstGeom>
          <a:noFill/>
        </p:spPr>
        <p:txBody>
          <a:bodyPr wrap="square" anchor="ctr">
            <a:spAutoFit/>
          </a:bodyPr>
          <a:lstStyle/>
          <a:p>
            <a:pPr>
              <a:defRPr sz="1500" b="1">
                <a:solidFill>
                  <a:srgbClr val="232B33"/>
                </a:solidFill>
              </a:defRPr>
            </a:pPr>
            <a:r>
              <a:t>Gap: no method couples an infrastructure-node failure to the smallest affected region of the task DAG.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46120"/>
            <a:ext cx="12191695" cy="82296"/>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32720" cy="548640"/>
          </a:xfrm>
          <a:prstGeom prst="rect">
            <a:avLst/>
          </a:prstGeom>
          <a:noFill/>
        </p:spPr>
        <p:txBody>
          <a:bodyPr wrap="none">
            <a:spAutoFit/>
          </a:bodyPr>
          <a:lstStyle/>
          <a:p>
            <a:pPr>
              <a:defRPr sz="2000" b="1">
                <a:solidFill>
                  <a:srgbClr val="0B2A4A"/>
                </a:solidFill>
              </a:defRPr>
            </a:pPr>
            <a:r>
              <a:t>3  |  PROBLEM DEFINITION</a:t>
            </a:r>
          </a:p>
        </p:txBody>
      </p:sp>
      <p:sp>
        <p:nvSpPr>
          <p:cNvPr id="5" name="TextBox 4"/>
          <p:cNvSpPr txBox="1"/>
          <p:nvPr/>
        </p:nvSpPr>
        <p:spPr>
          <a:xfrm>
            <a:off x="914400" y="2468880"/>
            <a:ext cx="10332720" cy="1463040"/>
          </a:xfrm>
          <a:prstGeom prst="rect">
            <a:avLst/>
          </a:prstGeom>
          <a:noFill/>
        </p:spPr>
        <p:txBody>
          <a:bodyPr wrap="square">
            <a:spAutoFit/>
          </a:bodyPr>
          <a:lstStyle/>
          <a:p>
            <a:pPr>
              <a:defRPr sz="4000" b="1">
                <a:solidFill>
                  <a:srgbClr val="FFFFFF"/>
                </a:solidFill>
              </a:defRPr>
            </a:pPr>
            <a:r>
              <a:t>The problem, stated precisely</a:t>
            </a:r>
          </a:p>
        </p:txBody>
      </p:sp>
      <p:sp>
        <p:nvSpPr>
          <p:cNvPr id="6" name="TextBox 5"/>
          <p:cNvSpPr txBox="1"/>
          <p:nvPr/>
        </p:nvSpPr>
        <p:spPr>
          <a:xfrm>
            <a:off x="914400" y="3749039"/>
            <a:ext cx="10332720" cy="1463040"/>
          </a:xfrm>
          <a:prstGeom prst="rect">
            <a:avLst/>
          </a:prstGeom>
          <a:noFill/>
        </p:spPr>
        <p:txBody>
          <a:bodyPr wrap="square">
            <a:spAutoFit/>
          </a:bodyPr>
          <a:lstStyle/>
          <a:p>
            <a:pPr>
              <a:defRPr sz="1800">
                <a:solidFill>
                  <a:srgbClr val="EDF2F7"/>
                </a:solidFill>
              </a:defRPr>
            </a:pPr>
            <a:r>
              <a:t>Two graphs, one coupling, a hard deadline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System model — two graphs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3  |  Problem definition</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14</a:t>
            </a:r>
          </a:p>
        </p:txBody>
      </p:sp>
      <p:sp>
        <p:nvSpPr>
          <p:cNvPr id="7" name="TextBox 6"/>
          <p:cNvSpPr txBox="1"/>
          <p:nvPr/>
        </p:nvSpPr>
        <p:spPr>
          <a:xfrm>
            <a:off x="594360" y="1143000"/>
            <a:ext cx="6309360" cy="5120640"/>
          </a:xfrm>
          <a:prstGeom prst="rect">
            <a:avLst/>
          </a:prstGeom>
          <a:noFill/>
        </p:spPr>
        <p:txBody>
          <a:bodyPr wrap="square">
            <a:spAutoFit/>
          </a:bodyPr>
          <a:lstStyle/>
          <a:p>
            <a:pPr>
              <a:spcAft>
                <a:spcPts val="700"/>
              </a:spcAft>
              <a:defRPr sz="1700">
                <a:solidFill>
                  <a:srgbClr val="232B33"/>
                </a:solidFill>
              </a:defRPr>
            </a:pPr>
            <a:r>
              <a:t>Task graph  G_T = (T, E):  task T_i with exec time t_ia, accuracy A_i, eligibility P_ia</a:t>
            </a:r>
          </a:p>
          <a:p>
            <a:pPr lvl="1">
              <a:spcAft>
                <a:spcPts val="700"/>
              </a:spcAft>
              <a:defRPr sz="1500">
                <a:solidFill>
                  <a:srgbClr val="5A646E"/>
                </a:solidFill>
              </a:defRPr>
            </a:pPr>
            <a:r>
              <a:t>  edge (j,i) carries D_ji bytes of dependency data</a:t>
            </a:r>
          </a:p>
          <a:p>
            <a:pPr>
              <a:spcAft>
                <a:spcPts val="700"/>
              </a:spcAft>
              <a:defRPr sz="1700">
                <a:solidFill>
                  <a:srgbClr val="232B33"/>
                </a:solidFill>
              </a:defRPr>
            </a:pPr>
            <a:r>
              <a:t>Infrastructure graph  G_R = (R, L):  node f_a with capacity, memory, availability</a:t>
            </a:r>
          </a:p>
          <a:p>
            <a:pPr lvl="1">
              <a:spcAft>
                <a:spcPts val="700"/>
              </a:spcAft>
              <a:defRPr sz="1500">
                <a:solidFill>
                  <a:srgbClr val="5A646E"/>
                </a:solidFill>
              </a:defRPr>
            </a:pPr>
            <a:r>
              <a:t>  link (b,a) with bandwidth B_ba and delay</a:t>
            </a:r>
          </a:p>
          <a:p>
            <a:pPr>
              <a:spcAft>
                <a:spcPts val="700"/>
              </a:spcAft>
              <a:defRPr sz="1700">
                <a:solidFill>
                  <a:srgbClr val="232B33"/>
                </a:solidFill>
              </a:defRPr>
            </a:pPr>
            <a:r>
              <a:t>Partition pi: T -&gt; R, one eligible node per task</a:t>
            </a:r>
          </a:p>
          <a:p>
            <a:pPr>
              <a:spcAft>
                <a:spcPts val="700"/>
              </a:spcAft>
              <a:defRPr sz="1700">
                <a:solidFill>
                  <a:srgbClr val="232B33"/>
                </a:solidFill>
              </a:defRPr>
            </a:pPr>
            <a:r>
              <a:t>Failure event: delete a node r* from G_R -&gt; stranded tasks in G_T</a:t>
            </a:r>
          </a:p>
        </p:txBody>
      </p:sp>
      <p:sp>
        <p:nvSpPr>
          <p:cNvPr id="8" name="Rounded Rectangle 7"/>
          <p:cNvSpPr/>
          <p:nvPr/>
        </p:nvSpPr>
        <p:spPr>
          <a:xfrm>
            <a:off x="6903720" y="2377439"/>
            <a:ext cx="2194560" cy="457200"/>
          </a:xfrm>
          <a:prstGeom prst="roundRect">
            <a:avLst/>
          </a:prstGeom>
          <a:solidFill>
            <a:srgbClr val="0B2A4A"/>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Task DAG  G_T</a:t>
            </a:r>
          </a:p>
        </p:txBody>
      </p:sp>
      <p:sp>
        <p:nvSpPr>
          <p:cNvPr id="9" name="Rounded Rectangle 8"/>
          <p:cNvSpPr/>
          <p:nvPr/>
        </p:nvSpPr>
        <p:spPr>
          <a:xfrm>
            <a:off x="9418320" y="2377439"/>
            <a:ext cx="2194560" cy="457200"/>
          </a:xfrm>
          <a:prstGeom prst="roundRect">
            <a:avLst/>
          </a:prstGeom>
          <a:solidFill>
            <a:srgbClr val="C75B12"/>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Infra  G_R</a:t>
            </a:r>
          </a:p>
        </p:txBody>
      </p:sp>
      <p:sp>
        <p:nvSpPr>
          <p:cNvPr id="10" name="Rounded Rectangle 9"/>
          <p:cNvSpPr/>
          <p:nvPr/>
        </p:nvSpPr>
        <p:spPr>
          <a:xfrm>
            <a:off x="6949440" y="3200400"/>
            <a:ext cx="640080" cy="50292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B2A4A"/>
                </a:solidFill>
              </a:defRPr>
            </a:pPr>
            <a:r>
              <a:t>T1</a:t>
            </a:r>
          </a:p>
        </p:txBody>
      </p:sp>
      <p:sp>
        <p:nvSpPr>
          <p:cNvPr id="11" name="Rounded Rectangle 10"/>
          <p:cNvSpPr/>
          <p:nvPr/>
        </p:nvSpPr>
        <p:spPr>
          <a:xfrm>
            <a:off x="7955279" y="2880360"/>
            <a:ext cx="640080" cy="50292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B2A4A"/>
                </a:solidFill>
              </a:defRPr>
            </a:pPr>
            <a:r>
              <a:t>T2</a:t>
            </a:r>
          </a:p>
        </p:txBody>
      </p:sp>
      <p:sp>
        <p:nvSpPr>
          <p:cNvPr id="12" name="Rounded Rectangle 11"/>
          <p:cNvSpPr/>
          <p:nvPr/>
        </p:nvSpPr>
        <p:spPr>
          <a:xfrm>
            <a:off x="7955279" y="3703320"/>
            <a:ext cx="640080" cy="50292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B2A4A"/>
                </a:solidFill>
              </a:defRPr>
            </a:pPr>
            <a:r>
              <a:t>T3</a:t>
            </a:r>
          </a:p>
        </p:txBody>
      </p:sp>
      <p:sp>
        <p:nvSpPr>
          <p:cNvPr id="13" name="Rounded Rectangle 12"/>
          <p:cNvSpPr/>
          <p:nvPr/>
        </p:nvSpPr>
        <p:spPr>
          <a:xfrm>
            <a:off x="8961120" y="3291839"/>
            <a:ext cx="640080" cy="50292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B2A4A"/>
                </a:solidFill>
              </a:defRPr>
            </a:pPr>
            <a:r>
              <a:t>T4</a:t>
            </a:r>
          </a:p>
        </p:txBody>
      </p:sp>
      <p:cxnSp>
        <p:nvCxnSpPr>
          <p:cNvPr id="14" name="Connector 13"/>
          <p:cNvCxnSpPr/>
          <p:nvPr/>
        </p:nvCxnSpPr>
        <p:spPr>
          <a:xfrm flipV="1">
            <a:off x="7589520" y="3154679"/>
            <a:ext cx="365759" cy="301753"/>
          </a:xfrm>
          <a:prstGeom prst="bentConnector3">
            <a:avLst/>
          </a:prstGeom>
          <a:ln w="19050">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589520" y="3456432"/>
            <a:ext cx="365759" cy="475488"/>
          </a:xfrm>
          <a:prstGeom prst="bentConnector3">
            <a:avLst/>
          </a:prstGeom>
          <a:ln w="19050">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95360" y="3136391"/>
            <a:ext cx="365760" cy="338329"/>
          </a:xfrm>
          <a:prstGeom prst="bentConnector3">
            <a:avLst/>
          </a:prstGeom>
          <a:ln w="19050">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8595360" y="3703320"/>
            <a:ext cx="365760" cy="256032"/>
          </a:xfrm>
          <a:prstGeom prst="bentConnector3">
            <a:avLst/>
          </a:prstGeom>
          <a:ln w="19050">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464040" y="3200400"/>
            <a:ext cx="640080" cy="50292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C75B12"/>
                </a:solidFill>
              </a:defRPr>
            </a:pPr>
            <a:r>
              <a:t>R1</a:t>
            </a:r>
          </a:p>
        </p:txBody>
      </p:sp>
      <p:sp>
        <p:nvSpPr>
          <p:cNvPr id="19" name="Rounded Rectangle 18"/>
          <p:cNvSpPr/>
          <p:nvPr/>
        </p:nvSpPr>
        <p:spPr>
          <a:xfrm>
            <a:off x="10424160" y="2880360"/>
            <a:ext cx="640080" cy="50292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C75B12"/>
                </a:solidFill>
              </a:defRPr>
            </a:pPr>
            <a:r>
              <a:t>R2</a:t>
            </a:r>
          </a:p>
        </p:txBody>
      </p:sp>
      <p:sp>
        <p:nvSpPr>
          <p:cNvPr id="20" name="Rounded Rectangle 19"/>
          <p:cNvSpPr/>
          <p:nvPr/>
        </p:nvSpPr>
        <p:spPr>
          <a:xfrm>
            <a:off x="10424160" y="3703320"/>
            <a:ext cx="640080" cy="50292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C75B12"/>
                </a:solidFill>
              </a:defRPr>
            </a:pPr>
            <a:r>
              <a:t>R3</a:t>
            </a:r>
          </a:p>
        </p:txBody>
      </p:sp>
      <p:sp>
        <p:nvSpPr>
          <p:cNvPr id="21" name="Rounded Rectangle 20"/>
          <p:cNvSpPr/>
          <p:nvPr/>
        </p:nvSpPr>
        <p:spPr>
          <a:xfrm>
            <a:off x="11384280" y="3291839"/>
            <a:ext cx="640080" cy="50292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C75B12"/>
                </a:solidFill>
              </a:defRPr>
            </a:pPr>
            <a:r>
              <a:t>R4</a:t>
            </a:r>
          </a:p>
        </p:txBody>
      </p:sp>
      <p:cxnSp>
        <p:nvCxnSpPr>
          <p:cNvPr id="22" name="Connector 21"/>
          <p:cNvCxnSpPr/>
          <p:nvPr/>
        </p:nvCxnSpPr>
        <p:spPr>
          <a:xfrm flipV="1">
            <a:off x="10104120" y="3154679"/>
            <a:ext cx="320040" cy="301753"/>
          </a:xfrm>
          <a:prstGeom prst="bentConnector3">
            <a:avLst/>
          </a:prstGeom>
          <a:ln w="15875">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0104120" y="3456432"/>
            <a:ext cx="320040" cy="475488"/>
          </a:xfrm>
          <a:prstGeom prst="bentConnector3">
            <a:avLst/>
          </a:prstGeom>
          <a:ln w="15875">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1064240" y="3136391"/>
            <a:ext cx="320040" cy="338329"/>
          </a:xfrm>
          <a:prstGeom prst="bentConnector3">
            <a:avLst/>
          </a:prstGeom>
          <a:ln w="15875">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1064240" y="3703320"/>
            <a:ext cx="320040" cy="256032"/>
          </a:xfrm>
          <a:prstGeom prst="bentConnector3">
            <a:avLst/>
          </a:prstGeom>
          <a:ln w="15875">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9464040" y="3456432"/>
            <a:ext cx="137160" cy="0"/>
          </a:xfrm>
          <a:prstGeom prst="bentConnector3">
            <a:avLst/>
          </a:prstGeom>
          <a:ln w="22225">
            <a:solidFill>
              <a:srgbClr val="0E7C7B"/>
            </a:solidFill>
            <a:prstDash val="sysDash"/>
            <a:headEnd type="none"/>
            <a:tailEnd type="arrow"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Problem statement — the static core</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3  |  Problem definition</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15</a:t>
            </a:r>
          </a:p>
        </p:txBody>
      </p:sp>
      <p:sp>
        <p:nvSpPr>
          <p:cNvPr id="7" name="Rectangle 6"/>
          <p:cNvSpPr/>
          <p:nvPr/>
        </p:nvSpPr>
        <p:spPr>
          <a:xfrm>
            <a:off x="731520" y="1234440"/>
            <a:ext cx="10698480" cy="77724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234440"/>
            <a:ext cx="109728" cy="7772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307592"/>
            <a:ext cx="10241280" cy="630936"/>
          </a:xfrm>
          <a:prstGeom prst="rect">
            <a:avLst/>
          </a:prstGeom>
          <a:noFill/>
        </p:spPr>
        <p:txBody>
          <a:bodyPr wrap="square" anchor="ctr">
            <a:spAutoFit/>
          </a:bodyPr>
          <a:lstStyle/>
          <a:p>
            <a:pPr>
              <a:defRPr sz="1400" b="0">
                <a:solidFill>
                  <a:srgbClr val="232B33"/>
                </a:solidFill>
              </a:defRPr>
            </a:pPr>
            <a:r>
              <a:t>GIVEN:  task DAG (exec times, data sizes, accuracies, eligibility)  +  infra graph (capacities, bandwidths)  +  deadline t_max</a:t>
            </a:r>
          </a:p>
        </p:txBody>
      </p:sp>
      <p:sp>
        <p:nvSpPr>
          <p:cNvPr id="10" name="Rectangle 9"/>
          <p:cNvSpPr/>
          <p:nvPr/>
        </p:nvSpPr>
        <p:spPr>
          <a:xfrm>
            <a:off x="731520" y="2148840"/>
            <a:ext cx="10698480" cy="77724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148840"/>
            <a:ext cx="109728" cy="77724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221992"/>
            <a:ext cx="10241280" cy="630936"/>
          </a:xfrm>
          <a:prstGeom prst="rect">
            <a:avLst/>
          </a:prstGeom>
          <a:noFill/>
        </p:spPr>
        <p:txBody>
          <a:bodyPr wrap="square" anchor="ctr">
            <a:spAutoFit/>
          </a:bodyPr>
          <a:lstStyle/>
          <a:p>
            <a:pPr>
              <a:defRPr sz="1400" b="0">
                <a:solidFill>
                  <a:srgbClr val="232B33"/>
                </a:solidFill>
              </a:defRPr>
            </a:pPr>
            <a:r>
              <a:t>DECIDE:  assignment e_ia in {0,1}   and   execution fraction l_ia in [0,1]   for every task i</a:t>
            </a:r>
          </a:p>
        </p:txBody>
      </p:sp>
      <p:sp>
        <p:nvSpPr>
          <p:cNvPr id="13" name="Rectangle 12"/>
          <p:cNvSpPr/>
          <p:nvPr/>
        </p:nvSpPr>
        <p:spPr>
          <a:xfrm>
            <a:off x="731520" y="3063240"/>
            <a:ext cx="10698480" cy="77724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3063240"/>
            <a:ext cx="109728" cy="777240"/>
          </a:xfrm>
          <a:prstGeom prst="rect">
            <a:avLst/>
          </a:prstGeom>
          <a:solidFill>
            <a:srgbClr val="5A6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136392"/>
            <a:ext cx="10241280" cy="630936"/>
          </a:xfrm>
          <a:prstGeom prst="rect">
            <a:avLst/>
          </a:prstGeom>
          <a:noFill/>
        </p:spPr>
        <p:txBody>
          <a:bodyPr wrap="square" anchor="ctr">
            <a:spAutoFit/>
          </a:bodyPr>
          <a:lstStyle/>
          <a:p>
            <a:pPr>
              <a:defRPr sz="1400" b="0">
                <a:solidFill>
                  <a:srgbClr val="232B33"/>
                </a:solidFill>
              </a:defRPr>
            </a:pPr>
            <a:r>
              <a:t>SUBJECT TO:  one eligible node per task;  precedence + data-arrival order;  makespan &lt;= t_max</a:t>
            </a:r>
          </a:p>
        </p:txBody>
      </p:sp>
      <p:sp>
        <p:nvSpPr>
          <p:cNvPr id="16" name="Rectangle 15"/>
          <p:cNvSpPr/>
          <p:nvPr/>
        </p:nvSpPr>
        <p:spPr>
          <a:xfrm>
            <a:off x="731520" y="3977639"/>
            <a:ext cx="10698480" cy="77724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3977639"/>
            <a:ext cx="109728" cy="777240"/>
          </a:xfrm>
          <a:prstGeom prst="rect">
            <a:avLst/>
          </a:prstGeom>
          <a:solidFill>
            <a:srgbClr val="E0A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050791"/>
            <a:ext cx="10241280" cy="630936"/>
          </a:xfrm>
          <a:prstGeom prst="rect">
            <a:avLst/>
          </a:prstGeom>
          <a:noFill/>
        </p:spPr>
        <p:txBody>
          <a:bodyPr wrap="square" anchor="ctr">
            <a:spAutoFit/>
          </a:bodyPr>
          <a:lstStyle/>
          <a:p>
            <a:pPr>
              <a:defRPr sz="1400" b="1">
                <a:solidFill>
                  <a:srgbClr val="232B33"/>
                </a:solidFill>
              </a:defRPr>
            </a:pPr>
            <a:r>
              <a:t>MAXIMIZE:  average accuracy  A_bar = (1/n) sum_i A_i * l_i</a:t>
            </a:r>
          </a:p>
        </p:txBody>
      </p:sp>
      <p:sp>
        <p:nvSpPr>
          <p:cNvPr id="19" name="TextBox 18"/>
          <p:cNvSpPr txBox="1"/>
          <p:nvPr/>
        </p:nvSpPr>
        <p:spPr>
          <a:xfrm>
            <a:off x="594360" y="5074920"/>
            <a:ext cx="10972800" cy="5120640"/>
          </a:xfrm>
          <a:prstGeom prst="rect">
            <a:avLst/>
          </a:prstGeom>
          <a:noFill/>
        </p:spPr>
        <p:txBody>
          <a:bodyPr wrap="square">
            <a:spAutoFit/>
          </a:bodyPr>
          <a:lstStyle/>
          <a:p>
            <a:pPr>
              <a:spcAft>
                <a:spcPts val="700"/>
              </a:spcAft>
              <a:defRPr sz="1500">
                <a:solidFill>
                  <a:srgbClr val="232B33"/>
                </a:solidFill>
              </a:defRPr>
            </a:pPr>
            <a:r>
              <a:t>NP-hard even on unrelated parallel machines — exact solution is the benchmark, not the product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Problem statement — the dynamic extension (the proposal)</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3  |  Problem definition</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16</a:t>
            </a:r>
          </a:p>
        </p:txBody>
      </p:sp>
      <p:sp>
        <p:nvSpPr>
          <p:cNvPr id="7" name="Rectangle 6"/>
          <p:cNvSpPr/>
          <p:nvPr/>
        </p:nvSpPr>
        <p:spPr>
          <a:xfrm>
            <a:off x="731520" y="1234440"/>
            <a:ext cx="10698480" cy="77724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234440"/>
            <a:ext cx="109728" cy="77724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307592"/>
            <a:ext cx="10241280" cy="630936"/>
          </a:xfrm>
          <a:prstGeom prst="rect">
            <a:avLst/>
          </a:prstGeom>
          <a:noFill/>
        </p:spPr>
        <p:txBody>
          <a:bodyPr wrap="square" anchor="ctr">
            <a:spAutoFit/>
          </a:bodyPr>
          <a:lstStyle/>
          <a:p>
            <a:pPr>
              <a:defRPr sz="1400" b="0">
                <a:solidFill>
                  <a:srgbClr val="232B33"/>
                </a:solidFill>
              </a:defRPr>
            </a:pPr>
            <a:r>
              <a:t>EVENT:  at time tau, resource r* fails  -&gt;  stranded set S = unfinished tasks on r*</a:t>
            </a:r>
          </a:p>
        </p:txBody>
      </p:sp>
      <p:sp>
        <p:nvSpPr>
          <p:cNvPr id="10" name="Rectangle 9"/>
          <p:cNvSpPr/>
          <p:nvPr/>
        </p:nvSpPr>
        <p:spPr>
          <a:xfrm>
            <a:off x="731520" y="2148840"/>
            <a:ext cx="10698480" cy="77724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148840"/>
            <a:ext cx="109728" cy="7772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221992"/>
            <a:ext cx="10241280" cy="630936"/>
          </a:xfrm>
          <a:prstGeom prst="rect">
            <a:avLst/>
          </a:prstGeom>
          <a:noFill/>
        </p:spPr>
        <p:txBody>
          <a:bodyPr wrap="square" anchor="ctr">
            <a:spAutoFit/>
          </a:bodyPr>
          <a:lstStyle/>
          <a:p>
            <a:pPr>
              <a:defRPr sz="1400" b="0">
                <a:solidFill>
                  <a:srgbClr val="232B33"/>
                </a:solidFill>
              </a:defRPr>
            </a:pPr>
            <a:r>
              <a:t>DECIDE:  the affected region A (superset of S, inside G_T)  +  repair assignment pi': A -&gt; R \ {r*}</a:t>
            </a:r>
          </a:p>
        </p:txBody>
      </p:sp>
      <p:sp>
        <p:nvSpPr>
          <p:cNvPr id="13" name="Rectangle 12"/>
          <p:cNvSpPr/>
          <p:nvPr/>
        </p:nvSpPr>
        <p:spPr>
          <a:xfrm>
            <a:off x="731520" y="3063240"/>
            <a:ext cx="10698480" cy="77724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3063240"/>
            <a:ext cx="109728" cy="777240"/>
          </a:xfrm>
          <a:prstGeom prst="rect">
            <a:avLst/>
          </a:prstGeom>
          <a:solidFill>
            <a:srgbClr val="5A6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136392"/>
            <a:ext cx="10241280" cy="630936"/>
          </a:xfrm>
          <a:prstGeom prst="rect">
            <a:avLst/>
          </a:prstGeom>
          <a:noFill/>
        </p:spPr>
        <p:txBody>
          <a:bodyPr wrap="square" anchor="ctr">
            <a:spAutoFit/>
          </a:bodyPr>
          <a:lstStyle/>
          <a:p>
            <a:pPr>
              <a:defRPr sz="1400" b="0">
                <a:solidFill>
                  <a:srgbClr val="232B33"/>
                </a:solidFill>
              </a:defRPr>
            </a:pPr>
            <a:r>
              <a:t>SUBJECT TO:  completed tasks never restart;  unaffected assignments never move;  deadline still met</a:t>
            </a:r>
          </a:p>
        </p:txBody>
      </p:sp>
      <p:sp>
        <p:nvSpPr>
          <p:cNvPr id="16" name="Rectangle 15"/>
          <p:cNvSpPr/>
          <p:nvPr/>
        </p:nvSpPr>
        <p:spPr>
          <a:xfrm>
            <a:off x="731520" y="3977639"/>
            <a:ext cx="10698480" cy="77724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3977639"/>
            <a:ext cx="109728" cy="777240"/>
          </a:xfrm>
          <a:prstGeom prst="rect">
            <a:avLst/>
          </a:prstGeom>
          <a:solidFill>
            <a:srgbClr val="E0A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050791"/>
            <a:ext cx="10241280" cy="630936"/>
          </a:xfrm>
          <a:prstGeom prst="rect">
            <a:avLst/>
          </a:prstGeom>
          <a:noFill/>
        </p:spPr>
        <p:txBody>
          <a:bodyPr wrap="square" anchor="ctr">
            <a:spAutoFit/>
          </a:bodyPr>
          <a:lstStyle/>
          <a:p>
            <a:pPr>
              <a:defRPr sz="1400" b="1">
                <a:solidFill>
                  <a:srgbClr val="232B33"/>
                </a:solidFill>
              </a:defRPr>
            </a:pPr>
            <a:r>
              <a:t>MINIMIZE:  recovery cost = added makespan + tasks moved + data re-shipped   while keeping accuracy</a:t>
            </a:r>
          </a:p>
        </p:txBody>
      </p:sp>
      <p:sp>
        <p:nvSpPr>
          <p:cNvPr id="19" name="TextBox 18"/>
          <p:cNvSpPr txBox="1"/>
          <p:nvPr/>
        </p:nvSpPr>
        <p:spPr>
          <a:xfrm>
            <a:off x="594360" y="5074920"/>
            <a:ext cx="10972800" cy="5120640"/>
          </a:xfrm>
          <a:prstGeom prst="rect">
            <a:avLst/>
          </a:prstGeom>
          <a:noFill/>
        </p:spPr>
        <p:txBody>
          <a:bodyPr wrap="square">
            <a:spAutoFit/>
          </a:bodyPr>
          <a:lstStyle/>
          <a:p>
            <a:pPr>
              <a:spcAft>
                <a:spcPts val="700"/>
              </a:spcAft>
              <a:defRPr sz="1500">
                <a:solidFill>
                  <a:srgbClr val="232B33"/>
                </a:solidFill>
              </a:defRPr>
            </a:pPr>
            <a:r>
              <a:t>Two granularity shifts at once: task retry -&gt; resource loss;  whole-DAG placement -&gt; minimal-region repair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46120"/>
            <a:ext cx="12191695" cy="82296"/>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32720" cy="548640"/>
          </a:xfrm>
          <a:prstGeom prst="rect">
            <a:avLst/>
          </a:prstGeom>
          <a:noFill/>
        </p:spPr>
        <p:txBody>
          <a:bodyPr wrap="none">
            <a:spAutoFit/>
          </a:bodyPr>
          <a:lstStyle/>
          <a:p>
            <a:pPr>
              <a:defRPr sz="2000" b="1">
                <a:solidFill>
                  <a:srgbClr val="0E7C7B"/>
                </a:solidFill>
              </a:defRPr>
            </a:pPr>
            <a:r>
              <a:t>4  |  COMPLETED WORK &amp; PRELIMINARY RESULTS</a:t>
            </a:r>
          </a:p>
        </p:txBody>
      </p:sp>
      <p:sp>
        <p:nvSpPr>
          <p:cNvPr id="5" name="TextBox 4"/>
          <p:cNvSpPr txBox="1"/>
          <p:nvPr/>
        </p:nvSpPr>
        <p:spPr>
          <a:xfrm>
            <a:off x="914400" y="2468880"/>
            <a:ext cx="10332720" cy="1463040"/>
          </a:xfrm>
          <a:prstGeom prst="rect">
            <a:avLst/>
          </a:prstGeom>
          <a:noFill/>
        </p:spPr>
        <p:txBody>
          <a:bodyPr wrap="square">
            <a:spAutoFit/>
          </a:bodyPr>
          <a:lstStyle/>
          <a:p>
            <a:pPr>
              <a:defRPr sz="4000" b="1">
                <a:solidFill>
                  <a:srgbClr val="FFFFFF"/>
                </a:solidFill>
              </a:defRPr>
            </a:pPr>
            <a:r>
              <a:t>The platform the proposal builds on</a:t>
            </a:r>
          </a:p>
        </p:txBody>
      </p:sp>
      <p:sp>
        <p:nvSpPr>
          <p:cNvPr id="6" name="TextBox 5"/>
          <p:cNvSpPr txBox="1"/>
          <p:nvPr/>
        </p:nvSpPr>
        <p:spPr>
          <a:xfrm>
            <a:off x="914400" y="3749039"/>
            <a:ext cx="10332720" cy="1463040"/>
          </a:xfrm>
          <a:prstGeom prst="rect">
            <a:avLst/>
          </a:prstGeom>
          <a:noFill/>
        </p:spPr>
        <p:txBody>
          <a:bodyPr wrap="square">
            <a:spAutoFit/>
          </a:bodyPr>
          <a:lstStyle/>
          <a:p>
            <a:pPr>
              <a:defRPr sz="1800">
                <a:solidFill>
                  <a:srgbClr val="EDF2F7"/>
                </a:solidFill>
              </a:defRPr>
            </a:pPr>
            <a:r>
              <a:t>Paper 1 (published) + Paper 2 (submitted): formulation, schedulers, and what the data shows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Paper 1 — the published foundation</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18</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700">
                <a:solidFill>
                  <a:srgbClr val="232B33"/>
                </a:solidFill>
              </a:defRPr>
            </a:pPr>
            <a:r>
              <a:t>IEEE Cloud Summit 2025: 'Towards efficient allocation of tasks in DAG-based workflows across federated fog systems'</a:t>
            </a:r>
          </a:p>
          <a:p>
            <a:pPr>
              <a:spcAft>
                <a:spcPts val="700"/>
              </a:spcAft>
              <a:defRPr sz="1700">
                <a:solidFill>
                  <a:srgbClr val="232B33"/>
                </a:solidFill>
              </a:defRPr>
            </a:pPr>
            <a:r>
              <a:t>Contribution: the model + four ways to solve it</a:t>
            </a:r>
          </a:p>
          <a:p>
            <a:pPr lvl="1">
              <a:spcAft>
                <a:spcPts val="700"/>
              </a:spcAft>
              <a:defRPr sz="1500">
                <a:solidFill>
                  <a:srgbClr val="5A646E"/>
                </a:solidFill>
              </a:defRPr>
            </a:pPr>
            <a:r>
              <a:t>  MILP — exact, with correctness proofs</a:t>
            </a:r>
          </a:p>
          <a:p>
            <a:pPr lvl="1">
              <a:spcAft>
                <a:spcPts val="700"/>
              </a:spcAft>
              <a:defRPr sz="1500">
                <a:solidFill>
                  <a:srgbClr val="5A646E"/>
                </a:solidFill>
              </a:defRPr>
            </a:pPr>
            <a:r>
              <a:t>  LP relaxation + randomized rounding</a:t>
            </a:r>
          </a:p>
          <a:p>
            <a:pPr lvl="1">
              <a:spcAft>
                <a:spcPts val="700"/>
              </a:spcAft>
              <a:defRPr sz="1500">
                <a:solidFill>
                  <a:srgbClr val="5A646E"/>
                </a:solidFill>
              </a:defRPr>
            </a:pPr>
            <a:r>
              <a:t>  data-aware greedy — priority beta*A_i + (1-beta)*CP_i</a:t>
            </a:r>
          </a:p>
          <a:p>
            <a:pPr lvl="1">
              <a:spcAft>
                <a:spcPts val="700"/>
              </a:spcAft>
              <a:defRPr sz="1500">
                <a:solidFill>
                  <a:srgbClr val="5A646E"/>
                </a:solidFill>
              </a:defRPr>
            </a:pPr>
            <a:r>
              <a:t>  genetic algorithm — assignment + fractions as one chromosome</a:t>
            </a:r>
          </a:p>
          <a:p>
            <a:pPr>
              <a:spcAft>
                <a:spcPts val="700"/>
              </a:spcAft>
              <a:defRPr sz="1700">
                <a:solidFill>
                  <a:srgbClr val="232B33"/>
                </a:solidFill>
              </a:defRPr>
            </a:pPr>
            <a:r>
              <a:t>Left open: no bound, no link-degradation study, no resource-level failures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Paper 2 — the formulation, written out</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19</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600">
                <a:solidFill>
                  <a:srgbClr val="232B33"/>
                </a:solidFill>
              </a:defRPr>
            </a:pPr>
            <a:r>
              <a:t>Communication:  c_ji^ba = D_ji / B_ba  if b != a,  0 if co-located</a:t>
            </a:r>
          </a:p>
          <a:p>
            <a:pPr>
              <a:spcAft>
                <a:spcPts val="700"/>
              </a:spcAft>
              <a:defRPr sz="1600">
                <a:solidFill>
                  <a:srgbClr val="232B33"/>
                </a:solidFill>
              </a:defRPr>
            </a:pPr>
            <a:r>
              <a:t>Objective:  max  A_bar = (1/n) sum_i A_i sum_a l_ia</a:t>
            </a:r>
          </a:p>
          <a:p>
            <a:pPr>
              <a:spcAft>
                <a:spcPts val="700"/>
              </a:spcAft>
              <a:defRPr sz="1600">
                <a:solidFill>
                  <a:srgbClr val="232B33"/>
                </a:solidFill>
              </a:defRPr>
            </a:pPr>
            <a:r>
              <a:t>Placement:  sum_a e_ia = 1   over eligible nodes only</a:t>
            </a:r>
          </a:p>
          <a:p>
            <a:pPr>
              <a:spcAft>
                <a:spcPts val="700"/>
              </a:spcAft>
              <a:defRPr sz="1600">
                <a:solidFill>
                  <a:srgbClr val="232B33"/>
                </a:solidFill>
              </a:defRPr>
            </a:pPr>
            <a:r>
              <a:t>Precedence + data:  M_ia &gt;= y_j + c_ji^ba * e_jb  for all edges (j,i)</a:t>
            </a:r>
          </a:p>
          <a:p>
            <a:pPr>
              <a:spcAft>
                <a:spcPts val="700"/>
              </a:spcAft>
              <a:defRPr sz="1600">
                <a:solidFill>
                  <a:srgbClr val="232B33"/>
                </a:solidFill>
              </a:defRPr>
            </a:pPr>
            <a:r>
              <a:t>Deadline:  y_i = sum_a e_ia (M_ia + t_ia l_ia) &lt;= t_max</a:t>
            </a:r>
          </a:p>
          <a:p>
            <a:pPr>
              <a:spcAft>
                <a:spcPts val="700"/>
              </a:spcAft>
              <a:defRPr sz="1600">
                <a:solidFill>
                  <a:srgbClr val="232B33"/>
                </a:solidFill>
              </a:defRPr>
            </a:pPr>
            <a:r>
              <a:t>Products e*M and e*l are bilinear -&gt; needs linearization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Correctness — linearization and lemmas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20</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600">
                <a:solidFill>
                  <a:srgbClr val="232B33"/>
                </a:solidFill>
              </a:defRPr>
            </a:pPr>
            <a:r>
              <a:t>Linearization:  z_ia := e_ia * M_ia   via big-M</a:t>
            </a:r>
          </a:p>
          <a:p>
            <a:pPr lvl="1">
              <a:spcAft>
                <a:spcPts val="700"/>
              </a:spcAft>
              <a:defRPr sz="1400">
                <a:solidFill>
                  <a:srgbClr val="5A646E"/>
                </a:solidFill>
              </a:defRPr>
            </a:pPr>
            <a:r>
              <a:t>  z &lt;= M_ia + t_max(1 - e);   z &gt;= M_ia - t_max(1 - e);   z &lt;= t_max * e;   z &gt;= 0</a:t>
            </a:r>
          </a:p>
          <a:p>
            <a:pPr lvl="1">
              <a:spcAft>
                <a:spcPts val="700"/>
              </a:spcAft>
              <a:defRPr sz="1400">
                <a:solidFill>
                  <a:srgbClr val="5A646E"/>
                </a:solidFill>
              </a:defRPr>
            </a:pPr>
            <a:r>
              <a:t>  z &gt;= 0 matters: without it a negative z on an unassigned node could fake an early finish</a:t>
            </a:r>
          </a:p>
          <a:p>
            <a:pPr>
              <a:spcAft>
                <a:spcPts val="700"/>
              </a:spcAft>
              <a:defRPr sz="1600">
                <a:solidFill>
                  <a:srgbClr val="232B33"/>
                </a:solidFill>
              </a:defRPr>
            </a:pPr>
            <a:r>
              <a:t>Correctness chain:  L1 unique assignment -&gt; L2 single positive fraction -&gt; L3 l&gt;0 only on the assigned node -&gt; L4 precedence order -&gt; L5 deadline feasibility</a:t>
            </a:r>
          </a:p>
          <a:p>
            <a:pPr>
              <a:spcAft>
                <a:spcPts val="700"/>
              </a:spcAft>
              <a:defRPr sz="1600">
                <a:solidFill>
                  <a:srgbClr val="232B33"/>
                </a:solidFill>
              </a:defRPr>
            </a:pPr>
            <a:r>
              <a:t>Theorem:  the MILP optimum is the maximum-accuracy feasible schedule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Four schedulers on one cost model</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21</a:t>
            </a:r>
          </a:p>
        </p:txBody>
      </p:sp>
      <p:pic>
        <p:nvPicPr>
          <p:cNvPr id="7" name="Picture 6" descr="scheduling-pipeline.png"/>
          <p:cNvPicPr>
            <a:picLocks noChangeAspect="1"/>
          </p:cNvPicPr>
          <p:nvPr/>
        </p:nvPicPr>
        <p:blipFill>
          <a:blip r:embed="rId3"/>
          <a:stretch>
            <a:fillRect/>
          </a:stretch>
        </p:blipFill>
        <p:spPr>
          <a:xfrm>
            <a:off x="640080" y="1188720"/>
            <a:ext cx="6035040" cy="3688080"/>
          </a:xfrm>
          <a:prstGeom prst="rect">
            <a:avLst/>
          </a:prstGeom>
        </p:spPr>
      </p:pic>
      <p:sp>
        <p:nvSpPr>
          <p:cNvPr id="8" name="TextBox 7"/>
          <p:cNvSpPr txBox="1"/>
          <p:nvPr/>
        </p:nvSpPr>
        <p:spPr>
          <a:xfrm>
            <a:off x="6949440" y="1280160"/>
            <a:ext cx="4754880" cy="5120640"/>
          </a:xfrm>
          <a:prstGeom prst="rect">
            <a:avLst/>
          </a:prstGeom>
          <a:noFill/>
        </p:spPr>
        <p:txBody>
          <a:bodyPr wrap="square">
            <a:spAutoFit/>
          </a:bodyPr>
          <a:lstStyle/>
          <a:p>
            <a:pPr>
              <a:spcAft>
                <a:spcPts val="700"/>
              </a:spcAft>
              <a:defRPr sz="1500">
                <a:solidFill>
                  <a:srgbClr val="232B33"/>
                </a:solidFill>
              </a:defRPr>
            </a:pPr>
            <a:r>
              <a:t>MILP (HiGHS) — the benchmark</a:t>
            </a:r>
          </a:p>
          <a:p>
            <a:pPr>
              <a:spcAft>
                <a:spcPts val="700"/>
              </a:spcAft>
              <a:defRPr sz="1500">
                <a:solidFill>
                  <a:srgbClr val="232B33"/>
                </a:solidFill>
              </a:defRPr>
            </a:pPr>
            <a:r>
              <a:t>LP rounding — relax, sample node per task, re-solve fractions</a:t>
            </a:r>
          </a:p>
          <a:p>
            <a:pPr>
              <a:spcAft>
                <a:spcPts val="700"/>
              </a:spcAft>
              <a:defRPr sz="1500">
                <a:solidFill>
                  <a:srgbClr val="232B33"/>
                </a:solidFill>
              </a:defRPr>
            </a:pPr>
            <a:r>
              <a:t>Greedy — priority + earliest finish; deadline miss -&gt; lower global fraction and retry</a:t>
            </a:r>
          </a:p>
          <a:p>
            <a:pPr>
              <a:spcAft>
                <a:spcPts val="700"/>
              </a:spcAft>
              <a:defRPr sz="1500">
                <a:solidFill>
                  <a:srgbClr val="232B33"/>
                </a:solidFill>
              </a:defRPr>
            </a:pPr>
            <a:r>
              <a:t>GA — chromosome = assignment + fractions; fitness = accuracy - lateness penalty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Experimental setup</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22</a:t>
            </a:r>
          </a:p>
        </p:txBody>
      </p:sp>
      <p:graphicFrame>
        <p:nvGraphicFramePr>
          <p:cNvPr id="7" name="Table 6"/>
          <p:cNvGraphicFramePr>
            <a:graphicFrameLocks noGrp="1"/>
          </p:cNvGraphicFramePr>
          <p:nvPr/>
        </p:nvGraphicFramePr>
        <p:xfrm>
          <a:off x="731520" y="1097280"/>
          <a:ext cx="10698480" cy="5029200"/>
        </p:xfrm>
        <a:graphic>
          <a:graphicData uri="http://schemas.openxmlformats.org/drawingml/2006/table">
            <a:tbl>
              <a:tblPr firstRow="1" bandRow="1">
                <a:tableStyleId>{5C22544A-7EE6-4342-B048-85BDC9FD1C3A}</a:tableStyleId>
              </a:tblPr>
              <a:tblGrid>
                <a:gridCol w="2926080"/>
                <a:gridCol w="7772400"/>
              </a:tblGrid>
              <a:tr h="502920">
                <a:tc>
                  <a:txBody>
                    <a:bodyPr wrap="square"/>
                    <a:lstStyle/>
                    <a:p>
                      <a:pPr>
                        <a:defRPr sz="1200" b="1">
                          <a:solidFill>
                            <a:srgbClr val="FFFFFF"/>
                          </a:solidFill>
                        </a:defRPr>
                      </a:pPr>
                      <a:r>
                        <a:t>Component</a:t>
                      </a:r>
                    </a:p>
                  </a:txBody>
                  <a:tcPr marT="38100" marB="38100" marL="76200" marR="76200">
                    <a:solidFill>
                      <a:srgbClr val="0B2A4A"/>
                    </a:solidFill>
                  </a:tcPr>
                </a:tc>
                <a:tc>
                  <a:txBody>
                    <a:bodyPr wrap="square"/>
                    <a:lstStyle/>
                    <a:p>
                      <a:pPr>
                        <a:defRPr sz="1200" b="1">
                          <a:solidFill>
                            <a:srgbClr val="FFFFFF"/>
                          </a:solidFill>
                        </a:defRPr>
                      </a:pPr>
                      <a:r>
                        <a:t>Setting</a:t>
                      </a:r>
                    </a:p>
                  </a:txBody>
                  <a:tcPr marT="38100" marB="38100" marL="76200" marR="76200">
                    <a:solidFill>
                      <a:srgbClr val="0B2A4A"/>
                    </a:solidFill>
                  </a:tcPr>
                </a:tc>
              </a:tr>
              <a:tr h="502920">
                <a:tc>
                  <a:txBody>
                    <a:bodyPr wrap="square"/>
                    <a:lstStyle/>
                    <a:p>
                      <a:pPr>
                        <a:defRPr sz="1200" b="0">
                          <a:solidFill>
                            <a:srgbClr val="232B33"/>
                          </a:solidFill>
                        </a:defRPr>
                      </a:pPr>
                      <a:r>
                        <a:t>Simulator</a:t>
                      </a:r>
                    </a:p>
                  </a:txBody>
                  <a:tcPr marT="38100" marB="38100" marL="76200" marR="76200">
                    <a:solidFill>
                      <a:srgbClr val="FFFFFF"/>
                    </a:solidFill>
                  </a:tcPr>
                </a:tc>
                <a:tc>
                  <a:txBody>
                    <a:bodyPr wrap="square"/>
                    <a:lstStyle/>
                    <a:p>
                      <a:pPr>
                        <a:defRPr sz="1200" b="0">
                          <a:solidFill>
                            <a:srgbClr val="232B33"/>
                          </a:solidFill>
                        </a:defRPr>
                      </a:pPr>
                      <a:r>
                        <a:t>discrete-event, Python/NumPy + SciPy HiGHS</a:t>
                      </a:r>
                    </a:p>
                  </a:txBody>
                  <a:tcPr marT="38100" marB="38100" marL="76200" marR="76200">
                    <a:solidFill>
                      <a:srgbClr val="FFFFFF"/>
                    </a:solidFill>
                  </a:tcPr>
                </a:tc>
              </a:tr>
              <a:tr h="502920">
                <a:tc>
                  <a:txBody>
                    <a:bodyPr wrap="square"/>
                    <a:lstStyle/>
                    <a:p>
                      <a:pPr>
                        <a:defRPr sz="1200" b="0">
                          <a:solidFill>
                            <a:srgbClr val="232B33"/>
                          </a:solidFill>
                        </a:defRPr>
                      </a:pPr>
                      <a:r>
                        <a:t>Task exec time t</a:t>
                      </a:r>
                    </a:p>
                  </a:txBody>
                  <a:tcPr marT="38100" marB="38100" marL="76200" marR="76200">
                    <a:solidFill>
                      <a:srgbClr val="EDF2F7"/>
                    </a:solidFill>
                  </a:tcPr>
                </a:tc>
                <a:tc>
                  <a:txBody>
                    <a:bodyPr wrap="square"/>
                    <a:lstStyle/>
                    <a:p>
                      <a:pPr>
                        <a:defRPr sz="1200" b="0">
                          <a:solidFill>
                            <a:srgbClr val="232B33"/>
                          </a:solidFill>
                        </a:defRPr>
                      </a:pPr>
                      <a:r>
                        <a:t>uniform [1, 5]</a:t>
                      </a:r>
                    </a:p>
                  </a:txBody>
                  <a:tcPr marT="38100" marB="38100" marL="76200" marR="76200">
                    <a:solidFill>
                      <a:srgbClr val="EDF2F7"/>
                    </a:solidFill>
                  </a:tcPr>
                </a:tc>
              </a:tr>
              <a:tr h="502920">
                <a:tc>
                  <a:txBody>
                    <a:bodyPr wrap="square"/>
                    <a:lstStyle/>
                    <a:p>
                      <a:pPr>
                        <a:defRPr sz="1200" b="0">
                          <a:solidFill>
                            <a:srgbClr val="232B33"/>
                          </a:solidFill>
                        </a:defRPr>
                      </a:pPr>
                      <a:r>
                        <a:t>Edge data D</a:t>
                      </a:r>
                    </a:p>
                  </a:txBody>
                  <a:tcPr marT="38100" marB="38100" marL="76200" marR="76200">
                    <a:solidFill>
                      <a:srgbClr val="FFFFFF"/>
                    </a:solidFill>
                  </a:tcPr>
                </a:tc>
                <a:tc>
                  <a:txBody>
                    <a:bodyPr wrap="square"/>
                    <a:lstStyle/>
                    <a:p>
                      <a:pPr>
                        <a:defRPr sz="1200" b="0">
                          <a:solidFill>
                            <a:srgbClr val="232B33"/>
                          </a:solidFill>
                        </a:defRPr>
                      </a:pPr>
                      <a:r>
                        <a:t>uniform [5, 50]</a:t>
                      </a:r>
                    </a:p>
                  </a:txBody>
                  <a:tcPr marT="38100" marB="38100" marL="76200" marR="76200">
                    <a:solidFill>
                      <a:srgbClr val="FFFFFF"/>
                    </a:solidFill>
                  </a:tcPr>
                </a:tc>
              </a:tr>
              <a:tr h="502920">
                <a:tc>
                  <a:txBody>
                    <a:bodyPr wrap="square"/>
                    <a:lstStyle/>
                    <a:p>
                      <a:pPr>
                        <a:defRPr sz="1200" b="0">
                          <a:solidFill>
                            <a:srgbClr val="232B33"/>
                          </a:solidFill>
                        </a:defRPr>
                      </a:pPr>
                      <a:r>
                        <a:t>Link bandwidth B</a:t>
                      </a:r>
                    </a:p>
                  </a:txBody>
                  <a:tcPr marT="38100" marB="38100" marL="76200" marR="76200">
                    <a:solidFill>
                      <a:srgbClr val="EDF2F7"/>
                    </a:solidFill>
                  </a:tcPr>
                </a:tc>
                <a:tc>
                  <a:txBody>
                    <a:bodyPr wrap="square"/>
                    <a:lstStyle/>
                    <a:p>
                      <a:pPr>
                        <a:defRPr sz="1200" b="0">
                          <a:solidFill>
                            <a:srgbClr val="232B33"/>
                          </a:solidFill>
                        </a:defRPr>
                      </a:pPr>
                      <a:r>
                        <a:t>uniform [10, 100]  (transfer can rival a task)</a:t>
                      </a:r>
                    </a:p>
                  </a:txBody>
                  <a:tcPr marT="38100" marB="38100" marL="76200" marR="76200">
                    <a:solidFill>
                      <a:srgbClr val="EDF2F7"/>
                    </a:solidFill>
                  </a:tcPr>
                </a:tc>
              </a:tr>
              <a:tr h="502920">
                <a:tc>
                  <a:txBody>
                    <a:bodyPr wrap="square"/>
                    <a:lstStyle/>
                    <a:p>
                      <a:pPr>
                        <a:defRPr sz="1200" b="0">
                          <a:solidFill>
                            <a:srgbClr val="232B33"/>
                          </a:solidFill>
                        </a:defRPr>
                      </a:pPr>
                      <a:r>
                        <a:t>Datasets (tasks/nodes)</a:t>
                      </a:r>
                    </a:p>
                  </a:txBody>
                  <a:tcPr marT="38100" marB="38100" marL="76200" marR="76200">
                    <a:solidFill>
                      <a:srgbClr val="FFFFFF"/>
                    </a:solidFill>
                  </a:tcPr>
                </a:tc>
                <a:tc>
                  <a:txBody>
                    <a:bodyPr wrap="square"/>
                    <a:lstStyle/>
                    <a:p>
                      <a:pPr>
                        <a:defRPr sz="1200" b="0">
                          <a:solidFill>
                            <a:srgbClr val="232B33"/>
                          </a:solidFill>
                        </a:defRPr>
                      </a:pPr>
                      <a:r>
                        <a:t>10/3, 100/5, 500/8, 1000/10</a:t>
                      </a:r>
                    </a:p>
                  </a:txBody>
                  <a:tcPr marT="38100" marB="38100" marL="76200" marR="76200">
                    <a:solidFill>
                      <a:srgbClr val="FFFFFF"/>
                    </a:solidFill>
                  </a:tcPr>
                </a:tc>
              </a:tr>
              <a:tr h="502920">
                <a:tc>
                  <a:txBody>
                    <a:bodyPr wrap="square"/>
                    <a:lstStyle/>
                    <a:p>
                      <a:pPr>
                        <a:defRPr sz="1200" b="0">
                          <a:solidFill>
                            <a:srgbClr val="232B33"/>
                          </a:solidFill>
                        </a:defRPr>
                      </a:pPr>
                      <a:r>
                        <a:t>Eligibility</a:t>
                      </a:r>
                    </a:p>
                  </a:txBody>
                  <a:tcPr marT="38100" marB="38100" marL="76200" marR="76200">
                    <a:solidFill>
                      <a:srgbClr val="EDF2F7"/>
                    </a:solidFill>
                  </a:tcPr>
                </a:tc>
                <a:tc>
                  <a:txBody>
                    <a:bodyPr wrap="square"/>
                    <a:lstStyle/>
                    <a:p>
                      <a:pPr>
                        <a:defRPr sz="1200" b="0">
                          <a:solidFill>
                            <a:srgbClr val="232B33"/>
                          </a:solidFill>
                        </a:defRPr>
                      </a:pPr>
                      <a:r>
                        <a:t>~15% of placements infeasible</a:t>
                      </a:r>
                    </a:p>
                  </a:txBody>
                  <a:tcPr marT="38100" marB="38100" marL="76200" marR="76200">
                    <a:solidFill>
                      <a:srgbClr val="EDF2F7"/>
                    </a:solidFill>
                  </a:tcPr>
                </a:tc>
              </a:tr>
              <a:tr h="502920">
                <a:tc>
                  <a:txBody>
                    <a:bodyPr wrap="square"/>
                    <a:lstStyle/>
                    <a:p>
                      <a:pPr>
                        <a:defRPr sz="1200" b="0">
                          <a:solidFill>
                            <a:srgbClr val="232B33"/>
                          </a:solidFill>
                        </a:defRPr>
                      </a:pPr>
                      <a:r>
                        <a:t>Sweeps</a:t>
                      </a:r>
                    </a:p>
                  </a:txBody>
                  <a:tcPr marT="38100" marB="38100" marL="76200" marR="76200">
                    <a:solidFill>
                      <a:srgbClr val="FFFFFF"/>
                    </a:solidFill>
                  </a:tcPr>
                </a:tc>
                <a:tc>
                  <a:txBody>
                    <a:bodyPr wrap="square"/>
                    <a:lstStyle/>
                    <a:p>
                      <a:pPr>
                        <a:defRPr sz="1200" b="0">
                          <a:solidFill>
                            <a:srgbClr val="232B33"/>
                          </a:solidFill>
                        </a:defRPr>
                      </a:pPr>
                      <a:r>
                        <a:t>slack 1.0-2.0 | nodes 2-10 | tasks 10-1000 | failure 0-0.5 | bandwidth 1.0-0.05</a:t>
                      </a:r>
                    </a:p>
                  </a:txBody>
                  <a:tcPr marT="38100" marB="38100" marL="76200" marR="76200">
                    <a:solidFill>
                      <a:srgbClr val="FFFFFF"/>
                    </a:solidFill>
                  </a:tcPr>
                </a:tc>
              </a:tr>
              <a:tr h="502920">
                <a:tc>
                  <a:txBody>
                    <a:bodyPr wrap="square"/>
                    <a:lstStyle/>
                    <a:p>
                      <a:pPr>
                        <a:defRPr sz="1200" b="0">
                          <a:solidFill>
                            <a:srgbClr val="232B33"/>
                          </a:solidFill>
                        </a:defRPr>
                      </a:pPr>
                      <a:r>
                        <a:t>Metric</a:t>
                      </a:r>
                    </a:p>
                  </a:txBody>
                  <a:tcPr marT="38100" marB="38100" marL="76200" marR="76200">
                    <a:solidFill>
                      <a:srgbClr val="EDF2F7"/>
                    </a:solidFill>
                  </a:tcPr>
                </a:tc>
                <a:tc>
                  <a:txBody>
                    <a:bodyPr wrap="square"/>
                    <a:lstStyle/>
                    <a:p>
                      <a:pPr>
                        <a:defRPr sz="1200" b="0">
                          <a:solidFill>
                            <a:srgbClr val="232B33"/>
                          </a:solidFill>
                        </a:defRPr>
                      </a:pPr>
                      <a:r>
                        <a:t>mean accuracy vs max-accuracy bound; feasibility; wall time</a:t>
                      </a:r>
                    </a:p>
                  </a:txBody>
                  <a:tcPr marT="38100" marB="38100" marL="76200" marR="76200">
                    <a:solidFill>
                      <a:srgbClr val="EDF2F7"/>
                    </a:solidFill>
                  </a:tcPr>
                </a:tc>
              </a:tr>
              <a:tr h="502920">
                <a:tc>
                  <a:txBody>
                    <a:bodyPr wrap="square"/>
                    <a:lstStyle/>
                    <a:p>
                      <a:pPr>
                        <a:defRPr sz="1200" b="0">
                          <a:solidFill>
                            <a:srgbClr val="232B33"/>
                          </a:solidFill>
                        </a:defRPr>
                      </a:pPr>
                      <a:r>
                        <a:t>Replication</a:t>
                      </a:r>
                    </a:p>
                  </a:txBody>
                  <a:tcPr marT="38100" marB="38100" marL="76200" marR="76200">
                    <a:solidFill>
                      <a:srgbClr val="FFFFFF"/>
                    </a:solidFill>
                  </a:tcPr>
                </a:tc>
                <a:tc>
                  <a:txBody>
                    <a:bodyPr wrap="square"/>
                    <a:lstStyle/>
                    <a:p>
                      <a:pPr>
                        <a:defRPr sz="1200" b="0">
                          <a:solidFill>
                            <a:srgbClr val="232B33"/>
                          </a:solidFill>
                        </a:defRPr>
                      </a:pPr>
                      <a:r>
                        <a:t>5 fresh instances per point; means reported</a:t>
                      </a:r>
                    </a:p>
                  </a:txBody>
                  <a:tcPr marT="38100" marB="38100" marL="76200" marR="76200">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Q1 — Deadline slack: the scheduler matters exactly when it hurts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23</a:t>
            </a:r>
          </a:p>
        </p:txBody>
      </p:sp>
      <p:pic>
        <p:nvPicPr>
          <p:cNvPr id="7" name="Picture 6" descr="perf_slack_accuracy.png"/>
          <p:cNvPicPr>
            <a:picLocks noChangeAspect="1"/>
          </p:cNvPicPr>
          <p:nvPr/>
        </p:nvPicPr>
        <p:blipFill>
          <a:blip r:embed="rId3"/>
          <a:stretch>
            <a:fillRect/>
          </a:stretch>
        </p:blipFill>
        <p:spPr>
          <a:xfrm>
            <a:off x="640080" y="1097280"/>
            <a:ext cx="6126480" cy="4509185"/>
          </a:xfrm>
          <a:prstGeom prst="rect">
            <a:avLst/>
          </a:prstGeom>
        </p:spPr>
      </p:pic>
      <p:sp>
        <p:nvSpPr>
          <p:cNvPr id="8" name="TextBox 7"/>
          <p:cNvSpPr txBox="1"/>
          <p:nvPr/>
        </p:nvSpPr>
        <p:spPr>
          <a:xfrm>
            <a:off x="7040880" y="1280160"/>
            <a:ext cx="4663440" cy="5120640"/>
          </a:xfrm>
          <a:prstGeom prst="rect">
            <a:avLst/>
          </a:prstGeom>
          <a:noFill/>
        </p:spPr>
        <p:txBody>
          <a:bodyPr wrap="square">
            <a:spAutoFit/>
          </a:bodyPr>
          <a:lstStyle/>
          <a:p>
            <a:pPr>
              <a:spcAft>
                <a:spcPts val="700"/>
              </a:spcAft>
              <a:defRPr sz="1500">
                <a:solidFill>
                  <a:srgbClr val="232B33"/>
                </a:solidFill>
              </a:defRPr>
            </a:pPr>
            <a:r>
              <a:t>alpha = 1.0: MILP 1.38 vs bound 1.43; rounding 1.25, greedy 1.23, GA 1.20</a:t>
            </a:r>
          </a:p>
          <a:p>
            <a:pPr>
              <a:spcAft>
                <a:spcPts val="700"/>
              </a:spcAft>
              <a:defRPr sz="1500">
                <a:solidFill>
                  <a:srgbClr val="232B33"/>
                </a:solidFill>
              </a:defRPr>
            </a:pPr>
            <a:r>
              <a:t>alpha &gt;= 1.2: greedy reaches the bound; MILP joins by 1.5</a:t>
            </a:r>
          </a:p>
          <a:p>
            <a:pPr>
              <a:spcAft>
                <a:spcPts val="700"/>
              </a:spcAft>
              <a:defRPr sz="1500">
                <a:solidFill>
                  <a:srgbClr val="232B33"/>
                </a:solidFill>
              </a:defRPr>
            </a:pPr>
            <a:r>
              <a:t>Rounding and GA trail 2.5-8% even at alpha = 2.0 — a fixed search budget cannot fully recover</a:t>
            </a:r>
          </a:p>
        </p:txBody>
      </p:sp>
      <p:sp>
        <p:nvSpPr>
          <p:cNvPr id="9" name="Rectangle 8"/>
          <p:cNvSpPr/>
          <p:nvPr/>
        </p:nvSpPr>
        <p:spPr>
          <a:xfrm>
            <a:off x="640080" y="5440680"/>
            <a:ext cx="10881360" cy="86868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5440680"/>
            <a:ext cx="109728" cy="868680"/>
          </a:xfrm>
          <a:prstGeom prst="rect">
            <a:avLst/>
          </a:prstGeom>
          <a:solidFill>
            <a:srgbClr val="E0A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513832"/>
            <a:ext cx="10424160" cy="722375"/>
          </a:xfrm>
          <a:prstGeom prst="rect">
            <a:avLst/>
          </a:prstGeom>
          <a:noFill/>
        </p:spPr>
        <p:txBody>
          <a:bodyPr wrap="square" anchor="ctr">
            <a:spAutoFit/>
          </a:bodyPr>
          <a:lstStyle/>
          <a:p>
            <a:pPr>
              <a:defRPr sz="1400" b="0">
                <a:solidFill>
                  <a:srgbClr val="232B33"/>
                </a:solidFill>
              </a:defRPr>
            </a:pPr>
            <a:r>
              <a:t>Take-away:  method choice matters most exactly where the deadline binds; at loose slack almost anything works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Q2 — Federation size: capacity buys feasibility, not accuracy</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24</a:t>
            </a:r>
          </a:p>
        </p:txBody>
      </p:sp>
      <p:pic>
        <p:nvPicPr>
          <p:cNvPr id="7" name="Picture 6" descr="perf_nodes_accuracy.png"/>
          <p:cNvPicPr>
            <a:picLocks noChangeAspect="1"/>
          </p:cNvPicPr>
          <p:nvPr/>
        </p:nvPicPr>
        <p:blipFill>
          <a:blip r:embed="rId3"/>
          <a:stretch>
            <a:fillRect/>
          </a:stretch>
        </p:blipFill>
        <p:spPr>
          <a:xfrm>
            <a:off x="640080" y="1097280"/>
            <a:ext cx="6126480" cy="4504765"/>
          </a:xfrm>
          <a:prstGeom prst="rect">
            <a:avLst/>
          </a:prstGeom>
        </p:spPr>
      </p:pic>
      <p:sp>
        <p:nvSpPr>
          <p:cNvPr id="8" name="TextBox 7"/>
          <p:cNvSpPr txBox="1"/>
          <p:nvPr/>
        </p:nvSpPr>
        <p:spPr>
          <a:xfrm>
            <a:off x="7040880" y="1280160"/>
            <a:ext cx="4663440" cy="5120640"/>
          </a:xfrm>
          <a:prstGeom prst="rect">
            <a:avLst/>
          </a:prstGeom>
          <a:noFill/>
        </p:spPr>
        <p:txBody>
          <a:bodyPr wrap="square">
            <a:spAutoFit/>
          </a:bodyPr>
          <a:lstStyle/>
          <a:p>
            <a:pPr>
              <a:spcAft>
                <a:spcPts val="700"/>
              </a:spcAft>
              <a:defRPr sz="1500">
                <a:solidFill>
                  <a:srgbClr val="232B33"/>
                </a:solidFill>
              </a:defRPr>
            </a:pPr>
            <a:r>
              <a:t>MILP and greedy match the bound at every N</a:t>
            </a:r>
          </a:p>
          <a:p>
            <a:pPr>
              <a:spcAft>
                <a:spcPts val="700"/>
              </a:spcAft>
              <a:defRPr sz="1500">
                <a:solidFill>
                  <a:srgbClr val="232B33"/>
                </a:solidFill>
              </a:defRPr>
            </a:pPr>
            <a:r>
              <a:t>GA ~1.5% below bound at N=2 -&gt; ~8% at N=10; rounding similar</a:t>
            </a:r>
          </a:p>
          <a:p>
            <a:pPr>
              <a:spcAft>
                <a:spcPts val="700"/>
              </a:spcAft>
              <a:defRPr sz="1500">
                <a:solidFill>
                  <a:srgbClr val="232B33"/>
                </a:solidFill>
              </a:defRPr>
            </a:pPr>
            <a:r>
              <a:t>Placement space grows with N; the search budget does not</a:t>
            </a:r>
          </a:p>
        </p:txBody>
      </p:sp>
      <p:sp>
        <p:nvSpPr>
          <p:cNvPr id="9" name="Rectangle 8"/>
          <p:cNvSpPr/>
          <p:nvPr/>
        </p:nvSpPr>
        <p:spPr>
          <a:xfrm>
            <a:off x="640080" y="5440680"/>
            <a:ext cx="10881360" cy="86868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5440680"/>
            <a:ext cx="109728" cy="868680"/>
          </a:xfrm>
          <a:prstGeom prst="rect">
            <a:avLst/>
          </a:prstGeom>
          <a:solidFill>
            <a:srgbClr val="E0A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513832"/>
            <a:ext cx="10424160" cy="722375"/>
          </a:xfrm>
          <a:prstGeom prst="rect">
            <a:avLst/>
          </a:prstGeom>
          <a:noFill/>
        </p:spPr>
        <p:txBody>
          <a:bodyPr wrap="square" anchor="ctr">
            <a:spAutoFit/>
          </a:bodyPr>
          <a:lstStyle/>
          <a:p>
            <a:pPr>
              <a:defRPr sz="1400" b="0">
                <a:solidFill>
                  <a:srgbClr val="232B33"/>
                </a:solidFill>
              </a:defRPr>
            </a:pPr>
            <a:r>
              <a:t>Take-away:  federation buys feasibility, not accuracy — extra nodes never lift a method above the bound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Q3 — Workflow size: the simple greedy holds up best</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25</a:t>
            </a:r>
          </a:p>
        </p:txBody>
      </p:sp>
      <p:pic>
        <p:nvPicPr>
          <p:cNvPr id="7" name="Picture 6" descr="perf_task_size_accuracy.png"/>
          <p:cNvPicPr>
            <a:picLocks noChangeAspect="1"/>
          </p:cNvPicPr>
          <p:nvPr/>
        </p:nvPicPr>
        <p:blipFill>
          <a:blip r:embed="rId3"/>
          <a:stretch>
            <a:fillRect/>
          </a:stretch>
        </p:blipFill>
        <p:spPr>
          <a:xfrm>
            <a:off x="640080" y="1097280"/>
            <a:ext cx="6126480" cy="4504765"/>
          </a:xfrm>
          <a:prstGeom prst="rect">
            <a:avLst/>
          </a:prstGeom>
        </p:spPr>
      </p:pic>
      <p:sp>
        <p:nvSpPr>
          <p:cNvPr id="8" name="TextBox 7"/>
          <p:cNvSpPr txBox="1"/>
          <p:nvPr/>
        </p:nvSpPr>
        <p:spPr>
          <a:xfrm>
            <a:off x="7040880" y="1280160"/>
            <a:ext cx="4663440" cy="5120640"/>
          </a:xfrm>
          <a:prstGeom prst="rect">
            <a:avLst/>
          </a:prstGeom>
          <a:noFill/>
        </p:spPr>
        <p:txBody>
          <a:bodyPr wrap="square">
            <a:spAutoFit/>
          </a:bodyPr>
          <a:lstStyle/>
          <a:p>
            <a:pPr>
              <a:spcAft>
                <a:spcPts val="700"/>
              </a:spcAft>
              <a:defRPr sz="1500">
                <a:solidFill>
                  <a:srgbClr val="232B33"/>
                </a:solidFill>
              </a:defRPr>
            </a:pPr>
            <a:r>
              <a:t>n = 10: all methods on the bound (1.41)</a:t>
            </a:r>
          </a:p>
          <a:p>
            <a:pPr>
              <a:spcAft>
                <a:spcPts val="700"/>
              </a:spcAft>
              <a:defRPr sz="1500">
                <a:solidFill>
                  <a:srgbClr val="232B33"/>
                </a:solidFill>
              </a:defRPr>
            </a:pPr>
            <a:r>
              <a:t>n = 100: MILP + greedy on bound; GA drifts first (1.26)</a:t>
            </a:r>
          </a:p>
          <a:p>
            <a:pPr>
              <a:spcAft>
                <a:spcPts val="700"/>
              </a:spcAft>
              <a:defRPr sz="1500">
                <a:solidFill>
                  <a:srgbClr val="232B33"/>
                </a:solidFill>
              </a:defRPr>
            </a:pPr>
            <a:r>
              <a:t>n = 1000: MILP past its cap; greedy on bound in 0.15 s; rounding ~93 s/LP; GA 1.10 in ~159 s</a:t>
            </a:r>
          </a:p>
        </p:txBody>
      </p:sp>
      <p:sp>
        <p:nvSpPr>
          <p:cNvPr id="9" name="Rectangle 8"/>
          <p:cNvSpPr/>
          <p:nvPr/>
        </p:nvSpPr>
        <p:spPr>
          <a:xfrm>
            <a:off x="640080" y="5440680"/>
            <a:ext cx="10881360" cy="86868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5440680"/>
            <a:ext cx="109728" cy="868680"/>
          </a:xfrm>
          <a:prstGeom prst="rect">
            <a:avLst/>
          </a:prstGeom>
          <a:solidFill>
            <a:srgbClr val="E0A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513832"/>
            <a:ext cx="10424160" cy="722375"/>
          </a:xfrm>
          <a:prstGeom prst="rect">
            <a:avLst/>
          </a:prstGeom>
          <a:noFill/>
        </p:spPr>
        <p:txBody>
          <a:bodyPr wrap="square" anchor="ctr">
            <a:spAutoFit/>
          </a:bodyPr>
          <a:lstStyle/>
          <a:p>
            <a:pPr>
              <a:defRPr sz="1400" b="0">
                <a:solidFill>
                  <a:srgbClr val="232B33"/>
                </a:solidFill>
              </a:defRPr>
            </a:pPr>
            <a:r>
              <a:t>Take-away:  at 1000 tasks only the greedy is both fast (0.15 s) and bound-level — the only scalable accurate method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Q4 — Failures: scores stay flat; feasibility is the story</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26</a:t>
            </a:r>
          </a:p>
        </p:txBody>
      </p:sp>
      <p:pic>
        <p:nvPicPr>
          <p:cNvPr id="7" name="Picture 6" descr="perf_failure_accuracy.png"/>
          <p:cNvPicPr>
            <a:picLocks noChangeAspect="1"/>
          </p:cNvPicPr>
          <p:nvPr/>
        </p:nvPicPr>
        <p:blipFill>
          <a:blip r:embed="rId3"/>
          <a:stretch>
            <a:fillRect/>
          </a:stretch>
        </p:blipFill>
        <p:spPr>
          <a:xfrm>
            <a:off x="640080" y="1097280"/>
            <a:ext cx="6126480" cy="2357547"/>
          </a:xfrm>
          <a:prstGeom prst="rect">
            <a:avLst/>
          </a:prstGeom>
        </p:spPr>
      </p:pic>
      <p:sp>
        <p:nvSpPr>
          <p:cNvPr id="8" name="TextBox 7"/>
          <p:cNvSpPr txBox="1"/>
          <p:nvPr/>
        </p:nvSpPr>
        <p:spPr>
          <a:xfrm>
            <a:off x="7040880" y="1280160"/>
            <a:ext cx="4663440" cy="5120640"/>
          </a:xfrm>
          <a:prstGeom prst="rect">
            <a:avLst/>
          </a:prstGeom>
          <a:noFill/>
        </p:spPr>
        <p:txBody>
          <a:bodyPr wrap="square">
            <a:spAutoFit/>
          </a:bodyPr>
          <a:lstStyle/>
          <a:p>
            <a:pPr>
              <a:spcAft>
                <a:spcPts val="700"/>
              </a:spcAft>
              <a:defRPr sz="1500">
                <a:solidFill>
                  <a:srgbClr val="232B33"/>
                </a:solidFill>
              </a:defRPr>
            </a:pPr>
            <a:r>
              <a:t>Retry-once: failed task reruns in place; accuracy kept if the retry meets the deadline</a:t>
            </a:r>
          </a:p>
          <a:p>
            <a:pPr>
              <a:spcAft>
                <a:spcPts val="700"/>
              </a:spcAft>
              <a:defRPr sz="1500">
                <a:solidFill>
                  <a:srgbClr val="232B33"/>
                </a:solidFill>
              </a:defRPr>
            </a:pPr>
            <a:r>
              <a:t>Scores flat — retries preserve accuracy</a:t>
            </a:r>
          </a:p>
          <a:p>
            <a:pPr>
              <a:spcAft>
                <a:spcPts val="700"/>
              </a:spcAft>
              <a:defRPr sz="1500">
                <a:solidFill>
                  <a:srgbClr val="232B33"/>
                </a:solidFill>
              </a:defRPr>
            </a:pPr>
            <a:r>
              <a:t>Feasibility at rate 0.5: greedy 100%; MILP/GA ~60%; rounding ~20%</a:t>
            </a:r>
          </a:p>
          <a:p>
            <a:pPr>
              <a:spcAft>
                <a:spcPts val="700"/>
              </a:spcAft>
              <a:defRPr sz="1500">
                <a:solidFill>
                  <a:srgbClr val="232B33"/>
                </a:solidFill>
              </a:defRPr>
            </a:pPr>
            <a:r>
              <a:t>Greedy finishes early (makespan ~30 vs 40-80) — room for retries</a:t>
            </a:r>
          </a:p>
        </p:txBody>
      </p:sp>
      <p:sp>
        <p:nvSpPr>
          <p:cNvPr id="9" name="Rectangle 8"/>
          <p:cNvSpPr/>
          <p:nvPr/>
        </p:nvSpPr>
        <p:spPr>
          <a:xfrm>
            <a:off x="640080" y="5440680"/>
            <a:ext cx="10881360" cy="86868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5440680"/>
            <a:ext cx="109728" cy="868680"/>
          </a:xfrm>
          <a:prstGeom prst="rect">
            <a:avLst/>
          </a:prstGeom>
          <a:solidFill>
            <a:srgbClr val="E0A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513832"/>
            <a:ext cx="10424160" cy="722375"/>
          </a:xfrm>
          <a:prstGeom prst="rect">
            <a:avLst/>
          </a:prstGeom>
          <a:noFill/>
        </p:spPr>
        <p:txBody>
          <a:bodyPr wrap="square" anchor="ctr">
            <a:spAutoFit/>
          </a:bodyPr>
          <a:lstStyle/>
          <a:p>
            <a:pPr>
              <a:defRPr sz="1400" b="0">
                <a:solidFill>
                  <a:srgbClr val="232B33"/>
                </a:solidFill>
              </a:defRPr>
            </a:pPr>
            <a:r>
              <a:t>Take-away:  under failures the differentiator is feasibility, not accuracy — early-finish headroom absorbs retries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Q5 — Bandwidth degradation: what data-awareness is worth</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27</a:t>
            </a:r>
          </a:p>
        </p:txBody>
      </p:sp>
      <p:pic>
        <p:nvPicPr>
          <p:cNvPr id="7" name="Picture 6" descr="perf_bandwidth_accuracy.png"/>
          <p:cNvPicPr>
            <a:picLocks noChangeAspect="1"/>
          </p:cNvPicPr>
          <p:nvPr/>
        </p:nvPicPr>
        <p:blipFill>
          <a:blip r:embed="rId3"/>
          <a:stretch>
            <a:fillRect/>
          </a:stretch>
        </p:blipFill>
        <p:spPr>
          <a:xfrm>
            <a:off x="640080" y="1097280"/>
            <a:ext cx="6126480" cy="2353197"/>
          </a:xfrm>
          <a:prstGeom prst="rect">
            <a:avLst/>
          </a:prstGeom>
        </p:spPr>
      </p:pic>
      <p:sp>
        <p:nvSpPr>
          <p:cNvPr id="8" name="TextBox 7"/>
          <p:cNvSpPr txBox="1"/>
          <p:nvPr/>
        </p:nvSpPr>
        <p:spPr>
          <a:xfrm>
            <a:off x="7040880" y="1280160"/>
            <a:ext cx="4663440" cy="5120640"/>
          </a:xfrm>
          <a:prstGeom prst="rect">
            <a:avLst/>
          </a:prstGeom>
          <a:noFill/>
        </p:spPr>
        <p:txBody>
          <a:bodyPr wrap="square">
            <a:spAutoFit/>
          </a:bodyPr>
          <a:lstStyle/>
          <a:p>
            <a:pPr>
              <a:spcAft>
                <a:spcPts val="700"/>
              </a:spcAft>
              <a:defRPr sz="1500">
                <a:solidFill>
                  <a:srgbClr val="232B33"/>
                </a:solidFill>
              </a:defRPr>
            </a:pPr>
            <a:r>
              <a:t>Blind baseline: bound-level scores at every level — but infeasible (80% at 0.5x, 0% below 0.2x)</a:t>
            </a:r>
          </a:p>
          <a:p>
            <a:pPr>
              <a:spcAft>
                <a:spcPts val="700"/>
              </a:spcAft>
              <a:defRPr sz="1500">
                <a:solidFill>
                  <a:srgbClr val="232B33"/>
                </a:solidFill>
              </a:defRPr>
            </a:pPr>
            <a:r>
              <a:t>MILP: feasible at all levels, ~10% score loss at 0.05x</a:t>
            </a:r>
          </a:p>
          <a:p>
            <a:pPr>
              <a:spcAft>
                <a:spcPts val="700"/>
              </a:spcAft>
              <a:defRPr sz="1500">
                <a:solidFill>
                  <a:srgbClr val="232B33"/>
                </a:solidFill>
              </a:defRPr>
            </a:pPr>
            <a:r>
              <a:t>Greedy: feasible to 0.1x paying accuracy; collapses at 0.05x</a:t>
            </a:r>
          </a:p>
          <a:p>
            <a:pPr>
              <a:spcAft>
                <a:spcPts val="700"/>
              </a:spcAft>
              <a:defRPr sz="1500">
                <a:solidFill>
                  <a:srgbClr val="232B33"/>
                </a:solidFill>
              </a:defRPr>
            </a:pPr>
            <a:r>
              <a:t>GA holds to 0.1x; rounding survives only above 0.5x</a:t>
            </a:r>
          </a:p>
        </p:txBody>
      </p:sp>
      <p:sp>
        <p:nvSpPr>
          <p:cNvPr id="9" name="Rectangle 8"/>
          <p:cNvSpPr/>
          <p:nvPr/>
        </p:nvSpPr>
        <p:spPr>
          <a:xfrm>
            <a:off x="640080" y="5440680"/>
            <a:ext cx="10881360" cy="86868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5440680"/>
            <a:ext cx="109728" cy="868680"/>
          </a:xfrm>
          <a:prstGeom prst="rect">
            <a:avLst/>
          </a:prstGeom>
          <a:solidFill>
            <a:srgbClr val="E0A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513832"/>
            <a:ext cx="10424160" cy="722375"/>
          </a:xfrm>
          <a:prstGeom prst="rect">
            <a:avLst/>
          </a:prstGeom>
          <a:noFill/>
        </p:spPr>
        <p:txBody>
          <a:bodyPr wrap="square" anchor="ctr">
            <a:spAutoFit/>
          </a:bodyPr>
          <a:lstStyle/>
          <a:p>
            <a:pPr>
              <a:defRPr sz="1400" b="0">
                <a:solidFill>
                  <a:srgbClr val="232B33"/>
                </a:solidFill>
              </a:defRPr>
            </a:pPr>
            <a:r>
              <a:t>Take-away:  a scheduler that ignores the links reports a perfect score on a workflow that finishes late — high score + late = a missed alert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Across datasets: the same story</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28</a:t>
            </a:r>
          </a:p>
        </p:txBody>
      </p:sp>
      <p:graphicFrame>
        <p:nvGraphicFramePr>
          <p:cNvPr id="7" name="Table 6"/>
          <p:cNvGraphicFramePr>
            <a:graphicFrameLocks noGrp="1"/>
          </p:cNvGraphicFramePr>
          <p:nvPr/>
        </p:nvGraphicFramePr>
        <p:xfrm>
          <a:off x="822960" y="1280160"/>
          <a:ext cx="10515600" cy="3291840"/>
        </p:xfrm>
        <a:graphic>
          <a:graphicData uri="http://schemas.openxmlformats.org/drawingml/2006/table">
            <a:tbl>
              <a:tblPr firstRow="1" bandRow="1">
                <a:tableStyleId>{5C22544A-7EE6-4342-B048-85BDC9FD1C3A}</a:tableStyleId>
              </a:tblPr>
              <a:tblGrid>
                <a:gridCol w="2743200"/>
                <a:gridCol w="2377440"/>
                <a:gridCol w="1554480"/>
                <a:gridCol w="2011680"/>
                <a:gridCol w="1828800"/>
              </a:tblGrid>
              <a:tr h="548640">
                <a:tc>
                  <a:txBody>
                    <a:bodyPr wrap="square"/>
                    <a:lstStyle/>
                    <a:p>
                      <a:pPr>
                        <a:defRPr sz="1300" b="1">
                          <a:solidFill>
                            <a:srgbClr val="FFFFFF"/>
                          </a:solidFill>
                        </a:defRPr>
                      </a:pPr>
                      <a:r>
                        <a:t>Dataset</a:t>
                      </a:r>
                    </a:p>
                  </a:txBody>
                  <a:tcPr marT="38100" marB="38100" marL="76200" marR="76200">
                    <a:solidFill>
                      <a:srgbClr val="0B2A4A"/>
                    </a:solidFill>
                  </a:tcPr>
                </a:tc>
                <a:tc>
                  <a:txBody>
                    <a:bodyPr wrap="square"/>
                    <a:lstStyle/>
                    <a:p>
                      <a:pPr>
                        <a:defRPr sz="1300" b="1">
                          <a:solidFill>
                            <a:srgbClr val="FFFFFF"/>
                          </a:solidFill>
                        </a:defRPr>
                      </a:pPr>
                      <a:r>
                        <a:t>Method</a:t>
                      </a:r>
                    </a:p>
                  </a:txBody>
                  <a:tcPr marT="38100" marB="38100" marL="76200" marR="76200">
                    <a:solidFill>
                      <a:srgbClr val="0B2A4A"/>
                    </a:solidFill>
                  </a:tcPr>
                </a:tc>
                <a:tc>
                  <a:txBody>
                    <a:bodyPr wrap="square"/>
                    <a:lstStyle/>
                    <a:p>
                      <a:pPr>
                        <a:defRPr sz="1300" b="1">
                          <a:solidFill>
                            <a:srgbClr val="FFFFFF"/>
                          </a:solidFill>
                        </a:defRPr>
                      </a:pPr>
                      <a:r>
                        <a:t>Score</a:t>
                      </a:r>
                    </a:p>
                  </a:txBody>
                  <a:tcPr marT="38100" marB="38100" marL="76200" marR="76200">
                    <a:solidFill>
                      <a:srgbClr val="0B2A4A"/>
                    </a:solidFill>
                  </a:tcPr>
                </a:tc>
                <a:tc>
                  <a:txBody>
                    <a:bodyPr wrap="square"/>
                    <a:lstStyle/>
                    <a:p>
                      <a:pPr>
                        <a:defRPr sz="1300" b="1">
                          <a:solidFill>
                            <a:srgbClr val="FFFFFF"/>
                          </a:solidFill>
                        </a:defRPr>
                      </a:pPr>
                      <a:r>
                        <a:t>Makespan</a:t>
                      </a:r>
                    </a:p>
                  </a:txBody>
                  <a:tcPr marT="38100" marB="38100" marL="76200" marR="76200">
                    <a:solidFill>
                      <a:srgbClr val="0B2A4A"/>
                    </a:solidFill>
                  </a:tcPr>
                </a:tc>
                <a:tc>
                  <a:txBody>
                    <a:bodyPr wrap="square"/>
                    <a:lstStyle/>
                    <a:p>
                      <a:pPr>
                        <a:defRPr sz="1300" b="1">
                          <a:solidFill>
                            <a:srgbClr val="FFFFFF"/>
                          </a:solidFill>
                        </a:defRPr>
                      </a:pPr>
                      <a:r>
                        <a:t>Runtime</a:t>
                      </a:r>
                    </a:p>
                  </a:txBody>
                  <a:tcPr marT="38100" marB="38100" marL="76200" marR="76200">
                    <a:solidFill>
                      <a:srgbClr val="0B2A4A"/>
                    </a:solidFill>
                  </a:tcPr>
                </a:tc>
              </a:tr>
              <a:tr h="548640">
                <a:tc>
                  <a:txBody>
                    <a:bodyPr wrap="square"/>
                    <a:lstStyle/>
                    <a:p>
                      <a:pPr>
                        <a:defRPr sz="1300" b="0">
                          <a:solidFill>
                            <a:srgbClr val="232B33"/>
                          </a:solidFill>
                        </a:defRPr>
                      </a:pPr>
                      <a:r>
                        <a:t>small (10/3)</a:t>
                      </a:r>
                    </a:p>
                  </a:txBody>
                  <a:tcPr marT="38100" marB="38100" marL="76200" marR="76200">
                    <a:solidFill>
                      <a:srgbClr val="FFFFFF"/>
                    </a:solidFill>
                  </a:tcPr>
                </a:tc>
                <a:tc>
                  <a:txBody>
                    <a:bodyPr wrap="square"/>
                    <a:lstStyle/>
                    <a:p>
                      <a:pPr>
                        <a:defRPr sz="1300" b="0">
                          <a:solidFill>
                            <a:srgbClr val="232B33"/>
                          </a:solidFill>
                        </a:defRPr>
                      </a:pPr>
                      <a:r>
                        <a:t>all four</a:t>
                      </a:r>
                    </a:p>
                  </a:txBody>
                  <a:tcPr marT="38100" marB="38100" marL="76200" marR="76200">
                    <a:solidFill>
                      <a:srgbClr val="FFFFFF"/>
                    </a:solidFill>
                  </a:tcPr>
                </a:tc>
                <a:tc>
                  <a:txBody>
                    <a:bodyPr wrap="square"/>
                    <a:lstStyle/>
                    <a:p>
                      <a:pPr>
                        <a:defRPr sz="1300" b="0">
                          <a:solidFill>
                            <a:srgbClr val="232B33"/>
                          </a:solidFill>
                        </a:defRPr>
                      </a:pPr>
                      <a:r>
                        <a:t>1.64</a:t>
                      </a:r>
                    </a:p>
                  </a:txBody>
                  <a:tcPr marT="38100" marB="38100" marL="76200" marR="76200">
                    <a:solidFill>
                      <a:srgbClr val="FFFFFF"/>
                    </a:solidFill>
                  </a:tcPr>
                </a:tc>
                <a:tc>
                  <a:txBody>
                    <a:bodyPr wrap="square"/>
                    <a:lstStyle/>
                    <a:p>
                      <a:pPr>
                        <a:defRPr sz="1300" b="0">
                          <a:solidFill>
                            <a:srgbClr val="232B33"/>
                          </a:solidFill>
                        </a:defRPr>
                      </a:pPr>
                      <a:r>
                        <a:t>16.8-18.9</a:t>
                      </a:r>
                    </a:p>
                  </a:txBody>
                  <a:tcPr marT="38100" marB="38100" marL="76200" marR="76200">
                    <a:solidFill>
                      <a:srgbClr val="FFFFFF"/>
                    </a:solidFill>
                  </a:tcPr>
                </a:tc>
                <a:tc>
                  <a:txBody>
                    <a:bodyPr wrap="square"/>
                    <a:lstStyle/>
                    <a:p>
                      <a:pPr>
                        <a:defRPr sz="1300" b="0">
                          <a:solidFill>
                            <a:srgbClr val="232B33"/>
                          </a:solidFill>
                        </a:defRPr>
                      </a:pPr>
                      <a:r>
                        <a:t>0.0001-0.27 s</a:t>
                      </a:r>
                    </a:p>
                  </a:txBody>
                  <a:tcPr marT="38100" marB="38100" marL="76200" marR="76200">
                    <a:solidFill>
                      <a:srgbClr val="FFFFFF"/>
                    </a:solidFill>
                  </a:tcPr>
                </a:tc>
              </a:tr>
              <a:tr h="548640">
                <a:tc>
                  <a:txBody>
                    <a:bodyPr wrap="square"/>
                    <a:lstStyle/>
                    <a:p>
                      <a:pPr>
                        <a:defRPr sz="1300" b="0">
                          <a:solidFill>
                            <a:srgbClr val="232B33"/>
                          </a:solidFill>
                        </a:defRPr>
                      </a:pPr>
                      <a:r>
                        <a:t>medium (100/5)</a:t>
                      </a:r>
                    </a:p>
                  </a:txBody>
                  <a:tcPr marT="38100" marB="38100" marL="76200" marR="76200">
                    <a:solidFill>
                      <a:srgbClr val="EDF2F7"/>
                    </a:solidFill>
                  </a:tcPr>
                </a:tc>
                <a:tc>
                  <a:txBody>
                    <a:bodyPr wrap="square"/>
                    <a:lstStyle/>
                    <a:p>
                      <a:pPr>
                        <a:defRPr sz="1300" b="0">
                          <a:solidFill>
                            <a:srgbClr val="232B33"/>
                          </a:solidFill>
                        </a:defRPr>
                      </a:pPr>
                      <a:r>
                        <a:t>MILP / greedy</a:t>
                      </a:r>
                    </a:p>
                  </a:txBody>
                  <a:tcPr marT="38100" marB="38100" marL="76200" marR="76200">
                    <a:solidFill>
                      <a:srgbClr val="EDF2F7"/>
                    </a:solidFill>
                  </a:tcPr>
                </a:tc>
                <a:tc>
                  <a:txBody>
                    <a:bodyPr wrap="square"/>
                    <a:lstStyle/>
                    <a:p>
                      <a:pPr>
                        <a:defRPr sz="1300" b="0">
                          <a:solidFill>
                            <a:srgbClr val="232B33"/>
                          </a:solidFill>
                        </a:defRPr>
                      </a:pPr>
                      <a:r>
                        <a:t>1.44</a:t>
                      </a:r>
                    </a:p>
                  </a:txBody>
                  <a:tcPr marT="38100" marB="38100" marL="76200" marR="76200">
                    <a:solidFill>
                      <a:srgbClr val="EDF2F7"/>
                    </a:solidFill>
                  </a:tcPr>
                </a:tc>
                <a:tc>
                  <a:txBody>
                    <a:bodyPr wrap="square"/>
                    <a:lstStyle/>
                    <a:p>
                      <a:pPr>
                        <a:defRPr sz="1300" b="0">
                          <a:solidFill>
                            <a:srgbClr val="232B33"/>
                          </a:solidFill>
                        </a:defRPr>
                      </a:pPr>
                      <a:r>
                        <a:t>61 / 43</a:t>
                      </a:r>
                    </a:p>
                  </a:txBody>
                  <a:tcPr marT="38100" marB="38100" marL="76200" marR="76200">
                    <a:solidFill>
                      <a:srgbClr val="EDF2F7"/>
                    </a:solidFill>
                  </a:tcPr>
                </a:tc>
                <a:tc>
                  <a:txBody>
                    <a:bodyPr wrap="square"/>
                    <a:lstStyle/>
                    <a:p>
                      <a:pPr>
                        <a:defRPr sz="1300" b="0">
                          <a:solidFill>
                            <a:srgbClr val="232B33"/>
                          </a:solidFill>
                        </a:defRPr>
                      </a:pPr>
                      <a:r>
                        <a:t>1.37 s / 0.003 s</a:t>
                      </a:r>
                    </a:p>
                  </a:txBody>
                  <a:tcPr marT="38100" marB="38100" marL="76200" marR="76200">
                    <a:solidFill>
                      <a:srgbClr val="EDF2F7"/>
                    </a:solidFill>
                  </a:tcPr>
                </a:tc>
              </a:tr>
              <a:tr h="548640">
                <a:tc>
                  <a:txBody>
                    <a:bodyPr wrap="square"/>
                    <a:lstStyle/>
                    <a:p>
                      <a:pPr>
                        <a:defRPr sz="1300" b="0">
                          <a:solidFill>
                            <a:srgbClr val="232B33"/>
                          </a:solidFill>
                        </a:defRPr>
                      </a:pPr>
                      <a:r>
                        <a:t>medium (100/5)</a:t>
                      </a:r>
                    </a:p>
                  </a:txBody>
                  <a:tcPr marT="38100" marB="38100" marL="76200" marR="76200">
                    <a:solidFill>
                      <a:srgbClr val="FFFFFF"/>
                    </a:solidFill>
                  </a:tcPr>
                </a:tc>
                <a:tc>
                  <a:txBody>
                    <a:bodyPr wrap="square"/>
                    <a:lstStyle/>
                    <a:p>
                      <a:pPr>
                        <a:defRPr sz="1300" b="0">
                          <a:solidFill>
                            <a:srgbClr val="232B33"/>
                          </a:solidFill>
                        </a:defRPr>
                      </a:pPr>
                      <a:r>
                        <a:t>rounding / GA</a:t>
                      </a:r>
                    </a:p>
                  </a:txBody>
                  <a:tcPr marT="38100" marB="38100" marL="76200" marR="76200">
                    <a:solidFill>
                      <a:srgbClr val="FFFFFF"/>
                    </a:solidFill>
                  </a:tcPr>
                </a:tc>
                <a:tc>
                  <a:txBody>
                    <a:bodyPr wrap="square"/>
                    <a:lstStyle/>
                    <a:p>
                      <a:pPr>
                        <a:defRPr sz="1300" b="0">
                          <a:solidFill>
                            <a:srgbClr val="232B33"/>
                          </a:solidFill>
                        </a:defRPr>
                      </a:pPr>
                      <a:r>
                        <a:t>1.32 / 1.27</a:t>
                      </a:r>
                    </a:p>
                  </a:txBody>
                  <a:tcPr marT="38100" marB="38100" marL="76200" marR="76200">
                    <a:solidFill>
                      <a:srgbClr val="FFFFFF"/>
                    </a:solidFill>
                  </a:tcPr>
                </a:tc>
                <a:tc>
                  <a:txBody>
                    <a:bodyPr wrap="square"/>
                    <a:lstStyle/>
                    <a:p>
                      <a:pPr>
                        <a:defRPr sz="1300" b="0">
                          <a:solidFill>
                            <a:srgbClr val="232B33"/>
                          </a:solidFill>
                        </a:defRPr>
                      </a:pPr>
                      <a:r>
                        <a:t>62 / 61</a:t>
                      </a:r>
                    </a:p>
                  </a:txBody>
                  <a:tcPr marT="38100" marB="38100" marL="76200" marR="76200">
                    <a:solidFill>
                      <a:srgbClr val="FFFFFF"/>
                    </a:solidFill>
                  </a:tcPr>
                </a:tc>
                <a:tc>
                  <a:txBody>
                    <a:bodyPr wrap="square"/>
                    <a:lstStyle/>
                    <a:p>
                      <a:pPr>
                        <a:defRPr sz="1300" b="0">
                          <a:solidFill>
                            <a:srgbClr val="232B33"/>
                          </a:solidFill>
                        </a:defRPr>
                      </a:pPr>
                      <a:r>
                        <a:t>24.8 s / 5.2 s</a:t>
                      </a:r>
                    </a:p>
                  </a:txBody>
                  <a:tcPr marT="38100" marB="38100" marL="76200" marR="76200">
                    <a:solidFill>
                      <a:srgbClr val="FFFFFF"/>
                    </a:solidFill>
                  </a:tcPr>
                </a:tc>
              </a:tr>
              <a:tr h="548640">
                <a:tc>
                  <a:txBody>
                    <a:bodyPr wrap="square"/>
                    <a:lstStyle/>
                    <a:p>
                      <a:pPr>
                        <a:defRPr sz="1300" b="0">
                          <a:solidFill>
                            <a:srgbClr val="232B33"/>
                          </a:solidFill>
                        </a:defRPr>
                      </a:pPr>
                      <a:r>
                        <a:t>large (500/8)</a:t>
                      </a:r>
                    </a:p>
                  </a:txBody>
                  <a:tcPr marT="38100" marB="38100" marL="76200" marR="76200">
                    <a:solidFill>
                      <a:srgbClr val="EDF2F7"/>
                    </a:solidFill>
                  </a:tcPr>
                </a:tc>
                <a:tc>
                  <a:txBody>
                    <a:bodyPr wrap="square"/>
                    <a:lstStyle/>
                    <a:p>
                      <a:pPr>
                        <a:defRPr sz="1300" b="0">
                          <a:solidFill>
                            <a:srgbClr val="232B33"/>
                          </a:solidFill>
                        </a:defRPr>
                      </a:pPr>
                      <a:r>
                        <a:t>greedy / GA</a:t>
                      </a:r>
                    </a:p>
                  </a:txBody>
                  <a:tcPr marT="38100" marB="38100" marL="76200" marR="76200">
                    <a:solidFill>
                      <a:srgbClr val="EDF2F7"/>
                    </a:solidFill>
                  </a:tcPr>
                </a:tc>
                <a:tc>
                  <a:txBody>
                    <a:bodyPr wrap="square"/>
                    <a:lstStyle/>
                    <a:p>
                      <a:pPr>
                        <a:defRPr sz="1300" b="0">
                          <a:solidFill>
                            <a:srgbClr val="232B33"/>
                          </a:solidFill>
                        </a:defRPr>
                      </a:pPr>
                      <a:r>
                        <a:t>1.42 / 1.17</a:t>
                      </a:r>
                    </a:p>
                  </a:txBody>
                  <a:tcPr marT="38100" marB="38100" marL="76200" marR="76200">
                    <a:solidFill>
                      <a:srgbClr val="EDF2F7"/>
                    </a:solidFill>
                  </a:tcPr>
                </a:tc>
                <a:tc>
                  <a:txBody>
                    <a:bodyPr wrap="square"/>
                    <a:lstStyle/>
                    <a:p>
                      <a:pPr>
                        <a:defRPr sz="1300" b="0">
                          <a:solidFill>
                            <a:srgbClr val="232B33"/>
                          </a:solidFill>
                        </a:defRPr>
                      </a:pPr>
                      <a:r>
                        <a:t>50 / 71</a:t>
                      </a:r>
                    </a:p>
                  </a:txBody>
                  <a:tcPr marT="38100" marB="38100" marL="76200" marR="76200">
                    <a:solidFill>
                      <a:srgbClr val="EDF2F7"/>
                    </a:solidFill>
                  </a:tcPr>
                </a:tc>
                <a:tc>
                  <a:txBody>
                    <a:bodyPr wrap="square"/>
                    <a:lstStyle/>
                    <a:p>
                      <a:pPr>
                        <a:defRPr sz="1300" b="0">
                          <a:solidFill>
                            <a:srgbClr val="232B33"/>
                          </a:solidFill>
                        </a:defRPr>
                      </a:pPr>
                      <a:r>
                        <a:t>0.04 s / 21.4 s</a:t>
                      </a:r>
                    </a:p>
                  </a:txBody>
                  <a:tcPr marT="38100" marB="38100" marL="76200" marR="76200">
                    <a:solidFill>
                      <a:srgbClr val="EDF2F7"/>
                    </a:solidFill>
                  </a:tcPr>
                </a:tc>
              </a:tr>
              <a:tr h="548640">
                <a:tc>
                  <a:txBody>
                    <a:bodyPr wrap="square"/>
                    <a:lstStyle/>
                    <a:p>
                      <a:pPr>
                        <a:defRPr sz="1300" b="0">
                          <a:solidFill>
                            <a:srgbClr val="232B33"/>
                          </a:solidFill>
                        </a:defRPr>
                      </a:pPr>
                      <a:r>
                        <a:t>xlarge (1000/10)</a:t>
                      </a:r>
                    </a:p>
                  </a:txBody>
                  <a:tcPr marT="38100" marB="38100" marL="76200" marR="76200">
                    <a:solidFill>
                      <a:srgbClr val="FFFFFF"/>
                    </a:solidFill>
                  </a:tcPr>
                </a:tc>
                <a:tc>
                  <a:txBody>
                    <a:bodyPr wrap="square"/>
                    <a:lstStyle/>
                    <a:p>
                      <a:pPr>
                        <a:defRPr sz="1300" b="0">
                          <a:solidFill>
                            <a:srgbClr val="232B33"/>
                          </a:solidFill>
                        </a:defRPr>
                      </a:pPr>
                      <a:r>
                        <a:t>greedy / GA</a:t>
                      </a:r>
                    </a:p>
                  </a:txBody>
                  <a:tcPr marT="38100" marB="38100" marL="76200" marR="76200">
                    <a:solidFill>
                      <a:srgbClr val="FFFFFF"/>
                    </a:solidFill>
                  </a:tcPr>
                </a:tc>
                <a:tc>
                  <a:txBody>
                    <a:bodyPr wrap="square"/>
                    <a:lstStyle/>
                    <a:p>
                      <a:pPr>
                        <a:defRPr sz="1300" b="0">
                          <a:solidFill>
                            <a:srgbClr val="232B33"/>
                          </a:solidFill>
                        </a:defRPr>
                      </a:pPr>
                      <a:r>
                        <a:t>1.41 / 1.13</a:t>
                      </a:r>
                    </a:p>
                  </a:txBody>
                  <a:tcPr marT="38100" marB="38100" marL="76200" marR="76200">
                    <a:solidFill>
                      <a:srgbClr val="FFFFFF"/>
                    </a:solidFill>
                  </a:tcPr>
                </a:tc>
                <a:tc>
                  <a:txBody>
                    <a:bodyPr wrap="square"/>
                    <a:lstStyle/>
                    <a:p>
                      <a:pPr>
                        <a:defRPr sz="1300" b="0">
                          <a:solidFill>
                            <a:srgbClr val="232B33"/>
                          </a:solidFill>
                        </a:defRPr>
                      </a:pPr>
                      <a:r>
                        <a:t>83 / 120</a:t>
                      </a:r>
                    </a:p>
                  </a:txBody>
                  <a:tcPr marT="38100" marB="38100" marL="76200" marR="76200">
                    <a:solidFill>
                      <a:srgbClr val="FFFFFF"/>
                    </a:solidFill>
                  </a:tcPr>
                </a:tc>
                <a:tc>
                  <a:txBody>
                    <a:bodyPr wrap="square"/>
                    <a:lstStyle/>
                    <a:p>
                      <a:pPr>
                        <a:defRPr sz="1300" b="0">
                          <a:solidFill>
                            <a:srgbClr val="232B33"/>
                          </a:solidFill>
                        </a:defRPr>
                      </a:pPr>
                      <a:r>
                        <a:t>0.14 s / 73.0 s</a:t>
                      </a:r>
                    </a:p>
                  </a:txBody>
                  <a:tcPr marT="38100" marB="38100" marL="76200" marR="76200">
                    <a:solidFill>
                      <a:srgbClr val="FFFFFF"/>
                    </a:solidFill>
                  </a:tcPr>
                </a:tc>
              </a:tr>
            </a:tbl>
          </a:graphicData>
        </a:graphic>
      </p:graphicFrame>
      <p:sp>
        <p:nvSpPr>
          <p:cNvPr id="8" name="Rectangle 7"/>
          <p:cNvSpPr/>
          <p:nvPr/>
        </p:nvSpPr>
        <p:spPr>
          <a:xfrm>
            <a:off x="640080" y="5440680"/>
            <a:ext cx="10881360" cy="86868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5440680"/>
            <a:ext cx="109728" cy="868680"/>
          </a:xfrm>
          <a:prstGeom prst="rect">
            <a:avLst/>
          </a:prstGeom>
          <a:solidFill>
            <a:srgbClr val="E0A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513832"/>
            <a:ext cx="10424160" cy="722375"/>
          </a:xfrm>
          <a:prstGeom prst="rect">
            <a:avLst/>
          </a:prstGeom>
          <a:noFill/>
        </p:spPr>
        <p:txBody>
          <a:bodyPr wrap="square" anchor="ctr">
            <a:spAutoFit/>
          </a:bodyPr>
          <a:lstStyle/>
          <a:p>
            <a:pPr>
              <a:defRPr sz="1400" b="0">
                <a:solidFill>
                  <a:srgbClr val="232B33"/>
                </a:solidFill>
              </a:defRPr>
            </a:pPr>
            <a:r>
              <a:t>Take-away:  accuracy is not free in wall time — and neither is the makespan; the gap widens with scale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Structural scale: generation to 10^6 vertices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29</a:t>
            </a:r>
          </a:p>
        </p:txBody>
      </p:sp>
      <p:sp>
        <p:nvSpPr>
          <p:cNvPr id="7" name="TextBox 6"/>
          <p:cNvSpPr txBox="1"/>
          <p:nvPr/>
        </p:nvSpPr>
        <p:spPr>
          <a:xfrm>
            <a:off x="594360" y="1143000"/>
            <a:ext cx="6309360" cy="5120640"/>
          </a:xfrm>
          <a:prstGeom prst="rect">
            <a:avLst/>
          </a:prstGeom>
          <a:noFill/>
        </p:spPr>
        <p:txBody>
          <a:bodyPr wrap="square">
            <a:spAutoFit/>
          </a:bodyPr>
          <a:lstStyle/>
          <a:p>
            <a:pPr>
              <a:spcAft>
                <a:spcPts val="700"/>
              </a:spcAft>
              <a:defRPr sz="1700">
                <a:solidFill>
                  <a:srgbClr val="232B33"/>
                </a:solidFill>
              </a:defRPr>
            </a:pPr>
            <a:r>
              <a:t>DAG generator: 10^6 tasks / ~3M edges in 3.1 s; depth ~ log n (24 -&gt; 91 for 10^2 -&gt; 10^6)</a:t>
            </a:r>
          </a:p>
          <a:p>
            <a:pPr>
              <a:spcAft>
                <a:spcPts val="700"/>
              </a:spcAft>
              <a:defRPr sz="1700">
                <a:solidFill>
                  <a:srgbClr val="232B33"/>
                </a:solidFill>
              </a:defRPr>
            </a:pPr>
            <a:r>
              <a:t>Resource graphs: 10^6 nodes / ~2.4M links in 7.3 s; avg degree ~5</a:t>
            </a:r>
          </a:p>
          <a:p>
            <a:pPr>
              <a:spcAft>
                <a:spcPts val="700"/>
              </a:spcAft>
              <a:defRPr sz="1700">
                <a:solidFill>
                  <a:srgbClr val="232B33"/>
                </a:solidFill>
              </a:defRPr>
            </a:pPr>
            <a:r>
              <a:t>Schedulable dense instances stop where constraints do:</a:t>
            </a:r>
          </a:p>
          <a:p>
            <a:pPr lvl="1">
              <a:spcAft>
                <a:spcPts val="700"/>
              </a:spcAft>
              <a:defRPr sz="1500">
                <a:solidFill>
                  <a:srgbClr val="5A646E"/>
                </a:solidFill>
              </a:defRPr>
            </a:pPr>
            <a:r>
              <a:t>  MILP ~800 assignment vars; LP ~10^5 rows at n=1000</a:t>
            </a:r>
          </a:p>
        </p:txBody>
      </p:sp>
      <p:pic>
        <p:nvPicPr>
          <p:cNvPr id="8" name="Picture 7" descr="resource_graphs.png"/>
          <p:cNvPicPr>
            <a:picLocks noChangeAspect="1"/>
          </p:cNvPicPr>
          <p:nvPr/>
        </p:nvPicPr>
        <p:blipFill>
          <a:blip r:embed="rId3"/>
          <a:stretch>
            <a:fillRect/>
          </a:stretch>
        </p:blipFill>
        <p:spPr>
          <a:xfrm>
            <a:off x="6949440" y="1234440"/>
            <a:ext cx="4937760" cy="2698608"/>
          </a:xfrm>
          <a:prstGeom prst="rect">
            <a:avLst/>
          </a:prstGeom>
        </p:spPr>
      </p:pic>
      <p:sp>
        <p:nvSpPr>
          <p:cNvPr id="9" name="TextBox 8"/>
          <p:cNvSpPr txBox="1"/>
          <p:nvPr/>
        </p:nvSpPr>
        <p:spPr>
          <a:xfrm>
            <a:off x="6949440" y="5989320"/>
            <a:ext cx="4937760" cy="548640"/>
          </a:xfrm>
          <a:prstGeom prst="rect">
            <a:avLst/>
          </a:prstGeom>
          <a:noFill/>
        </p:spPr>
        <p:txBody>
          <a:bodyPr wrap="none">
            <a:spAutoFit/>
          </a:bodyPr>
          <a:lstStyle/>
          <a:p>
            <a:pPr algn="ctr">
              <a:defRPr sz="1100" i="1">
                <a:solidFill>
                  <a:srgbClr val="5A646E"/>
                </a:solidFill>
              </a:defRPr>
            </a:pPr>
            <a:r>
              <a:t>Generated federated resource graphs (up to 10^6 nodes)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Honest limits — and what they leave open</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30</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700">
                <a:solidFill>
                  <a:srgbClr val="232B33"/>
                </a:solidFill>
              </a:defRPr>
            </a:pPr>
            <a:r>
              <a:t>MILP capped at ~800 assignment variables — deliberate boundary, not oversight</a:t>
            </a:r>
          </a:p>
          <a:p>
            <a:pPr>
              <a:spcAft>
                <a:spcPts val="700"/>
              </a:spcAft>
              <a:defRPr sz="1700">
                <a:solidFill>
                  <a:srgbClr val="232B33"/>
                </a:solidFill>
              </a:defRPr>
            </a:pPr>
            <a:r>
              <a:t>LP ~10^5 rows at n=1000; GA uses one fixed budget</a:t>
            </a:r>
          </a:p>
          <a:p>
            <a:pPr>
              <a:spcAft>
                <a:spcPts val="700"/>
              </a:spcAft>
              <a:defRPr sz="1700">
                <a:solidFill>
                  <a:srgbClr val="232B33"/>
                </a:solidFill>
              </a:defRPr>
            </a:pPr>
            <a:r>
              <a:t>Failure model: retry-once-in-place — no replication, checkpointing, or migration</a:t>
            </a:r>
          </a:p>
          <a:p>
            <a:pPr>
              <a:spcAft>
                <a:spcPts val="700"/>
              </a:spcAft>
              <a:defRPr sz="1700">
                <a:solidFill>
                  <a:srgbClr val="232B33"/>
                </a:solidFill>
              </a:defRPr>
            </a:pPr>
            <a:r>
              <a:t>Dense schedulable instances stop near 10^4 tasks; 10^6 experiments are structural</a:t>
            </a:r>
          </a:p>
          <a:p>
            <a:pPr>
              <a:spcAft>
                <a:spcPts val="700"/>
              </a:spcAft>
              <a:defRPr sz="1700">
                <a:solidFill>
                  <a:srgbClr val="232B33"/>
                </a:solidFill>
              </a:defRPr>
            </a:pPr>
          </a:p>
          <a:p>
            <a:pPr>
              <a:spcAft>
                <a:spcPts val="700"/>
              </a:spcAft>
              <a:defRPr sz="1700">
                <a:solidFill>
                  <a:srgbClr val="232B33"/>
                </a:solidFill>
              </a:defRPr>
            </a:pPr>
            <a:r>
              <a:t>Open: a whole resource fails mid-workflow — the schedule is decided up front; repair is not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46120"/>
            <a:ext cx="12191695" cy="82296"/>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32720" cy="548640"/>
          </a:xfrm>
          <a:prstGeom prst="rect">
            <a:avLst/>
          </a:prstGeom>
          <a:noFill/>
        </p:spPr>
        <p:txBody>
          <a:bodyPr wrap="none">
            <a:spAutoFit/>
          </a:bodyPr>
          <a:lstStyle/>
          <a:p>
            <a:pPr>
              <a:defRPr sz="2000" b="1">
                <a:solidFill>
                  <a:srgbClr val="C75B12"/>
                </a:solidFill>
              </a:defRPr>
            </a:pPr>
            <a:r>
              <a:t>5  |  PROPOSED RESEARCH</a:t>
            </a:r>
          </a:p>
        </p:txBody>
      </p:sp>
      <p:sp>
        <p:nvSpPr>
          <p:cNvPr id="5" name="TextBox 4"/>
          <p:cNvSpPr txBox="1"/>
          <p:nvPr/>
        </p:nvSpPr>
        <p:spPr>
          <a:xfrm>
            <a:off x="914400" y="2468880"/>
            <a:ext cx="10332720" cy="1463040"/>
          </a:xfrm>
          <a:prstGeom prst="rect">
            <a:avLst/>
          </a:prstGeom>
          <a:noFill/>
        </p:spPr>
        <p:txBody>
          <a:bodyPr wrap="square">
            <a:spAutoFit/>
          </a:bodyPr>
          <a:lstStyle/>
          <a:p>
            <a:pPr>
              <a:defRPr sz="4000" b="1">
                <a:solidFill>
                  <a:srgbClr val="FFFFFF"/>
                </a:solidFill>
              </a:defRPr>
            </a:pPr>
            <a:r>
              <a:t>Dynamic Partial Repartitioning</a:t>
            </a:r>
          </a:p>
        </p:txBody>
      </p:sp>
      <p:sp>
        <p:nvSpPr>
          <p:cNvPr id="6" name="TextBox 5"/>
          <p:cNvSpPr txBox="1"/>
          <p:nvPr/>
        </p:nvSpPr>
        <p:spPr>
          <a:xfrm>
            <a:off x="914400" y="3749039"/>
            <a:ext cx="10332720" cy="1463040"/>
          </a:xfrm>
          <a:prstGeom prst="rect">
            <a:avLst/>
          </a:prstGeom>
          <a:noFill/>
        </p:spPr>
        <p:txBody>
          <a:bodyPr wrap="square">
            <a:spAutoFit/>
          </a:bodyPr>
          <a:lstStyle/>
          <a:p>
            <a:pPr>
              <a:defRPr sz="1800">
                <a:solidFill>
                  <a:srgbClr val="EDF2F7"/>
                </a:solidFill>
              </a:defRPr>
            </a:pPr>
            <a:r>
              <a:t>Repair the smallest affected region — leave everything else alone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The proposal in one line — and its questions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5  |  Proposed research</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32</a:t>
            </a:r>
          </a:p>
        </p:txBody>
      </p:sp>
      <p:sp>
        <p:nvSpPr>
          <p:cNvPr id="7" name="Rectangle 6"/>
          <p:cNvSpPr/>
          <p:nvPr/>
        </p:nvSpPr>
        <p:spPr>
          <a:xfrm>
            <a:off x="731520" y="1188720"/>
            <a:ext cx="10698480" cy="100584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188720"/>
            <a:ext cx="109728" cy="100584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261872"/>
            <a:ext cx="10241280" cy="859536"/>
          </a:xfrm>
          <a:prstGeom prst="rect">
            <a:avLst/>
          </a:prstGeom>
          <a:noFill/>
        </p:spPr>
        <p:txBody>
          <a:bodyPr wrap="square" anchor="ctr">
            <a:spAutoFit/>
          </a:bodyPr>
          <a:lstStyle/>
          <a:p>
            <a:pPr>
              <a:defRPr sz="1500" b="1">
                <a:solidFill>
                  <a:srgbClr val="232B33"/>
                </a:solidFill>
              </a:defRPr>
            </a:pPr>
            <a:r>
              <a:t>How can we quickly repartition and reschedule only the affected part of a DAG workflow after a fog resource fails — reducing recovery time, communication cost, task movement, and completion time?</a:t>
            </a:r>
          </a:p>
        </p:txBody>
      </p:sp>
      <p:sp>
        <p:nvSpPr>
          <p:cNvPr id="10" name="TextBox 9"/>
          <p:cNvSpPr txBox="1"/>
          <p:nvPr/>
        </p:nvSpPr>
        <p:spPr>
          <a:xfrm>
            <a:off x="594360" y="2651760"/>
            <a:ext cx="10972800" cy="5120640"/>
          </a:xfrm>
          <a:prstGeom prst="rect">
            <a:avLst/>
          </a:prstGeom>
          <a:noFill/>
        </p:spPr>
        <p:txBody>
          <a:bodyPr wrap="square">
            <a:spAutoFit/>
          </a:bodyPr>
          <a:lstStyle/>
          <a:p>
            <a:pPr>
              <a:spcAft>
                <a:spcPts val="700"/>
              </a:spcAft>
              <a:defRPr sz="1600">
                <a:solidFill>
                  <a:srgbClr val="232B33"/>
                </a:solidFill>
              </a:defRPr>
            </a:pPr>
            <a:r>
              <a:t>RQ1 — Boundary:  what is the smallest DAG region that must be repartitioned? (stranded + dependents that must move)</a:t>
            </a:r>
          </a:p>
          <a:p>
            <a:pPr>
              <a:spcAft>
                <a:spcPts val="700"/>
              </a:spcAft>
              <a:defRPr sz="1600">
                <a:solidFill>
                  <a:srgbClr val="232B33"/>
                </a:solidFill>
              </a:defRPr>
            </a:pPr>
            <a:r>
              <a:t>RQ2 — Repair:  how to repartition that region to surviving nodes with minimum recovery cost and the deadline still met?</a:t>
            </a:r>
          </a:p>
          <a:p>
            <a:pPr>
              <a:spcAft>
                <a:spcPts val="700"/>
              </a:spcAft>
              <a:defRPr sz="1600">
                <a:solidFill>
                  <a:srgbClr val="232B33"/>
                </a:solidFill>
              </a:defRPr>
            </a:pPr>
            <a:r>
              <a:t>RQ3 — Paths:  how to update communication paths incrementally instead of recomputing them?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A resource fails mid-workflow</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5  |  Proposed research</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33</a:t>
            </a:r>
          </a:p>
        </p:txBody>
      </p:sp>
      <p:sp>
        <p:nvSpPr>
          <p:cNvPr id="7" name="Rounded Rectangle 6"/>
          <p:cNvSpPr/>
          <p:nvPr/>
        </p:nvSpPr>
        <p:spPr>
          <a:xfrm>
            <a:off x="822960" y="1234440"/>
            <a:ext cx="3931920" cy="457200"/>
          </a:xfrm>
          <a:prstGeom prst="roundRect">
            <a:avLst/>
          </a:prstGeom>
          <a:solidFill>
            <a:srgbClr val="0B2A4A"/>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before</a:t>
            </a:r>
          </a:p>
        </p:txBody>
      </p:sp>
      <p:sp>
        <p:nvSpPr>
          <p:cNvPr id="8" name="Rounded Rectangle 7"/>
          <p:cNvSpPr/>
          <p:nvPr/>
        </p:nvSpPr>
        <p:spPr>
          <a:xfrm>
            <a:off x="914400" y="1965960"/>
            <a:ext cx="777240" cy="54864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B2A4A"/>
                </a:solidFill>
              </a:defRPr>
            </a:pPr>
            <a:r>
              <a:t>R1</a:t>
            </a:r>
          </a:p>
        </p:txBody>
      </p:sp>
      <p:sp>
        <p:nvSpPr>
          <p:cNvPr id="9" name="Rounded Rectangle 8"/>
          <p:cNvSpPr/>
          <p:nvPr/>
        </p:nvSpPr>
        <p:spPr>
          <a:xfrm>
            <a:off x="2423160" y="1783080"/>
            <a:ext cx="777240" cy="54864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B2A4A"/>
                </a:solidFill>
              </a:defRPr>
            </a:pPr>
            <a:r>
              <a:t>R2</a:t>
            </a:r>
          </a:p>
        </p:txBody>
      </p:sp>
      <p:sp>
        <p:nvSpPr>
          <p:cNvPr id="10" name="Rounded Rectangle 9"/>
          <p:cNvSpPr/>
          <p:nvPr/>
        </p:nvSpPr>
        <p:spPr>
          <a:xfrm>
            <a:off x="2423160" y="3063240"/>
            <a:ext cx="777240" cy="54864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B2A4A"/>
                </a:solidFill>
              </a:defRPr>
            </a:pPr>
            <a:r>
              <a:t>R3</a:t>
            </a:r>
          </a:p>
        </p:txBody>
      </p:sp>
      <p:sp>
        <p:nvSpPr>
          <p:cNvPr id="11" name="Rounded Rectangle 10"/>
          <p:cNvSpPr/>
          <p:nvPr/>
        </p:nvSpPr>
        <p:spPr>
          <a:xfrm>
            <a:off x="3977640" y="2377440"/>
            <a:ext cx="777240" cy="54864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B2A4A"/>
                </a:solidFill>
              </a:defRPr>
            </a:pPr>
            <a:r>
              <a:t>R4</a:t>
            </a:r>
          </a:p>
        </p:txBody>
      </p:sp>
      <p:cxnSp>
        <p:nvCxnSpPr>
          <p:cNvPr id="12" name="Connector 11"/>
          <p:cNvCxnSpPr/>
          <p:nvPr/>
        </p:nvCxnSpPr>
        <p:spPr>
          <a:xfrm flipV="1">
            <a:off x="1691640" y="2057400"/>
            <a:ext cx="731520" cy="182880"/>
          </a:xfrm>
          <a:prstGeom prst="bentConnector3">
            <a:avLst/>
          </a:prstGeom>
          <a:ln w="1905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691640" y="2240280"/>
            <a:ext cx="731520" cy="1097280"/>
          </a:xfrm>
          <a:prstGeom prst="bentConnector3">
            <a:avLst/>
          </a:prstGeom>
          <a:ln w="1905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200400" y="2057400"/>
            <a:ext cx="777240" cy="594360"/>
          </a:xfrm>
          <a:prstGeom prst="bentConnector3">
            <a:avLst/>
          </a:prstGeom>
          <a:ln w="1905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3200400" y="2834640"/>
            <a:ext cx="777240" cy="502920"/>
          </a:xfrm>
          <a:prstGeom prst="bentConnector3">
            <a:avLst/>
          </a:prstGeom>
          <a:ln w="1905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15200" y="1234440"/>
            <a:ext cx="3931920" cy="457200"/>
          </a:xfrm>
          <a:prstGeom prst="roundRect">
            <a:avLst/>
          </a:prstGeom>
          <a:solidFill>
            <a:srgbClr val="0B2A4A"/>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after R2 fails</a:t>
            </a:r>
          </a:p>
        </p:txBody>
      </p:sp>
      <p:sp>
        <p:nvSpPr>
          <p:cNvPr id="17" name="Rounded Rectangle 16"/>
          <p:cNvSpPr/>
          <p:nvPr/>
        </p:nvSpPr>
        <p:spPr>
          <a:xfrm>
            <a:off x="7406640" y="1965960"/>
            <a:ext cx="777240" cy="54864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B2A4A"/>
                </a:solidFill>
              </a:defRPr>
            </a:pPr>
            <a:r>
              <a:t>R1</a:t>
            </a:r>
          </a:p>
        </p:txBody>
      </p:sp>
      <p:sp>
        <p:nvSpPr>
          <p:cNvPr id="18" name="Rounded Rectangle 17"/>
          <p:cNvSpPr/>
          <p:nvPr/>
        </p:nvSpPr>
        <p:spPr>
          <a:xfrm>
            <a:off x="8915400" y="1783080"/>
            <a:ext cx="777240" cy="548640"/>
          </a:xfrm>
          <a:prstGeom prst="roundRect">
            <a:avLst/>
          </a:prstGeom>
          <a:solidFill>
            <a:srgbClr val="5A646E"/>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R2</a:t>
            </a:r>
          </a:p>
        </p:txBody>
      </p:sp>
      <p:sp>
        <p:nvSpPr>
          <p:cNvPr id="19" name="Rounded Rectangle 18"/>
          <p:cNvSpPr/>
          <p:nvPr/>
        </p:nvSpPr>
        <p:spPr>
          <a:xfrm>
            <a:off x="8915400" y="3063240"/>
            <a:ext cx="777240" cy="54864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B2A4A"/>
                </a:solidFill>
              </a:defRPr>
            </a:pPr>
            <a:r>
              <a:t>R3</a:t>
            </a:r>
          </a:p>
        </p:txBody>
      </p:sp>
      <p:sp>
        <p:nvSpPr>
          <p:cNvPr id="20" name="Rounded Rectangle 19"/>
          <p:cNvSpPr/>
          <p:nvPr/>
        </p:nvSpPr>
        <p:spPr>
          <a:xfrm>
            <a:off x="10469880" y="2377440"/>
            <a:ext cx="777240" cy="54864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B2A4A"/>
                </a:solidFill>
              </a:defRPr>
            </a:pPr>
            <a:r>
              <a:t>R4</a:t>
            </a:r>
          </a:p>
        </p:txBody>
      </p:sp>
      <p:cxnSp>
        <p:nvCxnSpPr>
          <p:cNvPr id="21" name="Connector 20"/>
          <p:cNvCxnSpPr/>
          <p:nvPr/>
        </p:nvCxnSpPr>
        <p:spPr>
          <a:xfrm flipV="1">
            <a:off x="8183879" y="2057400"/>
            <a:ext cx="731521" cy="182880"/>
          </a:xfrm>
          <a:prstGeom prst="bentConnector3">
            <a:avLst/>
          </a:prstGeom>
          <a:ln w="1905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183879" y="2240280"/>
            <a:ext cx="731521" cy="1097280"/>
          </a:xfrm>
          <a:prstGeom prst="bentConnector3">
            <a:avLst/>
          </a:prstGeom>
          <a:ln w="1905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692640" y="2057400"/>
            <a:ext cx="777240" cy="594360"/>
          </a:xfrm>
          <a:prstGeom prst="bentConnector3">
            <a:avLst/>
          </a:prstGeom>
          <a:ln w="1905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692640" y="2834640"/>
            <a:ext cx="777240" cy="502920"/>
          </a:xfrm>
          <a:prstGeom prst="bentConnector3">
            <a:avLst/>
          </a:prstGeom>
          <a:ln w="1905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915400" y="1783080"/>
            <a:ext cx="777240" cy="777240"/>
          </a:xfrm>
          <a:prstGeom prst="line">
            <a:avLst/>
          </a:prstGeom>
          <a:ln w="38100">
            <a:solidFill>
              <a:srgbClr val="C75B12"/>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915400" y="1783080"/>
            <a:ext cx="777240" cy="777240"/>
          </a:xfrm>
          <a:prstGeom prst="line">
            <a:avLst/>
          </a:prstGeom>
          <a:ln w="38100">
            <a:solidFill>
              <a:srgbClr val="C75B12"/>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772400" y="3977639"/>
            <a:ext cx="3017520" cy="502920"/>
          </a:xfrm>
          <a:prstGeom prst="roundRect">
            <a:avLst/>
          </a:prstGeom>
          <a:solidFill>
            <a:srgbClr val="C75B12"/>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stranded tasks</a:t>
            </a:r>
          </a:p>
        </p:txBody>
      </p:sp>
      <p:cxnSp>
        <p:nvCxnSpPr>
          <p:cNvPr id="28" name="Connector 27"/>
          <p:cNvCxnSpPr/>
          <p:nvPr/>
        </p:nvCxnSpPr>
        <p:spPr>
          <a:xfrm flipV="1">
            <a:off x="9281160" y="2377440"/>
            <a:ext cx="0" cy="1600199"/>
          </a:xfrm>
          <a:prstGeom prst="bentConnector3">
            <a:avLst/>
          </a:prstGeom>
          <a:ln w="22225">
            <a:solidFill>
              <a:srgbClr val="C75B12"/>
            </a:solidFill>
            <a:prstDash val="sysDash"/>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94360" y="4846320"/>
            <a:ext cx="10972800" cy="5120640"/>
          </a:xfrm>
          <a:prstGeom prst="rect">
            <a:avLst/>
          </a:prstGeom>
          <a:noFill/>
        </p:spPr>
        <p:txBody>
          <a:bodyPr wrap="square">
            <a:spAutoFit/>
          </a:bodyPr>
          <a:lstStyle/>
          <a:p>
            <a:pPr>
              <a:spcAft>
                <a:spcPts val="700"/>
              </a:spcAft>
              <a:defRPr sz="1600">
                <a:solidFill>
                  <a:srgbClr val="232B33"/>
                </a:solidFill>
              </a:defRPr>
            </a:pPr>
            <a:r>
              <a:t>Completed tasks never restart; unaffected tasks never move</a:t>
            </a:r>
          </a:p>
          <a:p>
            <a:pPr>
              <a:spcAft>
                <a:spcPts val="700"/>
              </a:spcAft>
              <a:defRPr sz="1600">
                <a:solidFill>
                  <a:srgbClr val="232B33"/>
                </a:solidFill>
              </a:defRPr>
            </a:pPr>
            <a:r>
              <a:t>The boundary question (RQ1): is rescuing the stranded tasks enough, or must dependents move too?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The method, step by step</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5  |  Proposed research</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34</a:t>
            </a:r>
          </a:p>
        </p:txBody>
      </p:sp>
      <p:sp>
        <p:nvSpPr>
          <p:cNvPr id="7" name="Rounded Rectangle 6"/>
          <p:cNvSpPr/>
          <p:nvPr/>
        </p:nvSpPr>
        <p:spPr>
          <a:xfrm>
            <a:off x="502920" y="1371600"/>
            <a:ext cx="1417320" cy="502920"/>
          </a:xfrm>
          <a:prstGeom prst="roundRect">
            <a:avLst/>
          </a:prstGeom>
          <a:solidFill>
            <a:srgbClr val="0B2A4A"/>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1</a:t>
            </a:r>
          </a:p>
        </p:txBody>
      </p:sp>
      <p:sp>
        <p:nvSpPr>
          <p:cNvPr id="8" name="Rounded Rectangle 7"/>
          <p:cNvSpPr/>
          <p:nvPr/>
        </p:nvSpPr>
        <p:spPr>
          <a:xfrm>
            <a:off x="502920" y="1965960"/>
            <a:ext cx="1417320" cy="105156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232B33"/>
                </a:solidFill>
              </a:defRPr>
            </a:pPr>
            <a:r>
              <a:t>Initial</a:t>
            </a:r>
            <a:br/>
            <a:r>
              <a:t>partition</a:t>
            </a:r>
          </a:p>
        </p:txBody>
      </p:sp>
      <p:sp>
        <p:nvSpPr>
          <p:cNvPr id="9" name="Rounded Rectangle 8"/>
          <p:cNvSpPr/>
          <p:nvPr/>
        </p:nvSpPr>
        <p:spPr>
          <a:xfrm>
            <a:off x="2167128" y="1371600"/>
            <a:ext cx="1417320" cy="502920"/>
          </a:xfrm>
          <a:prstGeom prst="roundRect">
            <a:avLst/>
          </a:prstGeom>
          <a:solidFill>
            <a:srgbClr val="C75B12"/>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2</a:t>
            </a:r>
          </a:p>
        </p:txBody>
      </p:sp>
      <p:sp>
        <p:nvSpPr>
          <p:cNvPr id="10" name="Rounded Rectangle 9"/>
          <p:cNvSpPr/>
          <p:nvPr/>
        </p:nvSpPr>
        <p:spPr>
          <a:xfrm>
            <a:off x="2167128" y="1965960"/>
            <a:ext cx="1417320" cy="105156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232B33"/>
                </a:solidFill>
              </a:defRPr>
            </a:pPr>
            <a:r>
              <a:t>Detect</a:t>
            </a:r>
            <a:br/>
            <a:r>
              <a:t>failure</a:t>
            </a:r>
          </a:p>
        </p:txBody>
      </p:sp>
      <p:cxnSp>
        <p:nvCxnSpPr>
          <p:cNvPr id="11" name="Connector 10"/>
          <p:cNvCxnSpPr/>
          <p:nvPr/>
        </p:nvCxnSpPr>
        <p:spPr>
          <a:xfrm>
            <a:off x="1938528" y="2468880"/>
            <a:ext cx="228600" cy="0"/>
          </a:xfrm>
          <a:prstGeom prst="bentConnector3">
            <a:avLst/>
          </a:prstGeom>
          <a:ln w="2540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831336" y="1371600"/>
            <a:ext cx="1417320" cy="502920"/>
          </a:xfrm>
          <a:prstGeom prst="roundRect">
            <a:avLst/>
          </a:prstGeom>
          <a:solidFill>
            <a:srgbClr val="C75B12"/>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3</a:t>
            </a:r>
          </a:p>
        </p:txBody>
      </p:sp>
      <p:sp>
        <p:nvSpPr>
          <p:cNvPr id="13" name="Rounded Rectangle 12"/>
          <p:cNvSpPr/>
          <p:nvPr/>
        </p:nvSpPr>
        <p:spPr>
          <a:xfrm>
            <a:off x="3831336" y="1965960"/>
            <a:ext cx="1417320" cy="105156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232B33"/>
                </a:solidFill>
              </a:defRPr>
            </a:pPr>
            <a:r>
              <a:t>Isolate affected</a:t>
            </a:r>
            <a:br/>
            <a:r>
              <a:t>subgraph</a:t>
            </a:r>
          </a:p>
        </p:txBody>
      </p:sp>
      <p:cxnSp>
        <p:nvCxnSpPr>
          <p:cNvPr id="14" name="Connector 13"/>
          <p:cNvCxnSpPr/>
          <p:nvPr/>
        </p:nvCxnSpPr>
        <p:spPr>
          <a:xfrm>
            <a:off x="3602736" y="2468880"/>
            <a:ext cx="228600" cy="0"/>
          </a:xfrm>
          <a:prstGeom prst="bentConnector3">
            <a:avLst/>
          </a:prstGeom>
          <a:ln w="2540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495544" y="1371600"/>
            <a:ext cx="1417320" cy="502920"/>
          </a:xfrm>
          <a:prstGeom prst="roundRect">
            <a:avLst/>
          </a:prstGeom>
          <a:solidFill>
            <a:srgbClr val="C75B12"/>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4</a:t>
            </a:r>
          </a:p>
        </p:txBody>
      </p:sp>
      <p:sp>
        <p:nvSpPr>
          <p:cNvPr id="16" name="Rounded Rectangle 15"/>
          <p:cNvSpPr/>
          <p:nvPr/>
        </p:nvSpPr>
        <p:spPr>
          <a:xfrm>
            <a:off x="5495544" y="1965960"/>
            <a:ext cx="1417320" cy="105156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232B33"/>
                </a:solidFill>
              </a:defRPr>
            </a:pPr>
            <a:r>
              <a:t>Pick replacement</a:t>
            </a:r>
            <a:br/>
            <a:r>
              <a:t>resources</a:t>
            </a:r>
          </a:p>
        </p:txBody>
      </p:sp>
      <p:cxnSp>
        <p:nvCxnSpPr>
          <p:cNvPr id="17" name="Connector 16"/>
          <p:cNvCxnSpPr/>
          <p:nvPr/>
        </p:nvCxnSpPr>
        <p:spPr>
          <a:xfrm>
            <a:off x="5266944" y="2468880"/>
            <a:ext cx="228600" cy="0"/>
          </a:xfrm>
          <a:prstGeom prst="bentConnector3">
            <a:avLst/>
          </a:prstGeom>
          <a:ln w="2540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159752" y="1371600"/>
            <a:ext cx="1417320" cy="502920"/>
          </a:xfrm>
          <a:prstGeom prst="roundRect">
            <a:avLst/>
          </a:prstGeom>
          <a:solidFill>
            <a:srgbClr val="C75B12"/>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5</a:t>
            </a:r>
          </a:p>
        </p:txBody>
      </p:sp>
      <p:sp>
        <p:nvSpPr>
          <p:cNvPr id="19" name="Rounded Rectangle 18"/>
          <p:cNvSpPr/>
          <p:nvPr/>
        </p:nvSpPr>
        <p:spPr>
          <a:xfrm>
            <a:off x="7159752" y="1965960"/>
            <a:ext cx="1417320" cy="105156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232B33"/>
                </a:solidFill>
              </a:defRPr>
            </a:pPr>
            <a:r>
              <a:t>Repartition</a:t>
            </a:r>
            <a:br/>
            <a:r>
              <a:t>the region</a:t>
            </a:r>
          </a:p>
        </p:txBody>
      </p:sp>
      <p:cxnSp>
        <p:nvCxnSpPr>
          <p:cNvPr id="20" name="Connector 19"/>
          <p:cNvCxnSpPr/>
          <p:nvPr/>
        </p:nvCxnSpPr>
        <p:spPr>
          <a:xfrm>
            <a:off x="6931152" y="2468880"/>
            <a:ext cx="228600" cy="0"/>
          </a:xfrm>
          <a:prstGeom prst="bentConnector3">
            <a:avLst/>
          </a:prstGeom>
          <a:ln w="2540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823960" y="1371600"/>
            <a:ext cx="1417320" cy="502920"/>
          </a:xfrm>
          <a:prstGeom prst="roundRect">
            <a:avLst/>
          </a:prstGeom>
          <a:solidFill>
            <a:srgbClr val="0E7C7B"/>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6</a:t>
            </a:r>
          </a:p>
        </p:txBody>
      </p:sp>
      <p:sp>
        <p:nvSpPr>
          <p:cNvPr id="22" name="Rounded Rectangle 21"/>
          <p:cNvSpPr/>
          <p:nvPr/>
        </p:nvSpPr>
        <p:spPr>
          <a:xfrm>
            <a:off x="8823960" y="1965960"/>
            <a:ext cx="1417320" cy="105156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232B33"/>
                </a:solidFill>
              </a:defRPr>
            </a:pPr>
            <a:r>
              <a:t>Assign + update</a:t>
            </a:r>
            <a:br/>
            <a:r>
              <a:t>paths</a:t>
            </a:r>
          </a:p>
        </p:txBody>
      </p:sp>
      <p:cxnSp>
        <p:nvCxnSpPr>
          <p:cNvPr id="23" name="Connector 22"/>
          <p:cNvCxnSpPr/>
          <p:nvPr/>
        </p:nvCxnSpPr>
        <p:spPr>
          <a:xfrm>
            <a:off x="8595360" y="2468880"/>
            <a:ext cx="228600" cy="0"/>
          </a:xfrm>
          <a:prstGeom prst="bentConnector3">
            <a:avLst/>
          </a:prstGeom>
          <a:ln w="2540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0488168" y="1371600"/>
            <a:ext cx="1417320" cy="502920"/>
          </a:xfrm>
          <a:prstGeom prst="roundRect">
            <a:avLst/>
          </a:prstGeom>
          <a:solidFill>
            <a:srgbClr val="0E7C7B"/>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7</a:t>
            </a:r>
          </a:p>
        </p:txBody>
      </p:sp>
      <p:sp>
        <p:nvSpPr>
          <p:cNvPr id="25" name="Rounded Rectangle 24"/>
          <p:cNvSpPr/>
          <p:nvPr/>
        </p:nvSpPr>
        <p:spPr>
          <a:xfrm>
            <a:off x="10488168" y="1965960"/>
            <a:ext cx="1417320" cy="105156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232B33"/>
                </a:solidFill>
              </a:defRPr>
            </a:pPr>
            <a:r>
              <a:t>Resume from</a:t>
            </a:r>
            <a:br/>
            <a:r>
              <a:t>last good point</a:t>
            </a:r>
          </a:p>
        </p:txBody>
      </p:sp>
      <p:cxnSp>
        <p:nvCxnSpPr>
          <p:cNvPr id="26" name="Connector 25"/>
          <p:cNvCxnSpPr/>
          <p:nvPr/>
        </p:nvCxnSpPr>
        <p:spPr>
          <a:xfrm>
            <a:off x="10259568" y="2468880"/>
            <a:ext cx="228600" cy="0"/>
          </a:xfrm>
          <a:prstGeom prst="bentConnector3">
            <a:avLst/>
          </a:prstGeom>
          <a:ln w="2540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822960" y="3474720"/>
            <a:ext cx="10515600" cy="82296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2960" y="3474720"/>
            <a:ext cx="109728" cy="82296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97280" y="3547872"/>
            <a:ext cx="10058400" cy="676656"/>
          </a:xfrm>
          <a:prstGeom prst="rect">
            <a:avLst/>
          </a:prstGeom>
          <a:noFill/>
        </p:spPr>
        <p:txBody>
          <a:bodyPr wrap="square" anchor="ctr">
            <a:spAutoFit/>
          </a:bodyPr>
          <a:lstStyle/>
          <a:p>
            <a:pPr>
              <a:defRPr sz="1400" b="0">
                <a:solidFill>
                  <a:srgbClr val="232B33"/>
                </a:solidFill>
              </a:defRPr>
            </a:pPr>
            <a:r>
              <a:t>Repartition cost model: added makespan + comm delay + data re-shipped + move cost + load balance — under the deadline</a:t>
            </a:r>
          </a:p>
        </p:txBody>
      </p:sp>
      <p:sp>
        <p:nvSpPr>
          <p:cNvPr id="30" name="Rectangle 29"/>
          <p:cNvSpPr/>
          <p:nvPr/>
        </p:nvSpPr>
        <p:spPr>
          <a:xfrm>
            <a:off x="822960" y="4480560"/>
            <a:ext cx="10515600" cy="73152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2960" y="4480560"/>
            <a:ext cx="109728" cy="7315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97280" y="4553712"/>
            <a:ext cx="10058400" cy="585216"/>
          </a:xfrm>
          <a:prstGeom prst="rect">
            <a:avLst/>
          </a:prstGeom>
          <a:noFill/>
        </p:spPr>
        <p:txBody>
          <a:bodyPr wrap="square" anchor="ctr">
            <a:spAutoFit/>
          </a:bodyPr>
          <a:lstStyle/>
          <a:p>
            <a:pPr>
              <a:defRPr sz="1400" b="0">
                <a:solidFill>
                  <a:srgbClr val="232B33"/>
                </a:solidFill>
              </a:defRPr>
            </a:pPr>
            <a:r>
              <a:t>Invariant throughout: completed tasks never restart, unaffected assignments never move.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RQ1 depth — the boundary rule</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5  |  Proposed research</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35</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600">
                <a:solidFill>
                  <a:srgbClr val="232B33"/>
                </a:solidFill>
              </a:defRPr>
            </a:pPr>
            <a:r>
              <a:t>Start:  A = S  (stranded unfinished tasks)</a:t>
            </a:r>
          </a:p>
          <a:p>
            <a:pPr>
              <a:spcAft>
                <a:spcPts val="700"/>
              </a:spcAft>
              <a:defRPr sz="1600">
                <a:solidFill>
                  <a:srgbClr val="232B33"/>
                </a:solidFill>
              </a:defRPr>
            </a:pPr>
            <a:r>
              <a:t>Expand while some neighbor fails a stay-test:</a:t>
            </a:r>
          </a:p>
          <a:p>
            <a:pPr lvl="1">
              <a:spcAft>
                <a:spcPts val="700"/>
              </a:spcAft>
              <a:defRPr sz="1400">
                <a:solidFill>
                  <a:srgbClr val="5A646E"/>
                </a:solidFill>
              </a:defRPr>
            </a:pPr>
            <a:r>
              <a:t>  deadline test — staying makes its finish exceed the slack left at tau</a:t>
            </a:r>
          </a:p>
          <a:p>
            <a:pPr lvl="1">
              <a:spcAft>
                <a:spcPts val="700"/>
              </a:spcAft>
              <a:defRPr sz="1400">
                <a:solidFill>
                  <a:srgbClr val="5A646E"/>
                </a:solidFill>
              </a:defRPr>
            </a:pPr>
            <a:r>
              <a:t>  locality test — staying strands its input on a long path (D/B too large)</a:t>
            </a:r>
          </a:p>
          <a:p>
            <a:pPr>
              <a:spcAft>
                <a:spcPts val="700"/>
              </a:spcAft>
              <a:defRPr sz="1600">
                <a:solidFill>
                  <a:srgbClr val="232B33"/>
                </a:solidFill>
              </a:defRPr>
            </a:pPr>
            <a:r>
              <a:t>Stop at a cap on |A| or when no neighbor fails a test — minimality is the claim to verify</a:t>
            </a:r>
          </a:p>
          <a:p>
            <a:pPr>
              <a:spcAft>
                <a:spcPts val="700"/>
              </a:spcAft>
              <a:defRPr sz="1600">
                <a:solidFill>
                  <a:srgbClr val="232B33"/>
                </a:solidFill>
              </a:defRPr>
            </a:pPr>
            <a:r>
              <a:t>Output:  affected subgraph A with its boundary dependencies — the only graph we repartition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RQ2 depth — repartitioning the region</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5  |  Proposed research</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36</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600">
                <a:solidFill>
                  <a:srgbClr val="232B33"/>
                </a:solidFill>
              </a:defRPr>
            </a:pPr>
            <a:r>
              <a:t>Repair is a constrained re-optimization on A — the Part II schedulers become region solvers</a:t>
            </a:r>
          </a:p>
          <a:p>
            <a:pPr>
              <a:spcAft>
                <a:spcPts val="700"/>
              </a:spcAft>
              <a:defRPr sz="1600">
                <a:solidFill>
                  <a:srgbClr val="232B33"/>
                </a:solidFill>
              </a:defRPr>
            </a:pPr>
            <a:r>
              <a:t>Objective:  min (added makespan + w1*tasks moved + w2*data re-shipped) s.t. accuracy and deadline</a:t>
            </a:r>
          </a:p>
          <a:p>
            <a:pPr>
              <a:spcAft>
                <a:spcPts val="700"/>
              </a:spcAft>
              <a:defRPr sz="1600">
                <a:solidFill>
                  <a:srgbClr val="232B33"/>
                </a:solidFill>
              </a:defRPr>
            </a:pPr>
            <a:r>
              <a:t>Boundary pins:  tasks that stayed fix the data-arrival times A must respect</a:t>
            </a:r>
          </a:p>
          <a:p>
            <a:pPr>
              <a:spcAft>
                <a:spcPts val="700"/>
              </a:spcAft>
              <a:defRPr sz="1600">
                <a:solidFill>
                  <a:srgbClr val="232B33"/>
                </a:solidFill>
              </a:defRPr>
            </a:pPr>
            <a:r>
              <a:t>Replacement pool:  surviving nodes with capacity + short paths to where parents/children live</a:t>
            </a:r>
          </a:p>
          <a:p>
            <a:pPr>
              <a:spcAft>
                <a:spcPts val="700"/>
              </a:spcAft>
              <a:defRPr sz="1600">
                <a:solidFill>
                  <a:srgbClr val="232B33"/>
                </a:solidFill>
              </a:defRPr>
            </a:pPr>
            <a:r>
              <a:t>Greedy repair first (ms-scale), MILP repair as the small-region reference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RQ3 depth — incremental path updates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5  |  Proposed research</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37</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600">
                <a:solidFill>
                  <a:srgbClr val="232B33"/>
                </a:solidFill>
              </a:defRPr>
            </a:pPr>
            <a:r>
              <a:t>Moved tasks need new comm paths to parents and children</a:t>
            </a:r>
          </a:p>
          <a:p>
            <a:pPr>
              <a:spcAft>
                <a:spcPts val="700"/>
              </a:spcAft>
              <a:defRPr sz="1600">
                <a:solidFill>
                  <a:srgbClr val="232B33"/>
                </a:solidFill>
              </a:defRPr>
            </a:pPr>
            <a:r>
              <a:t>Recomputing all shortest paths on G_R mid-workflow is too slow</a:t>
            </a:r>
          </a:p>
          <a:p>
            <a:pPr>
              <a:spcAft>
                <a:spcPts val="700"/>
              </a:spcAft>
              <a:defRPr sz="1600">
                <a:solidFill>
                  <a:srgbClr val="232B33"/>
                </a:solidFill>
              </a:defRPr>
            </a:pPr>
            <a:r>
              <a:t>Instead: incremental/dynamic SPT update (Riazi, Bhowmick, Khanda et al.)</a:t>
            </a:r>
          </a:p>
          <a:p>
            <a:pPr lvl="1">
              <a:spcAft>
                <a:spcPts val="700"/>
              </a:spcAft>
              <a:defRPr sz="1400">
                <a:solidFill>
                  <a:srgbClr val="5A646E"/>
                </a:solidFill>
              </a:defRPr>
            </a:pPr>
            <a:r>
              <a:t>  touch only paths through the deleted node and the moved tasks</a:t>
            </a:r>
          </a:p>
          <a:p>
            <a:pPr>
              <a:spcAft>
                <a:spcPts val="700"/>
              </a:spcAft>
              <a:defRPr sz="1600">
                <a:solidFill>
                  <a:srgbClr val="232B33"/>
                </a:solidFill>
              </a:defRPr>
            </a:pPr>
            <a:r>
              <a:t>Novel application: dynamic SPT has never driven workflow repartitioning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What is new — positioning</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5  |  Proposed research</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38</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600">
                <a:solidFill>
                  <a:srgbClr val="232B33"/>
                </a:solidFill>
              </a:defRPr>
            </a:pPr>
            <a:r>
              <a:t>Known: dynamic shortest-path updates — never applied to workflow repartitioning</a:t>
            </a:r>
          </a:p>
          <a:p>
            <a:pPr>
              <a:spcAft>
                <a:spcPts val="700"/>
              </a:spcAft>
              <a:defRPr sz="1600">
                <a:solidFill>
                  <a:srgbClr val="232B33"/>
                </a:solidFill>
              </a:defRPr>
            </a:pPr>
            <a:r>
              <a:t>Known: fog rescheduling on uncertain events; redistribution on join/leave</a:t>
            </a:r>
          </a:p>
          <a:p>
            <a:pPr>
              <a:spcAft>
                <a:spcPts val="700"/>
              </a:spcAft>
              <a:defRPr sz="1600">
                <a:solidFill>
                  <a:srgbClr val="232B33"/>
                </a:solidFill>
              </a:defRPr>
            </a:pPr>
            <a:r>
              <a:t>Known: partial workflow reconsideration — without the two-graph coupling</a:t>
            </a:r>
          </a:p>
          <a:p>
            <a:pPr>
              <a:spcAft>
                <a:spcPts val="700"/>
              </a:spcAft>
              <a:defRPr sz="1600">
                <a:solidFill>
                  <a:srgbClr val="232B33"/>
                </a:solidFill>
              </a:defRPr>
            </a:pPr>
          </a:p>
          <a:p>
            <a:pPr>
              <a:spcAft>
                <a:spcPts val="700"/>
              </a:spcAft>
              <a:defRPr sz="1600">
                <a:solidFill>
                  <a:srgbClr val="232B33"/>
                </a:solidFill>
              </a:defRPr>
            </a:pPr>
            <a:r>
              <a:t>New:  infra-node failure -&gt; smallest affected DAG region -&gt; repartition only that region -&gt; incremental path update -&gt; resume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46120"/>
            <a:ext cx="12191695" cy="82296"/>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32720" cy="548640"/>
          </a:xfrm>
          <a:prstGeom prst="rect">
            <a:avLst/>
          </a:prstGeom>
          <a:noFill/>
        </p:spPr>
        <p:txBody>
          <a:bodyPr wrap="none">
            <a:spAutoFit/>
          </a:bodyPr>
          <a:lstStyle/>
          <a:p>
            <a:pPr>
              <a:defRPr sz="2000" b="1">
                <a:solidFill>
                  <a:srgbClr val="C75B12"/>
                </a:solidFill>
              </a:defRPr>
            </a:pPr>
            <a:r>
              <a:t>6  |  EVALUATION PLAN &amp; TIMELINE</a:t>
            </a:r>
          </a:p>
        </p:txBody>
      </p:sp>
      <p:sp>
        <p:nvSpPr>
          <p:cNvPr id="5" name="TextBox 4"/>
          <p:cNvSpPr txBox="1"/>
          <p:nvPr/>
        </p:nvSpPr>
        <p:spPr>
          <a:xfrm>
            <a:off x="914400" y="2468880"/>
            <a:ext cx="10332720" cy="1463040"/>
          </a:xfrm>
          <a:prstGeom prst="rect">
            <a:avLst/>
          </a:prstGeom>
          <a:noFill/>
        </p:spPr>
        <p:txBody>
          <a:bodyPr wrap="square">
            <a:spAutoFit/>
          </a:bodyPr>
          <a:lstStyle/>
          <a:p>
            <a:pPr>
              <a:defRPr sz="4000" b="1">
                <a:solidFill>
                  <a:srgbClr val="FFFFFF"/>
                </a:solidFill>
              </a:defRPr>
            </a:pPr>
            <a:r>
              <a:t>How it will be tested — and when</a:t>
            </a:r>
          </a:p>
        </p:txBody>
      </p:sp>
      <p:sp>
        <p:nvSpPr>
          <p:cNvPr id="6" name="TextBox 5"/>
          <p:cNvSpPr txBox="1"/>
          <p:nvPr/>
        </p:nvSpPr>
        <p:spPr>
          <a:xfrm>
            <a:off x="914400" y="3749039"/>
            <a:ext cx="10332720" cy="1463040"/>
          </a:xfrm>
          <a:prstGeom prst="rect">
            <a:avLst/>
          </a:prstGeom>
          <a:noFill/>
        </p:spPr>
        <p:txBody>
          <a:bodyPr wrap="square">
            <a:spAutoFit/>
          </a:bodyPr>
          <a:lstStyle/>
          <a:p>
            <a:pPr>
              <a:defRPr sz="1800">
                <a:solidFill>
                  <a:srgbClr val="EDF2F7"/>
                </a:solidFill>
              </a:defRPr>
            </a:pPr>
            <a:r>
              <a:t>Baselines, metrics, failure injection, hypotheses, milestones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Baselines and metrics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6  |  Evaluation plan &amp; timeline</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40</a:t>
            </a:r>
          </a:p>
        </p:txBody>
      </p:sp>
      <p:graphicFrame>
        <p:nvGraphicFramePr>
          <p:cNvPr id="7" name="Table 6"/>
          <p:cNvGraphicFramePr>
            <a:graphicFrameLocks noGrp="1"/>
          </p:cNvGraphicFramePr>
          <p:nvPr/>
        </p:nvGraphicFramePr>
        <p:xfrm>
          <a:off x="731520" y="1280160"/>
          <a:ext cx="10698480" cy="3108960"/>
        </p:xfrm>
        <a:graphic>
          <a:graphicData uri="http://schemas.openxmlformats.org/drawingml/2006/table">
            <a:tbl>
              <a:tblPr firstRow="1" bandRow="1">
                <a:tableStyleId>{5C22544A-7EE6-4342-B048-85BDC9FD1C3A}</a:tableStyleId>
              </a:tblPr>
              <a:tblGrid>
                <a:gridCol w="5669280"/>
                <a:gridCol w="5029200"/>
              </a:tblGrid>
              <a:tr h="621792">
                <a:tc>
                  <a:txBody>
                    <a:bodyPr wrap="square"/>
                    <a:lstStyle/>
                    <a:p>
                      <a:pPr>
                        <a:defRPr sz="1300" b="1">
                          <a:solidFill>
                            <a:srgbClr val="FFFFFF"/>
                          </a:solidFill>
                        </a:defRPr>
                      </a:pPr>
                      <a:r>
                        <a:t>Baselines</a:t>
                      </a:r>
                    </a:p>
                  </a:txBody>
                  <a:tcPr marT="38100" marB="38100" marL="76200" marR="76200">
                    <a:solidFill>
                      <a:srgbClr val="0B2A4A"/>
                    </a:solidFill>
                  </a:tcPr>
                </a:tc>
                <a:tc>
                  <a:txBody>
                    <a:bodyPr wrap="square"/>
                    <a:lstStyle/>
                    <a:p>
                      <a:pPr>
                        <a:defRPr sz="1300" b="1">
                          <a:solidFill>
                            <a:srgbClr val="FFFFFF"/>
                          </a:solidFill>
                        </a:defRPr>
                      </a:pPr>
                      <a:r>
                        <a:t>Metrics</a:t>
                      </a:r>
                    </a:p>
                  </a:txBody>
                  <a:tcPr marT="38100" marB="38100" marL="76200" marR="76200">
                    <a:solidFill>
                      <a:srgbClr val="0B2A4A"/>
                    </a:solidFill>
                  </a:tcPr>
                </a:tc>
              </a:tr>
              <a:tr h="621792">
                <a:tc>
                  <a:txBody>
                    <a:bodyPr wrap="square"/>
                    <a:lstStyle/>
                    <a:p>
                      <a:pPr>
                        <a:defRPr sz="1300" b="0">
                          <a:solidFill>
                            <a:srgbClr val="232B33"/>
                          </a:solidFill>
                        </a:defRPr>
                      </a:pPr>
                      <a:r>
                        <a:t>Complete repartition — reschedule the whole DAG</a:t>
                      </a:r>
                    </a:p>
                  </a:txBody>
                  <a:tcPr marT="38100" marB="38100" marL="76200" marR="76200">
                    <a:solidFill>
                      <a:srgbClr val="FFFFFF"/>
                    </a:solidFill>
                  </a:tcPr>
                </a:tc>
                <a:tc>
                  <a:txBody>
                    <a:bodyPr wrap="square"/>
                    <a:lstStyle/>
                    <a:p>
                      <a:pPr>
                        <a:defRPr sz="1300" b="0">
                          <a:solidFill>
                            <a:srgbClr val="232B33"/>
                          </a:solidFill>
                        </a:defRPr>
                      </a:pPr>
                      <a:r>
                        <a:t>Recovery time (failure detect -&gt; resume)</a:t>
                      </a:r>
                    </a:p>
                  </a:txBody>
                  <a:tcPr marT="38100" marB="38100" marL="76200" marR="76200">
                    <a:solidFill>
                      <a:srgbClr val="FFFFFF"/>
                    </a:solidFill>
                  </a:tcPr>
                </a:tc>
              </a:tr>
              <a:tr h="621792">
                <a:tc>
                  <a:txBody>
                    <a:bodyPr wrap="square"/>
                    <a:lstStyle/>
                    <a:p>
                      <a:pPr>
                        <a:defRPr sz="1300" b="0">
                          <a:solidFill>
                            <a:srgbClr val="232B33"/>
                          </a:solidFill>
                        </a:defRPr>
                      </a:pPr>
                      <a:r>
                        <a:t>Greedy rescue — reassign stranded tasks one by one</a:t>
                      </a:r>
                    </a:p>
                  </a:txBody>
                  <a:tcPr marT="38100" marB="38100" marL="76200" marR="76200">
                    <a:solidFill>
                      <a:srgbClr val="EDF2F7"/>
                    </a:solidFill>
                  </a:tcPr>
                </a:tc>
                <a:tc>
                  <a:txBody>
                    <a:bodyPr wrap="square"/>
                    <a:lstStyle/>
                    <a:p>
                      <a:pPr>
                        <a:defRPr sz="1300" b="0">
                          <a:solidFill>
                            <a:srgbClr val="232B33"/>
                          </a:solidFill>
                        </a:defRPr>
                      </a:pPr>
                      <a:r>
                        <a:t>Workflow completion time / deadline success rate</a:t>
                      </a:r>
                    </a:p>
                  </a:txBody>
                  <a:tcPr marT="38100" marB="38100" marL="76200" marR="76200">
                    <a:solidFill>
                      <a:srgbClr val="EDF2F7"/>
                    </a:solidFill>
                  </a:tcPr>
                </a:tc>
              </a:tr>
              <a:tr h="621792">
                <a:tc>
                  <a:txBody>
                    <a:bodyPr wrap="square"/>
                    <a:lstStyle/>
                    <a:p>
                      <a:pPr>
                        <a:defRPr sz="1300" b="0">
                          <a:solidFill>
                            <a:srgbClr val="232B33"/>
                          </a:solidFill>
                        </a:defRPr>
                      </a:pPr>
                      <a:r>
                        <a:t>Static — no repair (accuracy of whatever survives)</a:t>
                      </a:r>
                    </a:p>
                  </a:txBody>
                  <a:tcPr marT="38100" marB="38100" marL="76200" marR="76200">
                    <a:solidFill>
                      <a:srgbClr val="FFFFFF"/>
                    </a:solidFill>
                  </a:tcPr>
                </a:tc>
                <a:tc>
                  <a:txBody>
                    <a:bodyPr wrap="square"/>
                    <a:lstStyle/>
                    <a:p>
                      <a:pPr>
                        <a:defRPr sz="1300" b="0">
                          <a:solidFill>
                            <a:srgbClr val="232B33"/>
                          </a:solidFill>
                        </a:defRPr>
                      </a:pPr>
                      <a:r>
                        <a:t>Communication cost + data re-shipped</a:t>
                      </a:r>
                    </a:p>
                  </a:txBody>
                  <a:tcPr marT="38100" marB="38100" marL="76200" marR="76200">
                    <a:solidFill>
                      <a:srgbClr val="FFFFFF"/>
                    </a:solidFill>
                  </a:tcPr>
                </a:tc>
              </a:tr>
              <a:tr h="621792">
                <a:tc>
                  <a:txBody>
                    <a:bodyPr wrap="square"/>
                    <a:lstStyle/>
                    <a:p>
                      <a:pPr>
                        <a:defRPr sz="1300" b="0">
                          <a:solidFill>
                            <a:srgbClr val="232B33"/>
                          </a:solidFill>
                        </a:defRPr>
                      </a:pPr>
                      <a:r>
                        <a:t>MILP repair on small cases — the quality reference</a:t>
                      </a:r>
                    </a:p>
                  </a:txBody>
                  <a:tcPr marT="38100" marB="38100" marL="76200" marR="76200">
                    <a:solidFill>
                      <a:srgbClr val="EDF2F7"/>
                    </a:solidFill>
                  </a:tcPr>
                </a:tc>
                <a:tc>
                  <a:txBody>
                    <a:bodyPr wrap="square"/>
                    <a:lstStyle/>
                    <a:p>
                      <a:pPr>
                        <a:defRPr sz="1300" b="0">
                          <a:solidFill>
                            <a:srgbClr val="232B33"/>
                          </a:solidFill>
                        </a:defRPr>
                      </a:pPr>
                      <a:r>
                        <a:t>Tasks moved; energy; repaired-schedule quality</a:t>
                      </a:r>
                    </a:p>
                  </a:txBody>
                  <a:tcPr marT="38100" marB="38100" marL="76200" marR="76200">
                    <a:solidFill>
                      <a:srgbClr val="EDF2F7"/>
                    </a:solidFill>
                  </a:tcPr>
                </a:tc>
              </a:tr>
            </a:tbl>
          </a:graphicData>
        </a:graphic>
      </p:graphicFrame>
      <p:sp>
        <p:nvSpPr>
          <p:cNvPr id="8" name="Rectangle 7"/>
          <p:cNvSpPr/>
          <p:nvPr/>
        </p:nvSpPr>
        <p:spPr>
          <a:xfrm>
            <a:off x="640080" y="5440680"/>
            <a:ext cx="10881360" cy="86868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5440680"/>
            <a:ext cx="109728"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513832"/>
            <a:ext cx="10424160" cy="722375"/>
          </a:xfrm>
          <a:prstGeom prst="rect">
            <a:avLst/>
          </a:prstGeom>
          <a:noFill/>
        </p:spPr>
        <p:txBody>
          <a:bodyPr wrap="square" anchor="ctr">
            <a:spAutoFit/>
          </a:bodyPr>
          <a:lstStyle/>
          <a:p>
            <a:pPr>
              <a:defRPr sz="1400" b="0">
                <a:solidFill>
                  <a:srgbClr val="232B33"/>
                </a:solidFill>
              </a:defRPr>
            </a:pPr>
            <a:r>
              <a:t>Take-away:  the Part II platform supplies the baselines and the failure-injection machinery — the testbed already exists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Experiment design — and hypotheses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6  |  Evaluation plan &amp; timeline</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41</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600">
                <a:solidFill>
                  <a:srgbClr val="232B33"/>
                </a:solidFill>
              </a:defRPr>
            </a:pPr>
            <a:r>
              <a:t>Failure injection:</a:t>
            </a:r>
          </a:p>
          <a:p>
            <a:pPr lvl="1">
              <a:spcAft>
                <a:spcPts val="700"/>
              </a:spcAft>
              <a:defRPr sz="1400">
                <a:solidFill>
                  <a:srgbClr val="5A646E"/>
                </a:solidFill>
              </a:defRPr>
            </a:pPr>
            <a:r>
              <a:t>  location — critical-path resource vs peripheral</a:t>
            </a:r>
          </a:p>
          <a:p>
            <a:pPr lvl="1">
              <a:spcAft>
                <a:spcPts val="700"/>
              </a:spcAft>
              <a:defRPr sz="1400">
                <a:solidFill>
                  <a:srgbClr val="5A646E"/>
                </a:solidFill>
              </a:defRPr>
            </a:pPr>
            <a:r>
              <a:t>  count — single vs multi-resource failure</a:t>
            </a:r>
          </a:p>
          <a:p>
            <a:pPr lvl="1">
              <a:spcAft>
                <a:spcPts val="700"/>
              </a:spcAft>
              <a:defRPr sz="1400">
                <a:solidFill>
                  <a:srgbClr val="5A646E"/>
                </a:solidFill>
              </a:defRPr>
            </a:pPr>
            <a:r>
              <a:t>  timing — how much deadline slack remains at tau</a:t>
            </a:r>
          </a:p>
          <a:p>
            <a:pPr>
              <a:spcAft>
                <a:spcPts val="700"/>
              </a:spcAft>
              <a:defRPr sz="1600">
                <a:solidFill>
                  <a:srgbClr val="232B33"/>
                </a:solidFill>
              </a:defRPr>
            </a:pPr>
            <a:r>
              <a:t>Scale: workflow n in {10, 100, 1000}; federation N in {2 ... 10}</a:t>
            </a:r>
          </a:p>
          <a:p>
            <a:pPr>
              <a:spcAft>
                <a:spcPts val="700"/>
              </a:spcAft>
              <a:defRPr sz="1600">
                <a:solidFill>
                  <a:srgbClr val="232B33"/>
                </a:solidFill>
              </a:defRPr>
            </a:pPr>
            <a:r>
              <a:t>Hypotheses:</a:t>
            </a:r>
          </a:p>
          <a:p>
            <a:pPr lvl="1">
              <a:spcAft>
                <a:spcPts val="700"/>
              </a:spcAft>
              <a:defRPr sz="1400">
                <a:solidFill>
                  <a:srgbClr val="5A646E"/>
                </a:solidFill>
              </a:defRPr>
            </a:pPr>
            <a:r>
              <a:t>  H1: recovery time &lt;&lt; complete repartition, growing with |A| not |T|</a:t>
            </a:r>
          </a:p>
          <a:p>
            <a:pPr lvl="1">
              <a:spcAft>
                <a:spcPts val="700"/>
              </a:spcAft>
              <a:defRPr sz="1400">
                <a:solidFill>
                  <a:srgbClr val="5A646E"/>
                </a:solidFill>
              </a:defRPr>
            </a:pPr>
            <a:r>
              <a:t>  H2: tasks moved / data re-shipped &lt;&lt; baselines at equal feasibility</a:t>
            </a:r>
          </a:p>
          <a:p>
            <a:pPr lvl="1">
              <a:spcAft>
                <a:spcPts val="700"/>
              </a:spcAft>
              <a:defRPr sz="1400">
                <a:solidFill>
                  <a:srgbClr val="5A646E"/>
                </a:solidFill>
              </a:defRPr>
            </a:pPr>
            <a:r>
              <a:t>  H3: quality stays within x% of MILP repair on small cases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Timeline — 12 months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6  |  Evaluation plan &amp; timeline</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42</a:t>
            </a:r>
          </a:p>
        </p:txBody>
      </p:sp>
      <p:graphicFrame>
        <p:nvGraphicFramePr>
          <p:cNvPr id="7" name="Table 6"/>
          <p:cNvGraphicFramePr>
            <a:graphicFrameLocks noGrp="1"/>
          </p:cNvGraphicFramePr>
          <p:nvPr/>
        </p:nvGraphicFramePr>
        <p:xfrm>
          <a:off x="731520" y="1280160"/>
          <a:ext cx="10698480" cy="4023360"/>
        </p:xfrm>
        <a:graphic>
          <a:graphicData uri="http://schemas.openxmlformats.org/drawingml/2006/table">
            <a:tbl>
              <a:tblPr firstRow="1" bandRow="1">
                <a:tableStyleId>{5C22544A-7EE6-4342-B048-85BDC9FD1C3A}</a:tableStyleId>
              </a:tblPr>
              <a:tblGrid>
                <a:gridCol w="1280160"/>
                <a:gridCol w="6400800"/>
                <a:gridCol w="3017520"/>
              </a:tblGrid>
              <a:tr h="804672">
                <a:tc>
                  <a:txBody>
                    <a:bodyPr wrap="square"/>
                    <a:lstStyle/>
                    <a:p>
                      <a:pPr>
                        <a:defRPr sz="1200" b="1">
                          <a:solidFill>
                            <a:srgbClr val="FFFFFF"/>
                          </a:solidFill>
                        </a:defRPr>
                      </a:pPr>
                      <a:r>
                        <a:t>Months</a:t>
                      </a:r>
                    </a:p>
                  </a:txBody>
                  <a:tcPr marT="38100" marB="38100" marL="76200" marR="76200">
                    <a:solidFill>
                      <a:srgbClr val="0B2A4A"/>
                    </a:solidFill>
                  </a:tcPr>
                </a:tc>
                <a:tc>
                  <a:txBody>
                    <a:bodyPr wrap="square"/>
                    <a:lstStyle/>
                    <a:p>
                      <a:pPr>
                        <a:defRPr sz="1200" b="1">
                          <a:solidFill>
                            <a:srgbClr val="FFFFFF"/>
                          </a:solidFill>
                        </a:defRPr>
                      </a:pPr>
                      <a:r>
                        <a:t>Milestone</a:t>
                      </a:r>
                    </a:p>
                  </a:txBody>
                  <a:tcPr marT="38100" marB="38100" marL="76200" marR="76200">
                    <a:solidFill>
                      <a:srgbClr val="0B2A4A"/>
                    </a:solidFill>
                  </a:tcPr>
                </a:tc>
                <a:tc>
                  <a:txBody>
                    <a:bodyPr wrap="square"/>
                    <a:lstStyle/>
                    <a:p>
                      <a:pPr>
                        <a:defRPr sz="1200" b="1">
                          <a:solidFill>
                            <a:srgbClr val="FFFFFF"/>
                          </a:solidFill>
                        </a:defRPr>
                      </a:pPr>
                      <a:r>
                        <a:t>Deliverable</a:t>
                      </a:r>
                    </a:p>
                  </a:txBody>
                  <a:tcPr marT="38100" marB="38100" marL="76200" marR="76200">
                    <a:solidFill>
                      <a:srgbClr val="0B2A4A"/>
                    </a:solidFill>
                  </a:tcPr>
                </a:tc>
              </a:tr>
              <a:tr h="804672">
                <a:tc>
                  <a:txBody>
                    <a:bodyPr wrap="square"/>
                    <a:lstStyle/>
                    <a:p>
                      <a:pPr>
                        <a:defRPr sz="1200" b="0">
                          <a:solidFill>
                            <a:srgbClr val="232B33"/>
                          </a:solidFill>
                        </a:defRPr>
                      </a:pPr>
                      <a:r>
                        <a:t>1-3</a:t>
                      </a:r>
                    </a:p>
                  </a:txBody>
                  <a:tcPr marT="38100" marB="38100" marL="76200" marR="76200">
                    <a:solidFill>
                      <a:srgbClr val="FFFFFF"/>
                    </a:solidFill>
                  </a:tcPr>
                </a:tc>
                <a:tc>
                  <a:txBody>
                    <a:bodyPr wrap="square"/>
                    <a:lstStyle/>
                    <a:p>
                      <a:pPr>
                        <a:defRPr sz="1200" b="0">
                          <a:solidFill>
                            <a:srgbClr val="232B33"/>
                          </a:solidFill>
                        </a:defRPr>
                      </a:pPr>
                      <a:r>
                        <a:t>Extend simulator to resource failures; boundary rule + affected-subgraph extraction; complete-repartition baseline</a:t>
                      </a:r>
                    </a:p>
                  </a:txBody>
                  <a:tcPr marT="38100" marB="38100" marL="76200" marR="76200">
                    <a:solidFill>
                      <a:srgbClr val="FFFFFF"/>
                    </a:solidFill>
                  </a:tcPr>
                </a:tc>
                <a:tc>
                  <a:txBody>
                    <a:bodyPr wrap="square"/>
                    <a:lstStyle/>
                    <a:p>
                      <a:pPr>
                        <a:defRPr sz="1200" b="0">
                          <a:solidFill>
                            <a:srgbClr val="232B33"/>
                          </a:solidFill>
                        </a:defRPr>
                      </a:pPr>
                      <a:r>
                        <a:t>RQ1 implemented; baseline working</a:t>
                      </a:r>
                    </a:p>
                  </a:txBody>
                  <a:tcPr marT="38100" marB="38100" marL="76200" marR="76200">
                    <a:solidFill>
                      <a:srgbClr val="FFFFFF"/>
                    </a:solidFill>
                  </a:tcPr>
                </a:tc>
              </a:tr>
              <a:tr h="804672">
                <a:tc>
                  <a:txBody>
                    <a:bodyPr wrap="square"/>
                    <a:lstStyle/>
                    <a:p>
                      <a:pPr>
                        <a:defRPr sz="1200" b="0">
                          <a:solidFill>
                            <a:srgbClr val="232B33"/>
                          </a:solidFill>
                        </a:defRPr>
                      </a:pPr>
                      <a:r>
                        <a:t>4-6</a:t>
                      </a:r>
                    </a:p>
                  </a:txBody>
                  <a:tcPr marT="38100" marB="38100" marL="76200" marR="76200">
                    <a:solidFill>
                      <a:srgbClr val="EDF2F7"/>
                    </a:solidFill>
                  </a:tcPr>
                </a:tc>
                <a:tc>
                  <a:txBody>
                    <a:bodyPr wrap="square"/>
                    <a:lstStyle/>
                    <a:p>
                      <a:pPr>
                        <a:defRPr sz="1200" b="0">
                          <a:solidFill>
                            <a:srgbClr val="232B33"/>
                          </a:solidFill>
                        </a:defRPr>
                      </a:pPr>
                      <a:r>
                        <a:t>Repartition algorithm + replacement selection; incremental SPT update</a:t>
                      </a:r>
                    </a:p>
                  </a:txBody>
                  <a:tcPr marT="38100" marB="38100" marL="76200" marR="76200">
                    <a:solidFill>
                      <a:srgbClr val="EDF2F7"/>
                    </a:solidFill>
                  </a:tcPr>
                </a:tc>
                <a:tc>
                  <a:txBody>
                    <a:bodyPr wrap="square"/>
                    <a:lstStyle/>
                    <a:p>
                      <a:pPr>
                        <a:defRPr sz="1200" b="0">
                          <a:solidFill>
                            <a:srgbClr val="232B33"/>
                          </a:solidFill>
                        </a:defRPr>
                      </a:pPr>
                      <a:r>
                        <a:t>RQ2 + RQ3 implemented</a:t>
                      </a:r>
                    </a:p>
                  </a:txBody>
                  <a:tcPr marT="38100" marB="38100" marL="76200" marR="76200">
                    <a:solidFill>
                      <a:srgbClr val="EDF2F7"/>
                    </a:solidFill>
                  </a:tcPr>
                </a:tc>
              </a:tr>
              <a:tr h="804672">
                <a:tc>
                  <a:txBody>
                    <a:bodyPr wrap="square"/>
                    <a:lstStyle/>
                    <a:p>
                      <a:pPr>
                        <a:defRPr sz="1200" b="0">
                          <a:solidFill>
                            <a:srgbClr val="232B33"/>
                          </a:solidFill>
                        </a:defRPr>
                      </a:pPr>
                      <a:r>
                        <a:t>7-9</a:t>
                      </a:r>
                    </a:p>
                  </a:txBody>
                  <a:tcPr marT="38100" marB="38100" marL="76200" marR="76200">
                    <a:solidFill>
                      <a:srgbClr val="FFFFFF"/>
                    </a:solidFill>
                  </a:tcPr>
                </a:tc>
                <a:tc>
                  <a:txBody>
                    <a:bodyPr wrap="square"/>
                    <a:lstStyle/>
                    <a:p>
                      <a:pPr>
                        <a:defRPr sz="1200" b="0">
                          <a:solidFill>
                            <a:srgbClr val="232B33"/>
                          </a:solidFill>
                        </a:defRPr>
                      </a:pPr>
                      <a:r>
                        <a:t>Full baseline comparison; MILP reference on small cases; boundary-rule sensitivity</a:t>
                      </a:r>
                    </a:p>
                  </a:txBody>
                  <a:tcPr marT="38100" marB="38100" marL="76200" marR="76200">
                    <a:solidFill>
                      <a:srgbClr val="FFFFFF"/>
                    </a:solidFill>
                  </a:tcPr>
                </a:tc>
                <a:tc>
                  <a:txBody>
                    <a:bodyPr wrap="square"/>
                    <a:lstStyle/>
                    <a:p>
                      <a:pPr>
                        <a:defRPr sz="1200" b="0">
                          <a:solidFill>
                            <a:srgbClr val="232B33"/>
                          </a:solidFill>
                        </a:defRPr>
                      </a:pPr>
                      <a:r>
                        <a:t>H1-H3 tested</a:t>
                      </a:r>
                    </a:p>
                  </a:txBody>
                  <a:tcPr marT="38100" marB="38100" marL="76200" marR="76200">
                    <a:solidFill>
                      <a:srgbClr val="FFFFFF"/>
                    </a:solidFill>
                  </a:tcPr>
                </a:tc>
              </a:tr>
              <a:tr h="804672">
                <a:tc>
                  <a:txBody>
                    <a:bodyPr wrap="square"/>
                    <a:lstStyle/>
                    <a:p>
                      <a:pPr>
                        <a:defRPr sz="1200" b="0">
                          <a:solidFill>
                            <a:srgbClr val="232B33"/>
                          </a:solidFill>
                        </a:defRPr>
                      </a:pPr>
                      <a:r>
                        <a:t>10-12</a:t>
                      </a:r>
                    </a:p>
                  </a:txBody>
                  <a:tcPr marT="38100" marB="38100" marL="76200" marR="76200">
                    <a:solidFill>
                      <a:srgbClr val="EDF2F7"/>
                    </a:solidFill>
                  </a:tcPr>
                </a:tc>
                <a:tc>
                  <a:txBody>
                    <a:bodyPr wrap="square"/>
                    <a:lstStyle/>
                    <a:p>
                      <a:pPr>
                        <a:defRPr sz="1200" b="0">
                          <a:solidFill>
                            <a:srgbClr val="232B33"/>
                          </a:solidFill>
                        </a:defRPr>
                      </a:pPr>
                      <a:r>
                        <a:t>Write the paper; release code on the public repository; submit</a:t>
                      </a:r>
                    </a:p>
                  </a:txBody>
                  <a:tcPr marT="38100" marB="38100" marL="76200" marR="76200">
                    <a:solidFill>
                      <a:srgbClr val="EDF2F7"/>
                    </a:solidFill>
                  </a:tcPr>
                </a:tc>
                <a:tc>
                  <a:txBody>
                    <a:bodyPr wrap="square"/>
                    <a:lstStyle/>
                    <a:p>
                      <a:pPr>
                        <a:defRPr sz="1200" b="0">
                          <a:solidFill>
                            <a:srgbClr val="232B33"/>
                          </a:solidFill>
                        </a:defRPr>
                      </a:pPr>
                      <a:r>
                        <a:t>Paper + artifact</a:t>
                      </a:r>
                    </a:p>
                  </a:txBody>
                  <a:tcPr marT="38100" marB="38100" marL="76200" marR="76200">
                    <a:solidFill>
                      <a:srgbClr val="EDF2F7"/>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Risks and mitigations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6  |  Evaluation plan &amp; timeline</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43</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600">
                <a:solidFill>
                  <a:srgbClr val="232B33"/>
                </a:solidFill>
              </a:defRPr>
            </a:pPr>
            <a:r>
              <a:t>Risk: boundary rule degenerates to 'repartition everything'</a:t>
            </a:r>
          </a:p>
          <a:p>
            <a:pPr lvl="1">
              <a:spcAft>
                <a:spcPts val="700"/>
              </a:spcAft>
              <a:defRPr sz="1400">
                <a:solidFill>
                  <a:srgbClr val="5A646E"/>
                </a:solidFill>
              </a:defRPr>
            </a:pPr>
            <a:r>
              <a:t>  mitigate: cap on |A|; sensitivity study vs failure location and slack</a:t>
            </a:r>
          </a:p>
          <a:p>
            <a:pPr>
              <a:spcAft>
                <a:spcPts val="700"/>
              </a:spcAft>
              <a:defRPr sz="1600">
                <a:solidFill>
                  <a:srgbClr val="232B33"/>
                </a:solidFill>
              </a:defRPr>
            </a:pPr>
            <a:r>
              <a:t>Risk: incremental SPT does not pay at small graphs</a:t>
            </a:r>
          </a:p>
          <a:p>
            <a:pPr lvl="1">
              <a:spcAft>
                <a:spcPts val="700"/>
              </a:spcAft>
              <a:defRPr sz="1400">
                <a:solidFill>
                  <a:srgbClr val="5A646E"/>
                </a:solidFill>
              </a:defRPr>
            </a:pPr>
            <a:r>
              <a:t>  mitigate: measure the break-even; keep full recompute as a baseline</a:t>
            </a:r>
          </a:p>
          <a:p>
            <a:pPr>
              <a:spcAft>
                <a:spcPts val="700"/>
              </a:spcAft>
              <a:defRPr sz="1600">
                <a:solidFill>
                  <a:srgbClr val="232B33"/>
                </a:solidFill>
              </a:defRPr>
            </a:pPr>
            <a:r>
              <a:t>Risk: region repair trails MILP quality</a:t>
            </a:r>
          </a:p>
          <a:p>
            <a:pPr lvl="1">
              <a:spcAft>
                <a:spcPts val="700"/>
              </a:spcAft>
              <a:defRPr sz="1400">
                <a:solidFill>
                  <a:srgbClr val="5A646E"/>
                </a:solidFill>
              </a:defRPr>
            </a:pPr>
            <a:r>
              <a:t>  mitigate: hybrid — greedy repair at scale, MILP repair for small regions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Conclusion — what this research contributes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7  |  Conclusion</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44</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700">
                <a:solidFill>
                  <a:srgbClr val="232B33"/>
                </a:solidFill>
              </a:defRPr>
            </a:pPr>
            <a:r>
              <a:t>Completed:  a proved, data-aware formulation + four schedulers + a reproducible platform</a:t>
            </a:r>
          </a:p>
          <a:p>
            <a:pPr>
              <a:spcAft>
                <a:spcPts val="700"/>
              </a:spcAft>
              <a:defRPr sz="1700">
                <a:solidFill>
                  <a:srgbClr val="232B33"/>
                </a:solidFill>
              </a:defRPr>
            </a:pPr>
            <a:r>
              <a:t>Proposed contribution 1:  a principled boundary rule for the smallest affected DAG region (RQ1)</a:t>
            </a:r>
          </a:p>
          <a:p>
            <a:pPr>
              <a:spcAft>
                <a:spcPts val="700"/>
              </a:spcAft>
              <a:defRPr sz="1700">
                <a:solidFill>
                  <a:srgbClr val="232B33"/>
                </a:solidFill>
              </a:defRPr>
            </a:pPr>
            <a:r>
              <a:t>Proposed contribution 2:  minimal-region repartitioning under a recovery cost model (RQ2)</a:t>
            </a:r>
          </a:p>
          <a:p>
            <a:pPr>
              <a:spcAft>
                <a:spcPts val="700"/>
              </a:spcAft>
              <a:defRPr sz="1700">
                <a:solidFill>
                  <a:srgbClr val="232B33"/>
                </a:solidFill>
              </a:defRPr>
            </a:pPr>
            <a:r>
              <a:t>Proposed contribution 3:  incremental path updates for workflow recovery (RQ3)</a:t>
            </a:r>
          </a:p>
          <a:p>
            <a:pPr>
              <a:spcAft>
                <a:spcPts val="700"/>
              </a:spcAft>
              <a:defRPr sz="1700">
                <a:solidFill>
                  <a:srgbClr val="232B33"/>
                </a:solidFill>
              </a:defRPr>
            </a:pPr>
            <a:r>
              <a:t>Expected outcome:  faster recovery with less disturbance than full repartition, at near-reference quality</a:t>
            </a:r>
          </a:p>
          <a:p>
            <a:pPr>
              <a:spcAft>
                <a:spcPts val="700"/>
              </a:spcAft>
              <a:defRPr sz="1700">
                <a:solidFill>
                  <a:srgbClr val="232B33"/>
                </a:solidFill>
              </a:defRPr>
            </a:pPr>
          </a:p>
          <a:p>
            <a:pPr>
              <a:spcAft>
                <a:spcPts val="700"/>
              </a:spcAft>
              <a:defRPr sz="1700">
                <a:solidFill>
                  <a:srgbClr val="232B33"/>
                </a:solidFill>
              </a:defRPr>
            </a:pPr>
            <a:r>
              <a:t>Paper 1 placed the workflow; Paper 2 priced its data and approximation; Paper 3 keeps it alive when the infrastructure fails.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108960"/>
            <a:ext cx="12191695" cy="82296"/>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286000"/>
            <a:ext cx="10332720" cy="1097280"/>
          </a:xfrm>
          <a:prstGeom prst="rect">
            <a:avLst/>
          </a:prstGeom>
          <a:noFill/>
        </p:spPr>
        <p:txBody>
          <a:bodyPr wrap="none">
            <a:spAutoFit/>
          </a:bodyPr>
          <a:lstStyle/>
          <a:p>
            <a:pPr algn="ctr">
              <a:defRPr sz="4800" b="1">
                <a:solidFill>
                  <a:srgbClr val="FFFFFF"/>
                </a:solidFill>
              </a:defRPr>
            </a:pPr>
            <a:r>
              <a:t>Thank you</a:t>
            </a:r>
          </a:p>
        </p:txBody>
      </p:sp>
      <p:sp>
        <p:nvSpPr>
          <p:cNvPr id="5" name="TextBox 4"/>
          <p:cNvSpPr txBox="1"/>
          <p:nvPr/>
        </p:nvSpPr>
        <p:spPr>
          <a:xfrm>
            <a:off x="914400" y="3657600"/>
            <a:ext cx="10332720" cy="1463040"/>
          </a:xfrm>
          <a:prstGeom prst="rect">
            <a:avLst/>
          </a:prstGeom>
          <a:noFill/>
        </p:spPr>
        <p:txBody>
          <a:bodyPr wrap="square">
            <a:spAutoFit/>
          </a:bodyPr>
          <a:lstStyle/>
          <a:p>
            <a:pPr algn="ctr">
              <a:defRPr sz="2000">
                <a:solidFill>
                  <a:srgbClr val="EDF2F7"/>
                </a:solidFill>
              </a:defRPr>
            </a:pPr>
            <a:r>
              <a:t>Questions &amp; discussion</a:t>
            </a:r>
          </a:p>
          <a:p>
            <a:pPr algn="ctr">
              <a:defRPr sz="1500">
                <a:solidFill>
                  <a:srgbClr val="E0A41E"/>
                </a:solidFill>
              </a:defRPr>
            </a:pPr>
            <a:r>
              <a:t>github.com/gayanigupta/data-aware-scheduling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