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3833707"/>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task graph (left) mapped onto the machine graph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The bound: run every task completely and ignore the links — the best score any schedule could report</a:t>
            </a:r>
          </a:p>
          <a:p>
            <a:pPr>
              <a:spcAft>
                <a:spcPts val="1000"/>
              </a:spcAft>
              <a:defRPr sz="1800">
                <a:solidFill>
                  <a:srgbClr val="595959"/>
                </a:solidFill>
              </a:defRPr>
            </a:pPr>
            <a:r>
              <a:t>      – no feasible schedule can beat it; every score is read against it</a:t>
            </a:r>
          </a:p>
          <a:p>
            <a:pPr>
              <a:spcAft>
                <a:spcPts val="1000"/>
              </a:spcAft>
              <a:defRPr sz="2000">
                <a:solidFill>
                  <a:srgbClr val="1A1A1A"/>
                </a:solidFill>
              </a:defRPr>
            </a:pPr>
            <a:r>
              <a:t>•  The blind baseline: prices computation but not the links</a:t>
            </a:r>
          </a:p>
          <a:p>
            <a:pPr>
              <a:spcAft>
                <a:spcPts val="1000"/>
              </a:spcAft>
              <a:defRPr sz="1800">
                <a:solidFill>
                  <a:srgbClr val="595959"/>
                </a:solidFill>
              </a:defRPr>
            </a:pPr>
            <a:r>
              <a:t>      – it reports bound-level scores on schedules that are actually infeasible</a:t>
            </a:r>
          </a:p>
          <a:p>
            <a:pPr>
              <a:spcAft>
                <a:spcPts val="1000"/>
              </a:spcAft>
              <a:defRPr sz="2000">
                <a:solidFill>
                  <a:srgbClr val="1A1A1A"/>
                </a:solidFill>
              </a:defRPr>
            </a:pPr>
            <a:r>
              <a:t>•  Together they frame the question the experiments answer: how close can each method get, and at what cost?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Recovery cost = added makespan + tasks moved + data re-shipped</a:t>
            </a:r>
          </a:p>
          <a:p>
            <a:pPr>
              <a:spcAft>
                <a:spcPts val="1000"/>
              </a:spcAft>
              <a:defRPr sz="2000">
                <a:solidFill>
                  <a:srgbClr val="1A1A1A"/>
                </a:solidFill>
              </a:defRPr>
            </a:pPr>
            <a:r>
              <a:t>•  Added makespan — how much later the workflow finishes</a:t>
            </a:r>
          </a:p>
          <a:p>
            <a:pPr>
              <a:spcAft>
                <a:spcPts val="1000"/>
              </a:spcAft>
              <a:defRPr sz="2000">
                <a:solidFill>
                  <a:srgbClr val="1A1A1A"/>
                </a:solidFill>
              </a:defRPr>
            </a:pPr>
            <a:r>
              <a:t>•  Tasks moved — how many placements had to change</a:t>
            </a:r>
          </a:p>
          <a:p>
            <a:pPr>
              <a:spcAft>
                <a:spcPts val="1000"/>
              </a:spcAft>
              <a:defRPr sz="2000">
                <a:solidFill>
                  <a:srgbClr val="1A1A1A"/>
                </a:solidFill>
              </a:defRPr>
            </a:pPr>
            <a:r>
              <a:t>•  Data re-shipped — the bytes that must travel to the new machines</a:t>
            </a:r>
          </a:p>
          <a:p>
            <a:pPr>
              <a:spcAft>
                <a:spcPts val="1000"/>
              </a:spcAft>
              <a:defRPr sz="2000">
                <a:solidFill>
                  <a:srgbClr val="1A1A1A"/>
                </a:solidFill>
              </a:defRPr>
            </a:pPr>
            <a:r>
              <a:t>•  Minimized subject to the deadline and the accuracy</a:t>
            </a:r>
          </a:p>
          <a:p>
            <a:pPr>
              <a:spcAft>
                <a:spcPts val="1000"/>
              </a:spcAft>
              <a:defRPr sz="1800">
                <a:solidFill>
                  <a:srgbClr val="595959"/>
                </a:solidFill>
              </a:defRPr>
            </a:pPr>
            <a:r>
              <a:t>      – each term is measured separately in the evaluation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a:t>
            </a:r>
          </a:p>
          <a:p>
            <a:pPr>
              <a:spcAft>
                <a:spcPts val="1000"/>
              </a:spcAft>
              <a:defRPr sz="2000">
                <a:solidFill>
                  <a:srgbClr val="1A1A1A"/>
                </a:solidFill>
              </a:defRPr>
            </a:pPr>
            <a:r>
              <a:t>•  Then admit a neighbor only while it fails a stay-test:</a:t>
            </a:r>
          </a:p>
          <a:p>
            <a:pPr>
              <a:spcAft>
                <a:spcPts val="1000"/>
              </a:spcAft>
              <a:defRPr sz="1800">
                <a:solidFill>
                  <a:srgbClr val="595959"/>
                </a:solidFill>
              </a:defRPr>
            </a:pPr>
            <a:r>
              <a:t>      – deadline test – staying pushes its finish time past the remaining slack</a:t>
            </a:r>
          </a:p>
          <a:p>
            <a:pPr>
              <a:spcAft>
                <a:spcPts val="1000"/>
              </a:spcAft>
              <a:defRPr sz="1800">
                <a:solidFill>
                  <a:srgbClr val="595959"/>
                </a:solidFill>
              </a:defRPr>
            </a:pPr>
            <a:r>
              <a:t>      – locality test – staying strands its input on a path too slow to serve it in time</a:t>
            </a:r>
          </a:p>
          <a:p>
            <a:pPr>
              <a:spcAft>
                <a:spcPts val="1000"/>
              </a:spcAft>
              <a:defRPr sz="2000">
                <a:solidFill>
                  <a:srgbClr val="1A1A1A"/>
                </a:solidFill>
              </a:defRPr>
            </a:pPr>
            <a:r>
              <a:t>•  Stop when no neighbor fails, or at a size cap</a:t>
            </a:r>
          </a:p>
          <a:p>
            <a:pPr>
              <a:spcAft>
                <a:spcPts val="1000"/>
              </a:spcAft>
              <a:defRPr sz="2000">
                <a:solidFill>
                  <a:srgbClr val="1A1A1A"/>
                </a:solidFill>
              </a:defRPr>
            </a:pPr>
            <a:r>
              <a:t>•  The tasks that stayed put become fixed anchors the repair must respect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