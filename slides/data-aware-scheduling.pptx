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This talk is about scheduling workflows on federated fog systems when the cloud is out of reach — think disaster response. The story: the problem, the model, four schedulers, five experiments, and what we learned.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river basin flooding. A workflow runs: rainfall sensors feed a runoff model, that feeds a flood-forecast model, that feeds evacuation planning and public alerts. Every stage hands data to the next. The deadline is not soft — a forecast that arrives after the water is useless. Now: during the storm, the uplink to the cloud is degraded or dead. The compute must happen on machines close to the disaster area.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fog site — a cell-tower rack, a roadside cabinet, a ship's server — rarely has the capacity to run the whole workflow in time. But several nearby sites share fast local links. Federating them gives a small local cloud. The catch: now every task has a choice of where to run, and that choice has a price — the data has to move.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a directed acyclic graph: tasks are nodes, dependencies are edges. On each edge rides a chunk of data — tens of units in our model, which at realistic link speeds can take as long to move as the task itself takes to run. That is the first lever. The second: many of these tasks are iterative models — a hydrology model, a tracker — that can run partially and still return something useful.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problem is: place every task on a node, choose how much of each task to run, so that the whole DAG finishes before the deadline and the average accuracy is as high as possible. Two things make it interesting. First, data movement is a first-class cost — the fastest node for a task can be the worst choice once you pay for shipping its input. Second, accuracy is a knob, not a constant — when the deadline is tight you can buy time by giving back some accuracy.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DAG schedulers — HEFT is the standard reference — rank tasks and place each where it finishes earliest. They assume every task runs to completion and treat transfer time as a fixed edge weight. Fog schedulers mostly do capacity and placement, ignoring approximate execution. Nobody combines: per-edge data volume, per-link bandwidth, and a per-task execution fraction, under one deadline, on a federation.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decisions per task: which node (e_ia), what fraction (l_ia), when it starts (M_ia). The objective maximizes average accuracy. Constraints force each task onto exactly one eligible node, make a task wait for every predecessor to finish AND its data to arrive — that is where the D over B term enters — and keep every task's completion time inside the deadline. Deadline feasibility is the same bound used in the paper's proofs; the linearization is solver-ready.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the problem is NP-hard, we also built three scalable schedulers that all share the same communication-cost model — so any difference in the results is about the algorithm, not the accounting. Randomized rounding: solve the LP relaxation, sample each task's node from the fractional solution, re-solve the LP for the fractions. Greedy: priority order, earliest-finish placement, retry with smaller fractions if late. GA: chromosome encodes assignment plus fractions.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discrete-event simulator in Python — NumPy and SciPy's HiGHS solver. Parameters are chosen so the problem is contested: runtimes 1–5, edge payloads 5–50, link bandwidth 10–100 — so a transfer can genuinely rival a task. Four datasets from 10 tasks/3 nodes up to 1000 tasks/10 nodes. Five parameter sweeps. The yardstick in every plot: the max-accuracy bound — run everything fully — drawn as the dashed line. Plus a bandwidth-blind greedy in the link sweep to show what ignoring data costs.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sweep varies one thing and holds the rest fixed. Slack: how tight is the deadline? Federation: how many nodes? Workflow: how many tasks? Failures: what if tasks crash and retry once? Bandwidth: what if the local links degrade? Five reps each, fresh random instances.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alpha = 1.0 the deadline barely fits. MILP leads at 1.38 against a bound of 1.43; rounding 1.25, greedy 1.23, GA 1.20. The ranking you see here is the paper's ranking under pressure. Loosen the deadline and the picture flips: greedy reaches the bound from alpha = 1.2, MILP by 1.5. But rounding and the GA never fully close the gap even at alpha = 2.0 — a fixed sampling budget does not recover the bound.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the federation from 2 to 10 nodes. MILP and greedy sit exactly on the bound at every size. The GA drifts from about 1.5% below the bound at N=2 to about 8% below at N=10; rounding matches only at N=2 and ends ~8% short. Why? Each node's chromosome/placement space grows, but the search budget is fixed. And notice — extra nodes never push anyone above the bound. They buy feasible placements, not accuracy.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scale the workflow itself. At n=10 every method is on the bound — too small to separate them. At n=100 the GA is first to drift (1.26 vs bound ~1.40). At n=1000 the MILP exceeds our 800-variable cap and drops out; rounding survives (1.37) but at roughly 93 seconds per LP re-solve, ~5-6 minutes per run; the GA falls to 1.10 in ~159 seconds. The greedy — milliseconds — stays on the bound. At 1000 tasks it is the only method that is both fast and optimal-accuracy.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agrees with the sweep. Small and medium: MILP, greedy — and at small scale also rounding and GA — hit the same score; greedy just does it in microseconds with the shortest makespan. Large and xlarge: only greedy and GA run; greedy keeps ~1.41 while the GA falls to 1.17 then 1.13 — and its makespan actually exceeds the greedy's by ~40%, spending 73 seconds to lose.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tasks fail independently and retry once in place — a retry doubles that task's runtime but keeps its accuracy if it still finishes. So scores barely move with the failure rate — look at feasibility instead. The greedy stays feasible at every rate; MILP and GA drop to ~60% by 0.5; rounding only ~20%. Why is greedy so robust? It already finishes early — makespan 27-35 vs the MILP's 38-79 — leaving slack for a retry to absorb.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degrade every link — down to 5% of nominal bandwidth. The bandwidth-blind baseline is the cautionary tale: its scores look perfect, bound-level, at every degradation — because the score doesn't know the schedule is late. Feasibility tells the truth: 80% at 0.5x, 20% at 0.2x, zero below. Among data-aware methods: MILP stays feasible everywhere, losing ~10% score at 0.05x; greedy holds feasibility to 0.1x but pays heavily in accuracy; the GA fails at 0.05x; rounding only survives above 0.5x.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Separately from scheduling, we stress-tested the generators themselves: DAGs up to a million tasks generate in ~3 seconds with stable shape — depth grows like log n, ~3 edges per node. Resource graphs up to a million fog nodes generate in ~7 seconds, degree ~5, bandwidth range stable. These are structural instances: scheduling a million-task dense instance is out of reach for the LP-based methods — the honest boundary is where constraints and memory hit the wall.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takeaways. One: the scheduler matters most exactly where the deadline binds — at loose slack almost anything works. Two: accuracy under a binding deadline is not free — it costs solver time; the greedy's 0.15 seconds buys bound-level accuracy at 1000 tasks where the LP methods cost minutes. Three: data-awareness is what keeps schedules feasible as links degrade — the blind baseline's perfect scores are just late schedules. Four: fixed search budgets don't scale — the GA's quality decays with both n and 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MILP is capped at 800 assignment variables — beyond that it is the benchmark's boundary, not the result's. The LP grows ~10^5 rows at n=1000; our randomized rounding reduces trials as size grows, which is part of why its scores dip. The GA uses one fixed budget across all sizes. And the retry model is retry-once-in-place — no replication, no checkpointing, no migration to another node.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joint formulation — placement, execution fraction, data movement — proved, linearized, and solver-ready. Four schedulers on one cost model, five sweeps, honest scalability limits. Next: decomposed formulations to reach the million-task regime for real, adaptive GA budgets, richer failure semantics, and an online re-scheduler on a real fog testbed. Everything reproduces — code, data, executed notebook — at the repo.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371600"/>
            <a:ext cx="10332720" cy="2011680"/>
          </a:xfrm>
          <a:prstGeom prst="rect">
            <a:avLst/>
          </a:prstGeom>
          <a:noFill/>
        </p:spPr>
        <p:txBody>
          <a:bodyPr wrap="none">
            <a:spAutoFit/>
          </a:bodyPr>
          <a:lstStyle/>
          <a:p>
            <a:pPr algn="ctr">
              <a:defRPr sz="3600" b="1">
                <a:solidFill>
                  <a:srgbClr val="0D2C54"/>
                </a:solidFill>
              </a:defRPr>
            </a:pPr>
            <a:r>
              <a:t>Data-Aware Scheduling of Approximate DAG Workflows</a:t>
            </a:r>
            <a:br/>
            <a:r>
              <a:t>in Federated Fog Systems</a:t>
            </a:r>
          </a:p>
        </p:txBody>
      </p:sp>
      <p:sp>
        <p:nvSpPr>
          <p:cNvPr id="3" name="TextBox 2"/>
          <p:cNvSpPr txBox="1"/>
          <p:nvPr/>
        </p:nvSpPr>
        <p:spPr>
          <a:xfrm>
            <a:off x="914400" y="3657600"/>
            <a:ext cx="10332720" cy="2011680"/>
          </a:xfrm>
          <a:prstGeom prst="rect">
            <a:avLst/>
          </a:prstGeom>
          <a:noFill/>
        </p:spPr>
        <p:txBody>
          <a:bodyPr wrap="square">
            <a:spAutoFit/>
          </a:bodyPr>
          <a:lstStyle/>
          <a:p>
            <a:pPr algn="ctr">
              <a:defRPr sz="2000"/>
            </a:pPr>
            <a:r>
              <a:t>Gayani Gupta, Amisha Gupta, Mohsen Amini Salehi,</a:t>
            </a:r>
            <a:br/>
            <a:r>
              <a:t>Antonio Fernandez Anta, Sanjukta Bhowmick, Jose Aguilar</a:t>
            </a:r>
          </a:p>
          <a:p>
            <a:pPr algn="ctr">
              <a:defRPr sz="1400">
                <a:solidFill>
                  <a:srgbClr val="555555"/>
                </a:solidFill>
              </a:defRPr>
            </a:pPr>
            <a:r>
              <a:t>University of North Texas | UC Berkeley | IMDEA Networks | Universidad de Los Andes</a:t>
            </a:r>
          </a:p>
          <a:p>
            <a:pPr algn="ctr">
              <a:defRPr sz="1400">
                <a:solidFill>
                  <a:srgbClr val="555555"/>
                </a:solidFill>
              </a:defRPr>
            </a:pPr>
            <a:r>
              <a:t>github.com/gayanigupta/data-aware-scheduling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The scenario</a:t>
            </a:r>
          </a:p>
        </p:txBody>
      </p:sp>
      <p:sp>
        <p:nvSpPr>
          <p:cNvPr id="3" name="TextBox 2"/>
          <p:cNvSpPr txBox="1"/>
          <p:nvPr/>
        </p:nvSpPr>
        <p:spPr>
          <a:xfrm>
            <a:off x="548640" y="1097280"/>
            <a:ext cx="10972800" cy="5303520"/>
          </a:xfrm>
          <a:prstGeom prst="rect">
            <a:avLst/>
          </a:prstGeom>
          <a:noFill/>
        </p:spPr>
        <p:txBody>
          <a:bodyPr wrap="square">
            <a:spAutoFit/>
          </a:bodyPr>
          <a:lstStyle/>
          <a:p>
            <a:pPr>
              <a:spcAft>
                <a:spcPts val="800"/>
              </a:spcAft>
              <a:defRPr sz="1800">
                <a:solidFill>
                  <a:srgbClr val="212121"/>
                </a:solidFill>
              </a:defRPr>
            </a:pPr>
            <a:r>
              <a:t>A disaster unfolds: flood, wildfire, offshore incident</a:t>
            </a:r>
          </a:p>
          <a:p>
            <a:pPr>
              <a:spcAft>
                <a:spcPts val="800"/>
              </a:spcAft>
              <a:defRPr sz="1800">
                <a:solidFill>
                  <a:srgbClr val="212121"/>
                </a:solidFill>
              </a:defRPr>
            </a:pPr>
            <a:r>
              <a:t>Response systems run workflows of dependent tasks</a:t>
            </a:r>
          </a:p>
          <a:p>
            <a:pPr lvl="1">
              <a:spcAft>
                <a:spcPts val="800"/>
              </a:spcAft>
              <a:defRPr sz="1600">
                <a:solidFill>
                  <a:srgbClr val="555555"/>
                </a:solidFill>
              </a:defRPr>
            </a:pPr>
            <a:r>
              <a:t>  sense -&gt; model -&gt; predict -&gt; plan -&gt; alert</a:t>
            </a:r>
          </a:p>
          <a:p>
            <a:pPr lvl="1">
              <a:spcAft>
                <a:spcPts val="800"/>
              </a:spcAft>
              <a:defRPr sz="1600">
                <a:solidFill>
                  <a:srgbClr val="555555"/>
                </a:solidFill>
              </a:defRPr>
            </a:pPr>
            <a:r>
              <a:t>  each stage hands data to the next</a:t>
            </a:r>
          </a:p>
          <a:p>
            <a:pPr>
              <a:spcAft>
                <a:spcPts val="800"/>
              </a:spcAft>
              <a:defRPr sz="1800">
                <a:solidFill>
                  <a:srgbClr val="212121"/>
                </a:solidFill>
              </a:defRPr>
            </a:pPr>
            <a:r>
              <a:t>The deadline is hard: a forecast that arrives late is a forecast nobody uses</a:t>
            </a:r>
          </a:p>
          <a:p>
            <a:pPr>
              <a:spcAft>
                <a:spcPts val="800"/>
              </a:spcAft>
              <a:defRPr sz="1800">
                <a:solidFill>
                  <a:srgbClr val="212121"/>
                </a:solidFill>
              </a:defRPr>
            </a:pPr>
            <a:r>
              <a:t>Meanwhile the uplink to the cloud is degraded or gone</a:t>
            </a:r>
          </a:p>
          <a:p>
            <a:pPr>
              <a:spcAft>
                <a:spcPts val="800"/>
              </a:spcAft>
              <a:defRPr sz="1800">
                <a:solidFill>
                  <a:srgbClr val="212121"/>
                </a:solidFill>
              </a:defRPr>
            </a:pPr>
            <a:r>
              <a:t>So the computation must run on fog computers near the disaster area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One fog site is not enough — so sites federate</a:t>
            </a:r>
          </a:p>
        </p:txBody>
      </p:sp>
      <p:sp>
        <p:nvSpPr>
          <p:cNvPr id="3" name="TextBox 2"/>
          <p:cNvSpPr txBox="1"/>
          <p:nvPr/>
        </p:nvSpPr>
        <p:spPr>
          <a:xfrm>
            <a:off x="548640" y="1097280"/>
            <a:ext cx="6309360" cy="5303520"/>
          </a:xfrm>
          <a:prstGeom prst="rect">
            <a:avLst/>
          </a:prstGeom>
          <a:noFill/>
        </p:spPr>
        <p:txBody>
          <a:bodyPr wrap="square">
            <a:spAutoFit/>
          </a:bodyPr>
          <a:lstStyle/>
          <a:p>
            <a:pPr>
              <a:spcAft>
                <a:spcPts val="800"/>
              </a:spcAft>
              <a:defRPr sz="1800">
                <a:solidFill>
                  <a:srgbClr val="212121"/>
                </a:solidFill>
              </a:defRPr>
            </a:pPr>
            <a:r>
              <a:t>Fog sites near the event: cell-tower racks, roadside cabinets, platform servers</a:t>
            </a:r>
          </a:p>
          <a:p>
            <a:pPr>
              <a:spcAft>
                <a:spcPts val="800"/>
              </a:spcAft>
              <a:defRPr sz="1800">
                <a:solidFill>
                  <a:srgbClr val="212121"/>
                </a:solidFill>
              </a:defRPr>
            </a:pPr>
            <a:r>
              <a:t>Individually too weak; but they keep fast, stable links to each other even when the cloud link fails</a:t>
            </a:r>
          </a:p>
          <a:p>
            <a:pPr>
              <a:spcAft>
                <a:spcPts val="800"/>
              </a:spcAft>
              <a:defRPr sz="1800">
                <a:solidFill>
                  <a:srgbClr val="212121"/>
                </a:solidFill>
              </a:defRPr>
            </a:pPr>
            <a:r>
              <a:t>Federation = a small local cloud built from nearby sites</a:t>
            </a:r>
          </a:p>
          <a:p>
            <a:pPr>
              <a:spcAft>
                <a:spcPts val="800"/>
              </a:spcAft>
              <a:defRPr sz="1800">
                <a:solidFill>
                  <a:srgbClr val="212121"/>
                </a:solidFill>
              </a:defRPr>
            </a:pPr>
            <a:r>
              <a:t>The catch: every task can now run in many places —</a:t>
            </a:r>
          </a:p>
          <a:p>
            <a:pPr lvl="1">
              <a:spcAft>
                <a:spcPts val="800"/>
              </a:spcAft>
              <a:defRPr sz="1600">
                <a:solidFill>
                  <a:srgbClr val="555555"/>
                </a:solidFill>
              </a:defRPr>
            </a:pPr>
            <a:r>
              <a:t>  and wherever it runs, its input data has to get there first</a:t>
            </a:r>
          </a:p>
        </p:txBody>
      </p:sp>
      <p:pic>
        <p:nvPicPr>
          <p:cNvPr id="4" name="Picture 3" descr="federated-fog-architecture.png"/>
          <p:cNvPicPr>
            <a:picLocks noChangeAspect="1"/>
          </p:cNvPicPr>
          <p:nvPr/>
        </p:nvPicPr>
        <p:blipFill>
          <a:blip r:embed="rId3"/>
          <a:stretch>
            <a:fillRect/>
          </a:stretch>
        </p:blipFill>
        <p:spPr>
          <a:xfrm>
            <a:off x="7040880" y="1188720"/>
            <a:ext cx="4754880" cy="3270552"/>
          </a:xfrm>
          <a:prstGeom prst="rect">
            <a:avLst/>
          </a:prstGeom>
        </p:spPr>
      </p:pic>
      <p:sp>
        <p:nvSpPr>
          <p:cNvPr id="5" name="TextBox 4"/>
          <p:cNvSpPr txBox="1"/>
          <p:nvPr/>
        </p:nvSpPr>
        <p:spPr>
          <a:xfrm>
            <a:off x="7040880" y="5760720"/>
            <a:ext cx="4754880" cy="548640"/>
          </a:xfrm>
          <a:prstGeom prst="rect">
            <a:avLst/>
          </a:prstGeom>
          <a:noFill/>
        </p:spPr>
        <p:txBody>
          <a:bodyPr wrap="none">
            <a:spAutoFit/>
          </a:bodyPr>
          <a:lstStyle/>
          <a:p>
            <a:pPr algn="ctr">
              <a:defRPr sz="1200" i="1">
                <a:solidFill>
                  <a:srgbClr val="555555"/>
                </a:solidFill>
              </a:defRPr>
            </a:pPr>
            <a:r>
              <a:t>Federated fog deployment around a disaster area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The workflow is a DAG — and data is the glue</a:t>
            </a:r>
          </a:p>
        </p:txBody>
      </p:sp>
      <p:sp>
        <p:nvSpPr>
          <p:cNvPr id="3" name="TextBox 2"/>
          <p:cNvSpPr txBox="1"/>
          <p:nvPr/>
        </p:nvSpPr>
        <p:spPr>
          <a:xfrm>
            <a:off x="548640" y="1097280"/>
            <a:ext cx="6035040" cy="5303520"/>
          </a:xfrm>
          <a:prstGeom prst="rect">
            <a:avLst/>
          </a:prstGeom>
          <a:noFill/>
        </p:spPr>
        <p:txBody>
          <a:bodyPr wrap="square">
            <a:spAutoFit/>
          </a:bodyPr>
          <a:lstStyle/>
          <a:p>
            <a:pPr>
              <a:spcAft>
                <a:spcPts val="800"/>
              </a:spcAft>
              <a:defRPr sz="1800">
                <a:solidFill>
                  <a:srgbClr val="212121"/>
                </a:solidFill>
              </a:defRPr>
            </a:pPr>
            <a:r>
              <a:t>Tasks = nodes, dependencies = edges (a DAG)</a:t>
            </a:r>
          </a:p>
          <a:p>
            <a:pPr>
              <a:spcAft>
                <a:spcPts val="800"/>
              </a:spcAft>
              <a:defRPr sz="1800">
                <a:solidFill>
                  <a:srgbClr val="212121"/>
                </a:solidFill>
              </a:defRPr>
            </a:pPr>
            <a:r>
              <a:t>Every edge carries data, D_ji, across a link of bandwidth B</a:t>
            </a:r>
          </a:p>
          <a:p>
            <a:pPr lvl="1">
              <a:spcAft>
                <a:spcPts val="800"/>
              </a:spcAft>
              <a:defRPr sz="1600">
                <a:solidFill>
                  <a:srgbClr val="555555"/>
                </a:solidFill>
              </a:defRPr>
            </a:pPr>
            <a:r>
              <a:t>  transfer time = D_ji / B  —  comparable to task runtime</a:t>
            </a:r>
          </a:p>
          <a:p>
            <a:pPr>
              <a:spcAft>
                <a:spcPts val="800"/>
              </a:spcAft>
              <a:defRPr sz="1800">
                <a:solidFill>
                  <a:srgbClr val="212121"/>
                </a:solidFill>
              </a:defRPr>
            </a:pPr>
            <a:r>
              <a:t>Tasks are approximate: running a fraction l costs l of the time and returns l of the accuracy</a:t>
            </a:r>
          </a:p>
          <a:p>
            <a:pPr lvl="1">
              <a:spcAft>
                <a:spcPts val="800"/>
              </a:spcAft>
              <a:defRPr sz="1600">
                <a:solidFill>
                  <a:srgbClr val="555555"/>
                </a:solidFill>
              </a:defRPr>
            </a:pPr>
            <a:r>
              <a:t>  a flood model at 80% fidelity still warns in time</a:t>
            </a:r>
          </a:p>
        </p:txBody>
      </p:sp>
      <p:pic>
        <p:nvPicPr>
          <p:cNvPr id="4" name="Picture 3" descr="disaster-response-dag.png"/>
          <p:cNvPicPr>
            <a:picLocks noChangeAspect="1"/>
          </p:cNvPicPr>
          <p:nvPr/>
        </p:nvPicPr>
        <p:blipFill>
          <a:blip r:embed="rId3"/>
          <a:stretch>
            <a:fillRect/>
          </a:stretch>
        </p:blipFill>
        <p:spPr>
          <a:xfrm>
            <a:off x="6766560" y="1097280"/>
            <a:ext cx="5029200" cy="3612243"/>
          </a:xfrm>
          <a:prstGeom prst="rect">
            <a:avLst/>
          </a:prstGeom>
        </p:spPr>
      </p:pic>
      <p:sp>
        <p:nvSpPr>
          <p:cNvPr id="5" name="TextBox 4"/>
          <p:cNvSpPr txBox="1"/>
          <p:nvPr/>
        </p:nvSpPr>
        <p:spPr>
          <a:xfrm>
            <a:off x="6766560" y="5852160"/>
            <a:ext cx="5029200" cy="548640"/>
          </a:xfrm>
          <a:prstGeom prst="rect">
            <a:avLst/>
          </a:prstGeom>
          <a:noFill/>
        </p:spPr>
        <p:txBody>
          <a:bodyPr wrap="none">
            <a:spAutoFit/>
          </a:bodyPr>
          <a:lstStyle/>
          <a:p>
            <a:pPr algn="ctr">
              <a:defRPr sz="1200" i="1">
                <a:solidFill>
                  <a:srgbClr val="555555"/>
                </a:solidFill>
              </a:defRPr>
            </a:pPr>
            <a:r>
              <a:t>Example disaster-response DAG used in the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The problem, in one sentence</a:t>
            </a:r>
          </a:p>
        </p:txBody>
      </p:sp>
      <p:sp>
        <p:nvSpPr>
          <p:cNvPr id="3" name="TextBox 2"/>
          <p:cNvSpPr txBox="1"/>
          <p:nvPr/>
        </p:nvSpPr>
        <p:spPr>
          <a:xfrm>
            <a:off x="548640" y="1097280"/>
            <a:ext cx="10972800" cy="5303520"/>
          </a:xfrm>
          <a:prstGeom prst="rect">
            <a:avLst/>
          </a:prstGeom>
          <a:noFill/>
        </p:spPr>
        <p:txBody>
          <a:bodyPr wrap="square">
            <a:spAutoFit/>
          </a:bodyPr>
          <a:lstStyle/>
          <a:p>
            <a:pPr>
              <a:spcAft>
                <a:spcPts val="800"/>
              </a:spcAft>
              <a:defRPr sz="1800">
                <a:solidFill>
                  <a:srgbClr val="212121"/>
                </a:solidFill>
              </a:defRPr>
            </a:pPr>
            <a:r>
              <a:t>Assign every task to a fog node AND choose how much of it to run,</a:t>
            </a:r>
          </a:p>
          <a:p>
            <a:pPr>
              <a:spcAft>
                <a:spcPts val="800"/>
              </a:spcAft>
              <a:defRPr sz="1800">
                <a:solidFill>
                  <a:srgbClr val="212121"/>
                </a:solidFill>
              </a:defRPr>
            </a:pPr>
            <a:r>
              <a:t>so that the DAG finishes before the deadline</a:t>
            </a:r>
          </a:p>
          <a:p>
            <a:pPr>
              <a:spcAft>
                <a:spcPts val="800"/>
              </a:spcAft>
              <a:defRPr sz="1800">
                <a:solidFill>
                  <a:srgbClr val="212121"/>
                </a:solidFill>
              </a:defRPr>
            </a:pPr>
            <a:r>
              <a:t>with the highest possible average accuracy.</a:t>
            </a:r>
          </a:p>
          <a:p>
            <a:pPr>
              <a:spcAft>
                <a:spcPts val="800"/>
              </a:spcAft>
              <a:defRPr sz="1800">
                <a:solidFill>
                  <a:srgbClr val="212121"/>
                </a:solidFill>
              </a:defRPr>
            </a:pPr>
          </a:p>
          <a:p>
            <a:pPr>
              <a:spcAft>
                <a:spcPts val="800"/>
              </a:spcAft>
              <a:defRPr sz="1800">
                <a:solidFill>
                  <a:srgbClr val="212121"/>
                </a:solidFill>
              </a:defRPr>
            </a:pPr>
            <a:r>
              <a:t>Why it is hard:</a:t>
            </a:r>
          </a:p>
          <a:p>
            <a:pPr lvl="1">
              <a:spcAft>
                <a:spcPts val="800"/>
              </a:spcAft>
              <a:defRPr sz="1600">
                <a:solidFill>
                  <a:srgbClr val="555555"/>
                </a:solidFill>
              </a:defRPr>
            </a:pPr>
            <a:r>
              <a:t>  data transfer time rivals execution time — the 'fastest' node can be the worst once you pay to move the input</a:t>
            </a:r>
          </a:p>
          <a:p>
            <a:pPr lvl="1">
              <a:spcAft>
                <a:spcPts val="800"/>
              </a:spcAft>
              <a:defRPr sz="1600">
                <a:solidFill>
                  <a:srgbClr val="555555"/>
                </a:solidFill>
              </a:defRPr>
            </a:pPr>
            <a:r>
              <a:t>  accuracy is a tradeable resource — tight deadline? run partially, arrive on time</a:t>
            </a:r>
          </a:p>
          <a:p>
            <a:pPr lvl="1">
              <a:spcAft>
                <a:spcPts val="800"/>
              </a:spcAft>
              <a:defRPr sz="1600">
                <a:solidFill>
                  <a:srgbClr val="555555"/>
                </a:solidFill>
              </a:defRPr>
            </a:pPr>
            <a:r>
              <a:t>  the two choices interact: placement decides transfers, fractions decide runtimes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Why existing schedulers do not fit</a:t>
            </a:r>
          </a:p>
        </p:txBody>
      </p:sp>
      <p:sp>
        <p:nvSpPr>
          <p:cNvPr id="3" name="TextBox 2"/>
          <p:cNvSpPr txBox="1"/>
          <p:nvPr/>
        </p:nvSpPr>
        <p:spPr>
          <a:xfrm>
            <a:off x="548640" y="1097280"/>
            <a:ext cx="10972800" cy="5303520"/>
          </a:xfrm>
          <a:prstGeom prst="rect">
            <a:avLst/>
          </a:prstGeom>
          <a:noFill/>
        </p:spPr>
        <p:txBody>
          <a:bodyPr wrap="square">
            <a:spAutoFit/>
          </a:bodyPr>
          <a:lstStyle/>
          <a:p>
            <a:pPr>
              <a:spcAft>
                <a:spcPts val="800"/>
              </a:spcAft>
              <a:defRPr sz="1800">
                <a:solidFill>
                  <a:srgbClr val="212121"/>
                </a:solidFill>
              </a:defRPr>
            </a:pPr>
            <a:r>
              <a:t>HEFT (Heterogeneous Earliest Finish Time): the classic DAG scheduler</a:t>
            </a:r>
          </a:p>
          <a:p>
            <a:pPr lvl="1">
              <a:spcAft>
                <a:spcPts val="800"/>
              </a:spcAft>
              <a:defRPr sz="1600">
                <a:solidFill>
                  <a:srgbClr val="555555"/>
                </a:solidFill>
              </a:defRPr>
            </a:pPr>
            <a:r>
              <a:t>  ranks tasks, places each where it finishes earliest</a:t>
            </a:r>
          </a:p>
          <a:p>
            <a:pPr lvl="1">
              <a:spcAft>
                <a:spcPts val="800"/>
              </a:spcAft>
              <a:defRPr sz="1600">
                <a:solidFill>
                  <a:srgbClr val="555555"/>
                </a:solidFill>
              </a:defRPr>
            </a:pPr>
            <a:r>
              <a:t>  but: full execution only; transfers are static edge weights</a:t>
            </a:r>
          </a:p>
          <a:p>
            <a:pPr>
              <a:spcAft>
                <a:spcPts val="800"/>
              </a:spcAft>
              <a:defRPr sz="1800">
                <a:solidFill>
                  <a:srgbClr val="212121"/>
                </a:solidFill>
              </a:defRPr>
            </a:pPr>
            <a:r>
              <a:t>Fog schedulers handle capacity and placement — but assume tasks always run completely</a:t>
            </a:r>
          </a:p>
          <a:p>
            <a:pPr>
              <a:spcAft>
                <a:spcPts val="800"/>
              </a:spcAft>
              <a:defRPr sz="1800">
                <a:solidFill>
                  <a:srgbClr val="212121"/>
                </a:solidFill>
              </a:defRPr>
            </a:pPr>
            <a:r>
              <a:t>Approximate-computing work trades quality for time — but ignores inter-node data movement</a:t>
            </a:r>
          </a:p>
          <a:p>
            <a:pPr>
              <a:spcAft>
                <a:spcPts val="800"/>
              </a:spcAft>
              <a:defRPr sz="1800">
                <a:solidFill>
                  <a:srgbClr val="212121"/>
                </a:solidFill>
              </a:defRPr>
            </a:pPr>
            <a:r>
              <a:t>Our gap: jointly optimize placement + data movement + execution fraction under one deadline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The formulation: one MILP</a:t>
            </a:r>
          </a:p>
        </p:txBody>
      </p:sp>
      <p:sp>
        <p:nvSpPr>
          <p:cNvPr id="3" name="TextBox 2"/>
          <p:cNvSpPr txBox="1"/>
          <p:nvPr/>
        </p:nvSpPr>
        <p:spPr>
          <a:xfrm>
            <a:off x="548640" y="1097280"/>
            <a:ext cx="10972800" cy="5303520"/>
          </a:xfrm>
          <a:prstGeom prst="rect">
            <a:avLst/>
          </a:prstGeom>
          <a:noFill/>
        </p:spPr>
        <p:txBody>
          <a:bodyPr wrap="square">
            <a:spAutoFit/>
          </a:bodyPr>
          <a:lstStyle/>
          <a:p>
            <a:pPr>
              <a:spcAft>
                <a:spcPts val="800"/>
              </a:spcAft>
              <a:defRPr sz="1800">
                <a:solidFill>
                  <a:srgbClr val="212121"/>
                </a:solidFill>
              </a:defRPr>
            </a:pPr>
            <a:r>
              <a:t>Decisions: e_ia in {0,1} (task i on node a), l_ia in [0,1] (fraction), M_ia (start time)</a:t>
            </a:r>
          </a:p>
          <a:p>
            <a:pPr>
              <a:spcAft>
                <a:spcPts val="800"/>
              </a:spcAft>
              <a:defRPr sz="1800">
                <a:solidFill>
                  <a:srgbClr val="212121"/>
                </a:solidFill>
              </a:defRPr>
            </a:pPr>
            <a:r>
              <a:t>Objective: max (1/n) sum_i A_i sum_a l_ia — average accuracy</a:t>
            </a:r>
          </a:p>
          <a:p>
            <a:pPr>
              <a:spcAft>
                <a:spcPts val="800"/>
              </a:spcAft>
              <a:defRPr sz="1800">
                <a:solidFill>
                  <a:srgbClr val="212121"/>
                </a:solidFill>
              </a:defRPr>
            </a:pPr>
            <a:r>
              <a:t>One eligible node per task:  sum_a e_ia = 1</a:t>
            </a:r>
          </a:p>
          <a:p>
            <a:pPr>
              <a:spcAft>
                <a:spcPts val="800"/>
              </a:spcAft>
              <a:defRPr sz="1800">
                <a:solidFill>
                  <a:srgbClr val="212121"/>
                </a:solidFill>
              </a:defRPr>
            </a:pPr>
            <a:r>
              <a:t>Precedence + data: task i waits until every predecessor j finished AND D_ji/B_ba arrived</a:t>
            </a:r>
          </a:p>
          <a:p>
            <a:pPr>
              <a:spcAft>
                <a:spcPts val="800"/>
              </a:spcAft>
              <a:defRPr sz="1800">
                <a:solidFill>
                  <a:srgbClr val="212121"/>
                </a:solidFill>
              </a:defRPr>
            </a:pPr>
            <a:r>
              <a:t>Deadline: sum_a e_ia (M_ia + t_ia l_ia) &lt;= t_max  for all i</a:t>
            </a:r>
          </a:p>
          <a:p>
            <a:pPr>
              <a:spcAft>
                <a:spcPts val="800"/>
              </a:spcAft>
              <a:defRPr sz="1800">
                <a:solidFill>
                  <a:srgbClr val="212121"/>
                </a:solidFill>
              </a:defRPr>
            </a:pPr>
            <a:r>
              <a:t>NP-hard even on unrelated parallel machines — the MILP is the benchmark, not the product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Four schedulers, one cost model</a:t>
            </a:r>
          </a:p>
        </p:txBody>
      </p:sp>
      <p:sp>
        <p:nvSpPr>
          <p:cNvPr id="3" name="TextBox 2"/>
          <p:cNvSpPr txBox="1"/>
          <p:nvPr/>
        </p:nvSpPr>
        <p:spPr>
          <a:xfrm>
            <a:off x="548640" y="1097280"/>
            <a:ext cx="10972800" cy="5303520"/>
          </a:xfrm>
          <a:prstGeom prst="rect">
            <a:avLst/>
          </a:prstGeom>
          <a:noFill/>
        </p:spPr>
        <p:txBody>
          <a:bodyPr wrap="square">
            <a:spAutoFit/>
          </a:bodyPr>
          <a:lstStyle/>
          <a:p>
            <a:pPr>
              <a:spcAft>
                <a:spcPts val="800"/>
              </a:spcAft>
              <a:defRPr sz="1800">
                <a:solidFill>
                  <a:srgbClr val="212121"/>
                </a:solidFill>
              </a:defRPr>
            </a:pPr>
            <a:r>
              <a:t>MILP (HiGHS) — optimal at small/medium scale; the benchmark</a:t>
            </a:r>
          </a:p>
          <a:p>
            <a:pPr>
              <a:spcAft>
                <a:spcPts val="800"/>
              </a:spcAft>
              <a:defRPr sz="1800">
                <a:solidFill>
                  <a:srgbClr val="212121"/>
                </a:solidFill>
              </a:defRPr>
            </a:pPr>
            <a:r>
              <a:t>LP relaxation + randomized rounding</a:t>
            </a:r>
          </a:p>
          <a:p>
            <a:pPr lvl="1">
              <a:spcAft>
                <a:spcPts val="800"/>
              </a:spcAft>
              <a:defRPr sz="1600">
                <a:solidFill>
                  <a:srgbClr val="555555"/>
                </a:solidFill>
              </a:defRPr>
            </a:pPr>
            <a:r>
              <a:t>  relax e_ia to [0,1]; sample each task's node from the LP; re-solve the LP for fractions</a:t>
            </a:r>
          </a:p>
          <a:p>
            <a:pPr>
              <a:spcAft>
                <a:spcPts val="800"/>
              </a:spcAft>
              <a:defRPr sz="1800">
                <a:solidFill>
                  <a:srgbClr val="212121"/>
                </a:solidFill>
              </a:defRPr>
            </a:pPr>
            <a:r>
              <a:t>Data-aware greedy</a:t>
            </a:r>
          </a:p>
          <a:p>
            <a:pPr lvl="1">
              <a:spcAft>
                <a:spcPts val="800"/>
              </a:spcAft>
              <a:defRPr sz="1600">
                <a:solidFill>
                  <a:srgbClr val="555555"/>
                </a:solidFill>
              </a:defRPr>
            </a:pPr>
            <a:r>
              <a:t>  priority = beta*A_i + (1-beta)*critical-path; earliest-finish node among ready tasks; on deadline miss, retry with a lower global fraction</a:t>
            </a:r>
          </a:p>
          <a:p>
            <a:pPr>
              <a:spcAft>
                <a:spcPts val="800"/>
              </a:spcAft>
              <a:defRPr sz="1800">
                <a:solidFill>
                  <a:srgbClr val="212121"/>
                </a:solidFill>
              </a:defRPr>
            </a:pPr>
            <a:r>
              <a:t>Genetic algorithm</a:t>
            </a:r>
          </a:p>
          <a:p>
            <a:pPr lvl="1">
              <a:spcAft>
                <a:spcPts val="800"/>
              </a:spcAft>
              <a:defRPr sz="1600">
                <a:solidFill>
                  <a:srgbClr val="555555"/>
                </a:solidFill>
              </a:defRPr>
            </a:pPr>
            <a:r>
              <a:t>  chromosome = assignment + per-task fractions; fitness rewards accuracy, penalizes lateness; co-location repair for heavy edges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How we test it</a:t>
            </a:r>
          </a:p>
        </p:txBody>
      </p:sp>
      <p:sp>
        <p:nvSpPr>
          <p:cNvPr id="3" name="TextBox 2"/>
          <p:cNvSpPr txBox="1"/>
          <p:nvPr/>
        </p:nvSpPr>
        <p:spPr>
          <a:xfrm>
            <a:off x="548640" y="1097280"/>
            <a:ext cx="6309360" cy="5303520"/>
          </a:xfrm>
          <a:prstGeom prst="rect">
            <a:avLst/>
          </a:prstGeom>
          <a:noFill/>
        </p:spPr>
        <p:txBody>
          <a:bodyPr wrap="square">
            <a:spAutoFit/>
          </a:bodyPr>
          <a:lstStyle/>
          <a:p>
            <a:pPr>
              <a:spcAft>
                <a:spcPts val="800"/>
              </a:spcAft>
              <a:defRPr sz="1800">
                <a:solidFill>
                  <a:srgbClr val="212121"/>
                </a:solidFill>
              </a:defRPr>
            </a:pPr>
            <a:r>
              <a:t>Discrete-event simulator (NumPy + SciPy HiGHS)</a:t>
            </a:r>
          </a:p>
          <a:p>
            <a:pPr>
              <a:spcAft>
                <a:spcPts val="800"/>
              </a:spcAft>
              <a:defRPr sz="1800">
                <a:solidFill>
                  <a:srgbClr val="212121"/>
                </a:solidFill>
              </a:defRPr>
            </a:pPr>
            <a:r>
              <a:t>Contested regime: t in [1,5], D in [5,50], B in [10,100] — a transfer can rival a task</a:t>
            </a:r>
          </a:p>
          <a:p>
            <a:pPr>
              <a:spcAft>
                <a:spcPts val="800"/>
              </a:spcAft>
              <a:defRPr sz="1800">
                <a:solidFill>
                  <a:srgbClr val="212121"/>
                </a:solidFill>
              </a:defRPr>
            </a:pPr>
            <a:r>
              <a:t>Datasets: 10/3, 100/5, 500/8, 1000/10 tasks-nodes; ~15% of node-task pairs ineligible; ~2x node speed range</a:t>
            </a:r>
          </a:p>
          <a:p>
            <a:pPr>
              <a:spcAft>
                <a:spcPts val="800"/>
              </a:spcAft>
              <a:defRPr sz="1800">
                <a:solidFill>
                  <a:srgbClr val="212121"/>
                </a:solidFill>
              </a:defRPr>
            </a:pPr>
            <a:r>
              <a:t>Five sweeps: slack | federation size | workflow size | failure rate | link bandwidth</a:t>
            </a:r>
          </a:p>
          <a:p>
            <a:pPr>
              <a:spcAft>
                <a:spcPts val="800"/>
              </a:spcAft>
              <a:defRPr sz="1800">
                <a:solidFill>
                  <a:srgbClr val="212121"/>
                </a:solidFill>
              </a:defRPr>
            </a:pPr>
            <a:r>
              <a:t>Metric: average accuracy vs the max-accuracy bound (dashed line); plus feasibility and wall time</a:t>
            </a:r>
          </a:p>
          <a:p>
            <a:pPr>
              <a:spcAft>
                <a:spcPts val="800"/>
              </a:spcAft>
              <a:defRPr sz="1800">
                <a:solidFill>
                  <a:srgbClr val="212121"/>
                </a:solidFill>
              </a:defRPr>
            </a:pPr>
            <a:r>
              <a:t>Baselines: fixed scheduling; a bandwidth-blind greedy in the link sweep</a:t>
            </a:r>
          </a:p>
        </p:txBody>
      </p:sp>
      <p:pic>
        <p:nvPicPr>
          <p:cNvPr id="4" name="Picture 3" descr="dataset_medium_graphs.png"/>
          <p:cNvPicPr>
            <a:picLocks noChangeAspect="1"/>
          </p:cNvPicPr>
          <p:nvPr/>
        </p:nvPicPr>
        <p:blipFill>
          <a:blip r:embed="rId3"/>
          <a:stretch>
            <a:fillRect/>
          </a:stretch>
        </p:blipFill>
        <p:spPr>
          <a:xfrm>
            <a:off x="6949440" y="1188720"/>
            <a:ext cx="4937760" cy="2114396"/>
          </a:xfrm>
          <a:prstGeom prst="rect">
            <a:avLst/>
          </a:prstGeom>
        </p:spPr>
      </p:pic>
      <p:sp>
        <p:nvSpPr>
          <p:cNvPr id="5" name="TextBox 4"/>
          <p:cNvSpPr txBox="1"/>
          <p:nvPr/>
        </p:nvSpPr>
        <p:spPr>
          <a:xfrm>
            <a:off x="6949440" y="5943600"/>
            <a:ext cx="4937760" cy="548640"/>
          </a:xfrm>
          <a:prstGeom prst="rect">
            <a:avLst/>
          </a:prstGeom>
          <a:noFill/>
        </p:spPr>
        <p:txBody>
          <a:bodyPr wrap="none">
            <a:spAutoFit/>
          </a:bodyPr>
          <a:lstStyle/>
          <a:p>
            <a:pPr algn="ctr">
              <a:defRPr sz="1200" i="1">
                <a:solidFill>
                  <a:srgbClr val="555555"/>
                </a:solidFill>
              </a:defRPr>
            </a:pPr>
            <a:r>
              <a:t>A generated dataset (100 tasks / 5 nodes)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Five questions</a:t>
            </a:r>
          </a:p>
        </p:txBody>
      </p:sp>
      <p:sp>
        <p:nvSpPr>
          <p:cNvPr id="3" name="TextBox 2"/>
          <p:cNvSpPr txBox="1"/>
          <p:nvPr/>
        </p:nvSpPr>
        <p:spPr>
          <a:xfrm>
            <a:off x="548640" y="1097280"/>
            <a:ext cx="10972800" cy="5303520"/>
          </a:xfrm>
          <a:prstGeom prst="rect">
            <a:avLst/>
          </a:prstGeom>
          <a:noFill/>
        </p:spPr>
        <p:txBody>
          <a:bodyPr wrap="square">
            <a:spAutoFit/>
          </a:bodyPr>
          <a:lstStyle/>
          <a:p>
            <a:pPr>
              <a:spcAft>
                <a:spcPts val="800"/>
              </a:spcAft>
              <a:defRPr sz="1800">
                <a:solidFill>
                  <a:srgbClr val="212121"/>
                </a:solidFill>
              </a:defRPr>
            </a:pPr>
            <a:r>
              <a:t>Q1  Deadline slack alpha in {1.0 ... 2.0} — how tight is the deadline?</a:t>
            </a:r>
          </a:p>
          <a:p>
            <a:pPr>
              <a:spcAft>
                <a:spcPts val="800"/>
              </a:spcAft>
              <a:defRPr sz="1800">
                <a:solidFill>
                  <a:srgbClr val="212121"/>
                </a:solidFill>
              </a:defRPr>
            </a:pPr>
            <a:r>
              <a:t>Q2  Federation size N in {2 ... 10} nodes — does capacity help?</a:t>
            </a:r>
          </a:p>
          <a:p>
            <a:pPr>
              <a:spcAft>
                <a:spcPts val="800"/>
              </a:spcAft>
              <a:defRPr sz="1800">
                <a:solidFill>
                  <a:srgbClr val="212121"/>
                </a:solidFill>
              </a:defRPr>
            </a:pPr>
            <a:r>
              <a:t>Q3  Workflow size n in {10, 100, 1000} — who scales?</a:t>
            </a:r>
          </a:p>
          <a:p>
            <a:pPr>
              <a:spcAft>
                <a:spcPts val="800"/>
              </a:spcAft>
              <a:defRPr sz="1800">
                <a:solidFill>
                  <a:srgbClr val="212121"/>
                </a:solidFill>
              </a:defRPr>
            </a:pPr>
            <a:r>
              <a:t>Q4  Failure rate in {0 ... 0.5}, retry-once — who stays feasible?</a:t>
            </a:r>
          </a:p>
          <a:p>
            <a:pPr>
              <a:spcAft>
                <a:spcPts val="800"/>
              </a:spcAft>
              <a:defRPr sz="1800">
                <a:solidFill>
                  <a:srgbClr val="212121"/>
                </a:solidFill>
              </a:defRPr>
            </a:pPr>
            <a:r>
              <a:t>Q5  Bandwidth x {1.0 ... 0.05} — what is data-awareness worth?</a:t>
            </a:r>
          </a:p>
          <a:p>
            <a:pPr>
              <a:spcAft>
                <a:spcPts val="800"/>
              </a:spcAft>
              <a:defRPr sz="1800">
                <a:solidFill>
                  <a:srgbClr val="212121"/>
                </a:solidFill>
              </a:defRPr>
            </a:pPr>
          </a:p>
          <a:p>
            <a:pPr>
              <a:spcAft>
                <a:spcPts val="800"/>
              </a:spcAft>
              <a:defRPr sz="1800">
                <a:solidFill>
                  <a:srgbClr val="212121"/>
                </a:solidFill>
              </a:defRPr>
            </a:pPr>
            <a:r>
              <a:t>5 fresh instances per point; means reported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Q1 — Slack: the scheduler matters exactly when it hurts</a:t>
            </a:r>
          </a:p>
        </p:txBody>
      </p:sp>
      <p:pic>
        <p:nvPicPr>
          <p:cNvPr id="3" name="Picture 2" descr="perf_slack_accuracy.png"/>
          <p:cNvPicPr>
            <a:picLocks noChangeAspect="1"/>
          </p:cNvPicPr>
          <p:nvPr/>
        </p:nvPicPr>
        <p:blipFill>
          <a:blip r:embed="rId3"/>
          <a:stretch>
            <a:fillRect/>
          </a:stretch>
        </p:blipFill>
        <p:spPr>
          <a:xfrm>
            <a:off x="640080" y="1051560"/>
            <a:ext cx="6126480" cy="4509185"/>
          </a:xfrm>
          <a:prstGeom prst="rect">
            <a:avLst/>
          </a:prstGeom>
        </p:spPr>
      </p:pic>
      <p:sp>
        <p:nvSpPr>
          <p:cNvPr id="4" name="TextBox 3"/>
          <p:cNvSpPr txBox="1"/>
          <p:nvPr/>
        </p:nvSpPr>
        <p:spPr>
          <a:xfrm>
            <a:off x="7040880" y="1188720"/>
            <a:ext cx="4663440" cy="5303520"/>
          </a:xfrm>
          <a:prstGeom prst="rect">
            <a:avLst/>
          </a:prstGeom>
          <a:noFill/>
        </p:spPr>
        <p:txBody>
          <a:bodyPr wrap="square">
            <a:spAutoFit/>
          </a:bodyPr>
          <a:lstStyle/>
          <a:p>
            <a:pPr>
              <a:spcAft>
                <a:spcPts val="800"/>
              </a:spcAft>
              <a:defRPr sz="1800">
                <a:solidFill>
                  <a:srgbClr val="212121"/>
                </a:solidFill>
              </a:defRPr>
            </a:pPr>
            <a:r>
              <a:t>alpha = 1.0 (deadline barely fits): MILP 1.38 vs bound 1.43; rounding 1.25, greedy 1.23, GA 1.20</a:t>
            </a:r>
          </a:p>
          <a:p>
            <a:pPr>
              <a:spcAft>
                <a:spcPts val="800"/>
              </a:spcAft>
              <a:defRPr sz="1800">
                <a:solidFill>
                  <a:srgbClr val="212121"/>
                </a:solidFill>
              </a:defRPr>
            </a:pPr>
            <a:r>
              <a:t>alpha &gt;= 1.2: greedy reaches the bound; MILP joins by 1.5</a:t>
            </a:r>
          </a:p>
          <a:p>
            <a:pPr>
              <a:spcAft>
                <a:spcPts val="800"/>
              </a:spcAft>
              <a:defRPr sz="1800">
                <a:solidFill>
                  <a:srgbClr val="212121"/>
                </a:solidFill>
              </a:defRPr>
            </a:pPr>
            <a:r>
              <a:t>Rounding and GA trail 2.5-8% even at alpha = 2.0 — a fixed search budget cannot fully recover</a:t>
            </a:r>
          </a:p>
          <a:p>
            <a:pPr>
              <a:spcAft>
                <a:spcPts val="800"/>
              </a:spcAft>
              <a:defRPr sz="1800">
                <a:solidFill>
                  <a:srgbClr val="212121"/>
                </a:solidFill>
              </a:defRPr>
            </a:pPr>
            <a:r>
              <a:t>Lesson: method choice matters most exactly where the deadline binds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Q2 — Federation size: capacity buys feasibility, not accuracy</a:t>
            </a:r>
          </a:p>
        </p:txBody>
      </p:sp>
      <p:pic>
        <p:nvPicPr>
          <p:cNvPr id="3" name="Picture 2" descr="perf_nodes_accuracy.png"/>
          <p:cNvPicPr>
            <a:picLocks noChangeAspect="1"/>
          </p:cNvPicPr>
          <p:nvPr/>
        </p:nvPicPr>
        <p:blipFill>
          <a:blip r:embed="rId3"/>
          <a:stretch>
            <a:fillRect/>
          </a:stretch>
        </p:blipFill>
        <p:spPr>
          <a:xfrm>
            <a:off x="640080" y="1051560"/>
            <a:ext cx="6126480" cy="4504765"/>
          </a:xfrm>
          <a:prstGeom prst="rect">
            <a:avLst/>
          </a:prstGeom>
        </p:spPr>
      </p:pic>
      <p:sp>
        <p:nvSpPr>
          <p:cNvPr id="4" name="TextBox 3"/>
          <p:cNvSpPr txBox="1"/>
          <p:nvPr/>
        </p:nvSpPr>
        <p:spPr>
          <a:xfrm>
            <a:off x="7040880" y="1188720"/>
            <a:ext cx="4663440" cy="5303520"/>
          </a:xfrm>
          <a:prstGeom prst="rect">
            <a:avLst/>
          </a:prstGeom>
          <a:noFill/>
        </p:spPr>
        <p:txBody>
          <a:bodyPr wrap="square">
            <a:spAutoFit/>
          </a:bodyPr>
          <a:lstStyle/>
          <a:p>
            <a:pPr>
              <a:spcAft>
                <a:spcPts val="800"/>
              </a:spcAft>
              <a:defRPr sz="1800">
                <a:solidFill>
                  <a:srgbClr val="212121"/>
                </a:solidFill>
              </a:defRPr>
            </a:pPr>
            <a:r>
              <a:t>MILP and greedy match the bound at every N</a:t>
            </a:r>
          </a:p>
          <a:p>
            <a:pPr>
              <a:spcAft>
                <a:spcPts val="800"/>
              </a:spcAft>
              <a:defRPr sz="1800">
                <a:solidFill>
                  <a:srgbClr val="212121"/>
                </a:solidFill>
              </a:defRPr>
            </a:pPr>
            <a:r>
              <a:t>GA: ~1.5% below bound at N=2 -&gt; ~8% below at N=10; rounding similar (~8% at N=10)</a:t>
            </a:r>
          </a:p>
          <a:p>
            <a:pPr>
              <a:spcAft>
                <a:spcPts val="800"/>
              </a:spcAft>
              <a:defRPr sz="1800">
                <a:solidFill>
                  <a:srgbClr val="212121"/>
                </a:solidFill>
              </a:defRPr>
            </a:pPr>
            <a:r>
              <a:t>Reason: placement space grows with N but the search budget is fixed</a:t>
            </a:r>
          </a:p>
          <a:p>
            <a:pPr>
              <a:spcAft>
                <a:spcPts val="800"/>
              </a:spcAft>
              <a:defRPr sz="1800">
                <a:solidFill>
                  <a:srgbClr val="212121"/>
                </a:solidFill>
              </a:defRPr>
            </a:pPr>
            <a:r>
              <a:t>Extra nodes never exceed the bound — they buy feasibility, not accuracy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Q3 — Workflow size: the simple greedy holds up best</a:t>
            </a:r>
          </a:p>
        </p:txBody>
      </p:sp>
      <p:pic>
        <p:nvPicPr>
          <p:cNvPr id="3" name="Picture 2" descr="perf_task_size_accuracy.png"/>
          <p:cNvPicPr>
            <a:picLocks noChangeAspect="1"/>
          </p:cNvPicPr>
          <p:nvPr/>
        </p:nvPicPr>
        <p:blipFill>
          <a:blip r:embed="rId3"/>
          <a:stretch>
            <a:fillRect/>
          </a:stretch>
        </p:blipFill>
        <p:spPr>
          <a:xfrm>
            <a:off x="640080" y="1051560"/>
            <a:ext cx="6126480" cy="4504765"/>
          </a:xfrm>
          <a:prstGeom prst="rect">
            <a:avLst/>
          </a:prstGeom>
        </p:spPr>
      </p:pic>
      <p:sp>
        <p:nvSpPr>
          <p:cNvPr id="4" name="TextBox 3"/>
          <p:cNvSpPr txBox="1"/>
          <p:nvPr/>
        </p:nvSpPr>
        <p:spPr>
          <a:xfrm>
            <a:off x="7040880" y="1188720"/>
            <a:ext cx="4663440" cy="5303520"/>
          </a:xfrm>
          <a:prstGeom prst="rect">
            <a:avLst/>
          </a:prstGeom>
          <a:noFill/>
        </p:spPr>
        <p:txBody>
          <a:bodyPr wrap="square">
            <a:spAutoFit/>
          </a:bodyPr>
          <a:lstStyle/>
          <a:p>
            <a:pPr>
              <a:spcAft>
                <a:spcPts val="800"/>
              </a:spcAft>
              <a:defRPr sz="1800">
                <a:solidFill>
                  <a:srgbClr val="212121"/>
                </a:solidFill>
              </a:defRPr>
            </a:pPr>
            <a:r>
              <a:t>n = 10: all methods on the bound (1.41)</a:t>
            </a:r>
          </a:p>
          <a:p>
            <a:pPr>
              <a:spcAft>
                <a:spcPts val="800"/>
              </a:spcAft>
              <a:defRPr sz="1800">
                <a:solidFill>
                  <a:srgbClr val="212121"/>
                </a:solidFill>
              </a:defRPr>
            </a:pPr>
            <a:r>
              <a:t>n = 100: MILP + greedy on bound; GA first to drift (1.26)</a:t>
            </a:r>
          </a:p>
          <a:p>
            <a:pPr>
              <a:spcAft>
                <a:spcPts val="800"/>
              </a:spcAft>
              <a:defRPr sz="1800">
                <a:solidFill>
                  <a:srgbClr val="212121"/>
                </a:solidFill>
              </a:defRPr>
            </a:pPr>
            <a:r>
              <a:t>n = 1000: MILP past the 800-var cap; greedy on bound in 0.15 s; rounding 1.37 (~93 s per LP re-solve, ~372 s/run); GA 1.10 in ~159 s</a:t>
            </a:r>
          </a:p>
          <a:p>
            <a:pPr>
              <a:spcAft>
                <a:spcPts val="800"/>
              </a:spcAft>
              <a:defRPr sz="1800">
                <a:solidFill>
                  <a:srgbClr val="212121"/>
                </a:solidFill>
              </a:defRPr>
            </a:pPr>
            <a:r>
              <a:t>GA budget is spread over a combinatorially growing space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Same story on the four test datasets</a:t>
            </a:r>
          </a:p>
        </p:txBody>
      </p:sp>
      <p:sp>
        <p:nvSpPr>
          <p:cNvPr id="3" name="TextBox 2"/>
          <p:cNvSpPr txBox="1"/>
          <p:nvPr/>
        </p:nvSpPr>
        <p:spPr>
          <a:xfrm>
            <a:off x="548640" y="1097280"/>
            <a:ext cx="10972800" cy="5303520"/>
          </a:xfrm>
          <a:prstGeom prst="rect">
            <a:avLst/>
          </a:prstGeom>
          <a:noFill/>
        </p:spPr>
        <p:txBody>
          <a:bodyPr wrap="square">
            <a:spAutoFit/>
          </a:bodyPr>
          <a:lstStyle/>
          <a:p>
            <a:pPr>
              <a:spcAft>
                <a:spcPts val="800"/>
              </a:spcAft>
              <a:defRPr sz="1800">
                <a:solidFill>
                  <a:srgbClr val="212121"/>
                </a:solidFill>
              </a:defRPr>
            </a:pPr>
            <a:r>
              <a:t>small (10/3): all four methods identical score 1.64; greedy fastest and shortest makespan (16.8 vs ~18)</a:t>
            </a:r>
          </a:p>
          <a:p>
            <a:pPr>
              <a:spcAft>
                <a:spcPts val="800"/>
              </a:spcAft>
              <a:defRPr sz="1800">
                <a:solidFill>
                  <a:srgbClr val="212121"/>
                </a:solidFill>
              </a:defRPr>
            </a:pPr>
            <a:r>
              <a:t>medium (100/5): MILP + greedy 1.44; rounding 1.32; GA 1.27 — but greedy makespan 43.1 vs ~61</a:t>
            </a:r>
          </a:p>
          <a:p>
            <a:pPr>
              <a:spcAft>
                <a:spcPts val="800"/>
              </a:spcAft>
              <a:defRPr sz="1800">
                <a:solidFill>
                  <a:srgbClr val="212121"/>
                </a:solidFill>
              </a:defRPr>
            </a:pPr>
            <a:r>
              <a:t>large (500/8): only greedy + GA fit: 1.42 vs 1.17, makespan 50 vs 71</a:t>
            </a:r>
          </a:p>
          <a:p>
            <a:pPr>
              <a:spcAft>
                <a:spcPts val="800"/>
              </a:spcAft>
              <a:defRPr sz="1800">
                <a:solidFill>
                  <a:srgbClr val="212121"/>
                </a:solidFill>
              </a:defRPr>
            </a:pPr>
            <a:r>
              <a:t>xlarge (1000/10): greedy 1.41 in 0.14 s; GA 1.13 in 73 s with makespan 120</a:t>
            </a:r>
          </a:p>
          <a:p>
            <a:pPr>
              <a:spcAft>
                <a:spcPts val="800"/>
              </a:spcAft>
              <a:defRPr sz="1800">
                <a:solidFill>
                  <a:srgbClr val="212121"/>
                </a:solidFill>
              </a:defRPr>
            </a:pPr>
          </a:p>
          <a:p>
            <a:pPr>
              <a:spcAft>
                <a:spcPts val="800"/>
              </a:spcAft>
              <a:defRPr sz="1800">
                <a:solidFill>
                  <a:srgbClr val="212121"/>
                </a:solidFill>
              </a:defRPr>
            </a:pPr>
            <a:r>
              <a:t>Accuracy is not free in wall time — and neither is the makespan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Q4 — Failures: scores stay flat; feasibility is the story</a:t>
            </a:r>
          </a:p>
        </p:txBody>
      </p:sp>
      <p:pic>
        <p:nvPicPr>
          <p:cNvPr id="3" name="Picture 2" descr="perf_failure_accuracy.png"/>
          <p:cNvPicPr>
            <a:picLocks noChangeAspect="1"/>
          </p:cNvPicPr>
          <p:nvPr/>
        </p:nvPicPr>
        <p:blipFill>
          <a:blip r:embed="rId3"/>
          <a:stretch>
            <a:fillRect/>
          </a:stretch>
        </p:blipFill>
        <p:spPr>
          <a:xfrm>
            <a:off x="640080" y="1051560"/>
            <a:ext cx="6126480" cy="2357547"/>
          </a:xfrm>
          <a:prstGeom prst="rect">
            <a:avLst/>
          </a:prstGeom>
        </p:spPr>
      </p:pic>
      <p:sp>
        <p:nvSpPr>
          <p:cNvPr id="4" name="TextBox 3"/>
          <p:cNvSpPr txBox="1"/>
          <p:nvPr/>
        </p:nvSpPr>
        <p:spPr>
          <a:xfrm>
            <a:off x="7040880" y="1188720"/>
            <a:ext cx="4663440" cy="5303520"/>
          </a:xfrm>
          <a:prstGeom prst="rect">
            <a:avLst/>
          </a:prstGeom>
          <a:noFill/>
        </p:spPr>
        <p:txBody>
          <a:bodyPr wrap="square">
            <a:spAutoFit/>
          </a:bodyPr>
          <a:lstStyle/>
          <a:p>
            <a:pPr>
              <a:spcAft>
                <a:spcPts val="800"/>
              </a:spcAft>
              <a:defRPr sz="1800">
                <a:solidFill>
                  <a:srgbClr val="212121"/>
                </a:solidFill>
              </a:defRPr>
            </a:pPr>
            <a:r>
              <a:t>Retry-once model: failed task reruns in place; accuracy kept if the retry meets the deadline</a:t>
            </a:r>
          </a:p>
          <a:p>
            <a:pPr>
              <a:spcAft>
                <a:spcPts val="800"/>
              </a:spcAft>
              <a:defRPr sz="1800">
                <a:solidFill>
                  <a:srgbClr val="212121"/>
                </a:solidFill>
              </a:defRPr>
            </a:pPr>
            <a:r>
              <a:t>Scores flat in failure rate — retries preserve accuracy</a:t>
            </a:r>
          </a:p>
          <a:p>
            <a:pPr>
              <a:spcAft>
                <a:spcPts val="800"/>
              </a:spcAft>
              <a:defRPr sz="1800">
                <a:solidFill>
                  <a:srgbClr val="212121"/>
                </a:solidFill>
              </a:defRPr>
            </a:pPr>
            <a:r>
              <a:t>Feasibility at rate 0.5: greedy 100%; MILP/GA ~60%; rounding ~20%</a:t>
            </a:r>
          </a:p>
          <a:p>
            <a:pPr>
              <a:spcAft>
                <a:spcPts val="800"/>
              </a:spcAft>
              <a:defRPr sz="1800">
                <a:solidFill>
                  <a:srgbClr val="212121"/>
                </a:solidFill>
              </a:defRPr>
            </a:pPr>
            <a:r>
              <a:t>Greedy's edge: it finishes early (makespan ~30 vs 40-80), leaving room for retries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Q5 — Link degradation: what data-awareness is worth</a:t>
            </a:r>
          </a:p>
        </p:txBody>
      </p:sp>
      <p:pic>
        <p:nvPicPr>
          <p:cNvPr id="3" name="Picture 2" descr="perf_bandwidth_accuracy.png"/>
          <p:cNvPicPr>
            <a:picLocks noChangeAspect="1"/>
          </p:cNvPicPr>
          <p:nvPr/>
        </p:nvPicPr>
        <p:blipFill>
          <a:blip r:embed="rId3"/>
          <a:stretch>
            <a:fillRect/>
          </a:stretch>
        </p:blipFill>
        <p:spPr>
          <a:xfrm>
            <a:off x="640080" y="1051560"/>
            <a:ext cx="6126480" cy="2353197"/>
          </a:xfrm>
          <a:prstGeom prst="rect">
            <a:avLst/>
          </a:prstGeom>
        </p:spPr>
      </p:pic>
      <p:sp>
        <p:nvSpPr>
          <p:cNvPr id="4" name="TextBox 3"/>
          <p:cNvSpPr txBox="1"/>
          <p:nvPr/>
        </p:nvSpPr>
        <p:spPr>
          <a:xfrm>
            <a:off x="7040880" y="1188720"/>
            <a:ext cx="4663440" cy="5303520"/>
          </a:xfrm>
          <a:prstGeom prst="rect">
            <a:avLst/>
          </a:prstGeom>
          <a:noFill/>
        </p:spPr>
        <p:txBody>
          <a:bodyPr wrap="square">
            <a:spAutoFit/>
          </a:bodyPr>
          <a:lstStyle/>
          <a:p>
            <a:pPr>
              <a:spcAft>
                <a:spcPts val="800"/>
              </a:spcAft>
              <a:defRPr sz="1800">
                <a:solidFill>
                  <a:srgbClr val="212121"/>
                </a:solidFill>
              </a:defRPr>
            </a:pPr>
            <a:r>
              <a:t>Bandwidth-blind greedy: bound-level scores at every level — but infeasible (80% at 0.5x, 20% at 0.2x, 0% below)</a:t>
            </a:r>
          </a:p>
          <a:p>
            <a:pPr>
              <a:spcAft>
                <a:spcPts val="800"/>
              </a:spcAft>
              <a:defRPr sz="1800">
                <a:solidFill>
                  <a:srgbClr val="212121"/>
                </a:solidFill>
              </a:defRPr>
            </a:pPr>
            <a:r>
              <a:t>MILP: feasible at all levels; ~10% score loss at 0.05x</a:t>
            </a:r>
          </a:p>
          <a:p>
            <a:pPr>
              <a:spcAft>
                <a:spcPts val="800"/>
              </a:spcAft>
              <a:defRPr sz="1800">
                <a:solidFill>
                  <a:srgbClr val="212121"/>
                </a:solidFill>
              </a:defRPr>
            </a:pPr>
            <a:r>
              <a:t>Greedy: feasible to 0.1x, pays in accuracy (0.3-1.4 avg); collapses at 0.05x</a:t>
            </a:r>
          </a:p>
          <a:p>
            <a:pPr>
              <a:spcAft>
                <a:spcPts val="800"/>
              </a:spcAft>
              <a:defRPr sz="1800">
                <a:solidFill>
                  <a:srgbClr val="212121"/>
                </a:solidFill>
              </a:defRPr>
            </a:pPr>
            <a:r>
              <a:t>GA: holds to 0.1x, infeasible at 0.05x; rounding survives only above 0.5x</a:t>
            </a:r>
          </a:p>
          <a:p>
            <a:pPr>
              <a:spcAft>
                <a:spcPts val="800"/>
              </a:spcAft>
              <a:defRPr sz="1800">
                <a:solidFill>
                  <a:srgbClr val="212121"/>
                </a:solidFill>
              </a:defRPr>
            </a:pPr>
            <a:r>
              <a:t>High score + late = a missed alert, not a result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Beyond the sweeps: 10^6-task structures</a:t>
            </a:r>
          </a:p>
        </p:txBody>
      </p:sp>
      <p:sp>
        <p:nvSpPr>
          <p:cNvPr id="3" name="TextBox 2"/>
          <p:cNvSpPr txBox="1"/>
          <p:nvPr/>
        </p:nvSpPr>
        <p:spPr>
          <a:xfrm>
            <a:off x="548640" y="1097280"/>
            <a:ext cx="6309360" cy="5303520"/>
          </a:xfrm>
          <a:prstGeom prst="rect">
            <a:avLst/>
          </a:prstGeom>
          <a:noFill/>
        </p:spPr>
        <p:txBody>
          <a:bodyPr wrap="square">
            <a:spAutoFit/>
          </a:bodyPr>
          <a:lstStyle/>
          <a:p>
            <a:pPr>
              <a:spcAft>
                <a:spcPts val="800"/>
              </a:spcAft>
              <a:defRPr sz="1800">
                <a:solidFill>
                  <a:srgbClr val="212121"/>
                </a:solidFill>
              </a:defRPr>
            </a:pPr>
            <a:r>
              <a:t>DAG generator: 10^6 tasks / ~3M edges in ~3 s; depth grows like log n (24 -&gt; 91 for 100 -&gt; 10^6)</a:t>
            </a:r>
          </a:p>
          <a:p>
            <a:pPr>
              <a:spcAft>
                <a:spcPts val="800"/>
              </a:spcAft>
              <a:defRPr sz="1800">
                <a:solidFill>
                  <a:srgbClr val="212121"/>
                </a:solidFill>
              </a:defRPr>
            </a:pPr>
            <a:r>
              <a:t>Resource graphs: 10^6 fog nodes in ~7 s; avg degree ~5, bandwidth 10-100</a:t>
            </a:r>
          </a:p>
          <a:p>
            <a:pPr>
              <a:spcAft>
                <a:spcPts val="800"/>
              </a:spcAft>
              <a:defRPr sz="1800">
                <a:solidFill>
                  <a:srgbClr val="212121"/>
                </a:solidFill>
              </a:defRPr>
            </a:pPr>
            <a:r>
              <a:t>Structural generation is cheap; schedulable dense instances stop where constraints do</a:t>
            </a:r>
          </a:p>
          <a:p>
            <a:pPr lvl="1">
              <a:spcAft>
                <a:spcPts val="800"/>
              </a:spcAft>
              <a:defRPr sz="1600">
                <a:solidFill>
                  <a:srgbClr val="555555"/>
                </a:solidFill>
              </a:defRPr>
            </a:pPr>
            <a:r>
              <a:t>  MILP: ~800 assignment vars; LP: ~10^5 rows at n=1000; dense n x n instancing ~10^4 tasks</a:t>
            </a:r>
          </a:p>
        </p:txBody>
      </p:sp>
      <p:pic>
        <p:nvPicPr>
          <p:cNvPr id="4" name="Picture 3" descr="resource_graphs.png"/>
          <p:cNvPicPr>
            <a:picLocks noChangeAspect="1"/>
          </p:cNvPicPr>
          <p:nvPr/>
        </p:nvPicPr>
        <p:blipFill>
          <a:blip r:embed="rId3"/>
          <a:stretch>
            <a:fillRect/>
          </a:stretch>
        </p:blipFill>
        <p:spPr>
          <a:xfrm>
            <a:off x="6949440" y="1188720"/>
            <a:ext cx="4937760" cy="2698608"/>
          </a:xfrm>
          <a:prstGeom prst="rect">
            <a:avLst/>
          </a:prstGeom>
        </p:spPr>
      </p:pic>
      <p:sp>
        <p:nvSpPr>
          <p:cNvPr id="5" name="TextBox 4"/>
          <p:cNvSpPr txBox="1"/>
          <p:nvPr/>
        </p:nvSpPr>
        <p:spPr>
          <a:xfrm>
            <a:off x="6949440" y="5943600"/>
            <a:ext cx="4937760" cy="548640"/>
          </a:xfrm>
          <a:prstGeom prst="rect">
            <a:avLst/>
          </a:prstGeom>
          <a:noFill/>
        </p:spPr>
        <p:txBody>
          <a:bodyPr wrap="none">
            <a:spAutoFit/>
          </a:bodyPr>
          <a:lstStyle/>
          <a:p>
            <a:pPr algn="ctr">
              <a:defRPr sz="1200" i="1">
                <a:solidFill>
                  <a:srgbClr val="555555"/>
                </a:solidFill>
              </a:defRPr>
            </a:pPr>
            <a:r>
              <a:t>Generated federated resource graphs (up to 10^6 nodes)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What we learned</a:t>
            </a:r>
          </a:p>
        </p:txBody>
      </p:sp>
      <p:sp>
        <p:nvSpPr>
          <p:cNvPr id="3" name="TextBox 2"/>
          <p:cNvSpPr txBox="1"/>
          <p:nvPr/>
        </p:nvSpPr>
        <p:spPr>
          <a:xfrm>
            <a:off x="548640" y="1097280"/>
            <a:ext cx="10972800" cy="5303520"/>
          </a:xfrm>
          <a:prstGeom prst="rect">
            <a:avLst/>
          </a:prstGeom>
          <a:noFill/>
        </p:spPr>
        <p:txBody>
          <a:bodyPr wrap="square">
            <a:spAutoFit/>
          </a:bodyPr>
          <a:lstStyle/>
          <a:p>
            <a:pPr>
              <a:spcAft>
                <a:spcPts val="800"/>
              </a:spcAft>
              <a:defRPr sz="1800">
                <a:solidFill>
                  <a:srgbClr val="212121"/>
                </a:solidFill>
              </a:defRPr>
            </a:pPr>
            <a:r>
              <a:t>1. The scheduler matters most exactly where the deadline binds — at loose slack almost anything works</a:t>
            </a:r>
          </a:p>
          <a:p>
            <a:pPr>
              <a:spcAft>
                <a:spcPts val="800"/>
              </a:spcAft>
              <a:defRPr sz="1800">
                <a:solidFill>
                  <a:srgbClr val="212121"/>
                </a:solidFill>
              </a:defRPr>
            </a:pPr>
            <a:r>
              <a:t>2. Accuracy under a binding deadline costs wall time: greedy 0.15 s vs rounding ~372 s vs GA ~159 s at n=1000</a:t>
            </a:r>
          </a:p>
          <a:p>
            <a:pPr>
              <a:spcAft>
                <a:spcPts val="800"/>
              </a:spcAft>
              <a:defRPr sz="1800">
                <a:solidFill>
                  <a:srgbClr val="212121"/>
                </a:solidFill>
              </a:defRPr>
            </a:pPr>
            <a:r>
              <a:t>3. Data-awareness buys feasibility, not score: the blind baseline's 'perfect' scores are late schedules</a:t>
            </a:r>
          </a:p>
          <a:p>
            <a:pPr>
              <a:spcAft>
                <a:spcPts val="800"/>
              </a:spcAft>
              <a:defRPr sz="1800">
                <a:solidFill>
                  <a:srgbClr val="212121"/>
                </a:solidFill>
              </a:defRPr>
            </a:pPr>
            <a:r>
              <a:t>4. Fixed search budgets decay — GA quality erodes with both n and N; size-adaptive budgets would close the gap</a:t>
            </a:r>
          </a:p>
          <a:p>
            <a:pPr>
              <a:spcAft>
                <a:spcPts val="800"/>
              </a:spcAft>
              <a:defRPr sz="1800">
                <a:solidFill>
                  <a:srgbClr val="212121"/>
                </a:solidFill>
              </a:defRPr>
            </a:pPr>
          </a:p>
          <a:p>
            <a:pPr>
              <a:spcAft>
                <a:spcPts val="800"/>
              </a:spcAft>
              <a:defRPr sz="1800">
                <a:solidFill>
                  <a:srgbClr val="212121"/>
                </a:solidFill>
              </a:defRPr>
            </a:pPr>
            <a:r>
              <a:t>Rule of thumb: MILP at moderate scale, greedy at large scale, rounding/GA only where their cost is affordable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Honest limits</a:t>
            </a:r>
          </a:p>
        </p:txBody>
      </p:sp>
      <p:sp>
        <p:nvSpPr>
          <p:cNvPr id="3" name="TextBox 2"/>
          <p:cNvSpPr txBox="1"/>
          <p:nvPr/>
        </p:nvSpPr>
        <p:spPr>
          <a:xfrm>
            <a:off x="548640" y="1097280"/>
            <a:ext cx="10972800" cy="5303520"/>
          </a:xfrm>
          <a:prstGeom prst="rect">
            <a:avLst/>
          </a:prstGeom>
          <a:noFill/>
        </p:spPr>
        <p:txBody>
          <a:bodyPr wrap="square">
            <a:spAutoFit/>
          </a:bodyPr>
          <a:lstStyle/>
          <a:p>
            <a:pPr>
              <a:spcAft>
                <a:spcPts val="800"/>
              </a:spcAft>
              <a:defRPr sz="1800">
                <a:solidFill>
                  <a:srgbClr val="212121"/>
                </a:solidFill>
              </a:defRPr>
            </a:pPr>
            <a:r>
              <a:t>MILP capped at ~800 assignment variables — a deliberate boundary, not an oversight</a:t>
            </a:r>
          </a:p>
          <a:p>
            <a:pPr>
              <a:spcAft>
                <a:spcPts val="800"/>
              </a:spcAft>
              <a:defRPr sz="1800">
                <a:solidFill>
                  <a:srgbClr val="212121"/>
                </a:solidFill>
              </a:defRPr>
            </a:pPr>
            <a:r>
              <a:t>LP relaxation: ~10^5 constraint rows at n=1000; rounding trials reduced as size grows (part of its score dip)</a:t>
            </a:r>
          </a:p>
          <a:p>
            <a:pPr>
              <a:spcAft>
                <a:spcPts val="800"/>
              </a:spcAft>
              <a:defRPr sz="1800">
                <a:solidFill>
                  <a:srgbClr val="212121"/>
                </a:solidFill>
              </a:defRPr>
            </a:pPr>
            <a:r>
              <a:t>GA uses one fixed budget across all sizes — its gap is partly budget, partly search</a:t>
            </a:r>
          </a:p>
          <a:p>
            <a:pPr>
              <a:spcAft>
                <a:spcPts val="800"/>
              </a:spcAft>
              <a:defRPr sz="1800">
                <a:solidFill>
                  <a:srgbClr val="212121"/>
                </a:solidFill>
              </a:defRPr>
            </a:pPr>
            <a:r>
              <a:t>Failure model is retry-once-in-place — no replication, checkpointing, or cross-node migration yet</a:t>
            </a:r>
          </a:p>
          <a:p>
            <a:pPr>
              <a:spcAft>
                <a:spcPts val="800"/>
              </a:spcAft>
              <a:defRPr sz="1800">
                <a:solidFill>
                  <a:srgbClr val="212121"/>
                </a:solidFill>
              </a:defRPr>
            </a:pPr>
            <a:r>
              <a:t>Dense schedulable instances stop near 10^4 tasks; the 10^6 experiments are structural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none">
            <a:spAutoFit/>
          </a:bodyPr>
          <a:lstStyle/>
          <a:p>
            <a:pPr>
              <a:defRPr sz="3000" b="1">
                <a:solidFill>
                  <a:srgbClr val="0D2C54"/>
                </a:solidFill>
              </a:defRPr>
            </a:pPr>
            <a:r>
              <a:t>Conclusion</a:t>
            </a:r>
          </a:p>
        </p:txBody>
      </p:sp>
      <p:sp>
        <p:nvSpPr>
          <p:cNvPr id="3" name="TextBox 2"/>
          <p:cNvSpPr txBox="1"/>
          <p:nvPr/>
        </p:nvSpPr>
        <p:spPr>
          <a:xfrm>
            <a:off x="548640" y="1097280"/>
            <a:ext cx="10972800" cy="5303520"/>
          </a:xfrm>
          <a:prstGeom prst="rect">
            <a:avLst/>
          </a:prstGeom>
          <a:noFill/>
        </p:spPr>
        <p:txBody>
          <a:bodyPr wrap="square">
            <a:spAutoFit/>
          </a:bodyPr>
          <a:lstStyle/>
          <a:p>
            <a:pPr>
              <a:spcAft>
                <a:spcPts val="800"/>
              </a:spcAft>
              <a:defRPr sz="1800">
                <a:solidFill>
                  <a:srgbClr val="212121"/>
                </a:solidFill>
              </a:defRPr>
            </a:pPr>
            <a:r>
              <a:t>One joint formulation: task placement + execution fraction + inter-node data movement, under a hard deadline</a:t>
            </a:r>
          </a:p>
          <a:p>
            <a:pPr>
              <a:spcAft>
                <a:spcPts val="800"/>
              </a:spcAft>
              <a:defRPr sz="1800">
                <a:solidFill>
                  <a:srgbClr val="212121"/>
                </a:solidFill>
              </a:defRPr>
            </a:pPr>
            <a:r>
              <a:t>Four schedulers sharing one cost model; five parameter sweeps; a verifiable benchmark at every scale</a:t>
            </a:r>
          </a:p>
          <a:p>
            <a:pPr>
              <a:spcAft>
                <a:spcPts val="800"/>
              </a:spcAft>
              <a:defRPr sz="1800">
                <a:solidFill>
                  <a:srgbClr val="212121"/>
                </a:solidFill>
              </a:defRPr>
            </a:pPr>
            <a:r>
              <a:t>MILP leads under pressure at moderate scale; the data-aware greedy is fast and bound-level at large scale</a:t>
            </a:r>
          </a:p>
          <a:p>
            <a:pPr>
              <a:spcAft>
                <a:spcPts val="800"/>
              </a:spcAft>
              <a:defRPr sz="1800">
                <a:solidFill>
                  <a:srgbClr val="212121"/>
                </a:solidFill>
              </a:defRPr>
            </a:pPr>
            <a:r>
              <a:t>Next: sparse/decomposed models toward 10^6 tasks, adaptive GA budgets, replication/checkpointing, online re-scheduling on a real testbed</a:t>
            </a:r>
          </a:p>
          <a:p>
            <a:pPr>
              <a:spcAft>
                <a:spcPts val="800"/>
              </a:spcAft>
              <a:defRPr sz="1800">
                <a:solidFill>
                  <a:srgbClr val="212121"/>
                </a:solidFill>
              </a:defRPr>
            </a:pPr>
          </a:p>
          <a:p>
            <a:pPr>
              <a:spcAft>
                <a:spcPts val="800"/>
              </a:spcAft>
              <a:defRPr sz="1800">
                <a:solidFill>
                  <a:srgbClr val="212121"/>
                </a:solidFill>
              </a:defRPr>
            </a:pPr>
            <a:r>
              <a:t>Reproduce it: github.com/gayanigupta/data-aware-scheduling — code, CSVs, executed notebook, this deck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371600"/>
          </a:xfrm>
          <a:prstGeom prst="rect">
            <a:avLst/>
          </a:prstGeom>
          <a:noFill/>
        </p:spPr>
        <p:txBody>
          <a:bodyPr wrap="none">
            <a:spAutoFit/>
          </a:bodyPr>
          <a:lstStyle/>
          <a:p>
            <a:pPr algn="ctr">
              <a:defRPr sz="4400" b="1">
                <a:solidFill>
                  <a:srgbClr val="0D2C54"/>
                </a:solidFill>
              </a:defRPr>
            </a:pPr>
            <a:r>
              <a:t>Thank you</a:t>
            </a:r>
          </a:p>
        </p:txBody>
      </p:sp>
      <p:sp>
        <p:nvSpPr>
          <p:cNvPr id="3" name="TextBox 2"/>
          <p:cNvSpPr txBox="1"/>
          <p:nvPr/>
        </p:nvSpPr>
        <p:spPr>
          <a:xfrm>
            <a:off x="914400" y="3931920"/>
            <a:ext cx="10332720" cy="731520"/>
          </a:xfrm>
          <a:prstGeom prst="rect">
            <a:avLst/>
          </a:prstGeom>
          <a:noFill/>
        </p:spPr>
        <p:txBody>
          <a:bodyPr wrap="none">
            <a:spAutoFit/>
          </a:bodyPr>
          <a:lstStyle/>
          <a:p>
            <a:pPr algn="ctr">
              <a:defRPr sz="1800">
                <a:solidFill>
                  <a:srgbClr val="555555"/>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