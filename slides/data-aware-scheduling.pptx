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exact contract. The model takes the task times and accuracies, the data on every edge, and the bandwidth on every link as fixed inputs. It decides only two things per task: which machine it runs on, and how much of it runs. Everything the schedulers can change is in those two columns; everything else is data they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equation that makes the problem data-aware. If task j ran on node b and its successor i runs on node a, the input has to cross the link: cost D over B. If they sit on the same node the transfer is free. Every method in both papers prices this term; the bandwidth-blind baseline is what happens when it is ignored.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problem written as the paper writes it. Maximize average delivered accuracy. The constraints say: every task sits on exactly one permitted node; a task can only run where it is placed; a task cannot start before every predecessor has finished and its data has crossed the link — the line that carries the communication cost; and everything finishes by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algorithm that wins at scale. It walks the DAG in dependency order; at each ready task it prices every eligible node by earliest finish — including the transfer of the inputs — and takes the cheapest. If the schedule misses the deadline it lowers the execution fraction by a step and tries again, down to a floor. One pass is O(nm), so the whole thing is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experiments,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Motivation — disaster-response workflows on federated fog</a:t>
            </a:r>
          </a:p>
          <a:p>
            <a:pPr>
              <a:spcAft>
                <a:spcPts val="1000"/>
              </a:spcAft>
              <a:defRPr sz="1900">
                <a:solidFill>
                  <a:srgbClr val="1A1A1A"/>
                </a:solidFill>
              </a:defRPr>
            </a:pPr>
            <a:r>
              <a:t>•  2.  Related work, and what is still missing</a:t>
            </a:r>
          </a:p>
          <a:p>
            <a:pPr>
              <a:spcAft>
                <a:spcPts val="1000"/>
              </a:spcAft>
              <a:defRPr sz="1900">
                <a:solidFill>
                  <a:srgbClr val="1A1A1A"/>
                </a:solidFill>
              </a:defRPr>
            </a:pPr>
            <a:r>
              <a:t>•  3.  Problem definition — inputs, decisions, objective</a:t>
            </a:r>
          </a:p>
          <a:p>
            <a:pPr>
              <a:spcAft>
                <a:spcPts val="1000"/>
              </a:spcAft>
              <a:defRPr sz="1900">
                <a:solidFill>
                  <a:srgbClr val="1A1A1A"/>
                </a:solidFill>
              </a:defRPr>
            </a:pPr>
            <a:r>
              <a:t>•  4.  Completed work: Paper 1 (published, IEEE Cloud Summit 2025)</a:t>
            </a:r>
          </a:p>
          <a:p>
            <a:pPr>
              <a:spcAft>
                <a:spcPts val="1000"/>
              </a:spcAft>
              <a:defRPr sz="1900">
                <a:solidFill>
                  <a:srgbClr val="1A1A1A"/>
                </a:solidFill>
              </a:defRPr>
            </a:pPr>
            <a:r>
              <a:t>•  5.  Completed work: Paper 2 (in revision, CCGrid 2027), with experimental results</a:t>
            </a:r>
          </a:p>
          <a:p>
            <a:pPr>
              <a:spcAft>
                <a:spcPts val="1000"/>
              </a:spcAft>
              <a:defRPr sz="1900">
                <a:solidFill>
                  <a:srgbClr val="1A1A1A"/>
                </a:solidFill>
              </a:defRPr>
            </a:pPr>
            <a:r>
              <a:t>•  6.  Proposed research: dynamic partial repartitioning after node failures</a:t>
            </a:r>
          </a:p>
          <a:p>
            <a:pPr>
              <a:spcAft>
                <a:spcPts val="1000"/>
              </a:spcAft>
              <a:defRPr sz="1900">
                <a:solidFill>
                  <a:srgbClr val="1A1A1A"/>
                </a:solidFill>
              </a:defRPr>
            </a:pPr>
            <a:r>
              <a:t>•  7.  Evaluation plan, timeline, risks,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1.  Motivation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6" name="TextBox 5"/>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7" name="Picture 6" descr="federated-fog-architecture.png"/>
          <p:cNvPicPr>
            <a:picLocks noChangeAspect="1"/>
          </p:cNvPicPr>
          <p:nvPr/>
        </p:nvPicPr>
        <p:blipFill>
          <a:blip r:embed="rId3"/>
          <a:stretch>
            <a:fillRect/>
          </a:stretch>
        </p:blipFill>
        <p:spPr>
          <a:xfrm>
            <a:off x="6858000" y="1188720"/>
            <a:ext cx="4937760" cy="3396343"/>
          </a:xfrm>
          <a:prstGeom prst="rect">
            <a:avLst/>
          </a:prstGeom>
        </p:spPr>
      </p:pic>
      <p:sp>
        <p:nvSpPr>
          <p:cNvPr id="8" name="TextBox 7"/>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2.  Related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6" name="Table 5"/>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7" name="TextBox 6"/>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3.  Problem definition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6" name="TextBox 5"/>
          <p:cNvSpPr txBox="1"/>
          <p:nvPr/>
        </p:nvSpPr>
        <p:spPr>
          <a:xfrm>
            <a:off x="640080" y="1234440"/>
            <a:ext cx="566928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pic>
        <p:nvPicPr>
          <p:cNvPr id="7" name="Picture 6" descr="disaster-response-dag.png"/>
          <p:cNvPicPr>
            <a:picLocks noChangeAspect="1"/>
          </p:cNvPicPr>
          <p:nvPr/>
        </p:nvPicPr>
        <p:blipFill>
          <a:blip r:embed="rId3"/>
          <a:stretch>
            <a:fillRect/>
          </a:stretch>
        </p:blipFill>
        <p:spPr>
          <a:xfrm>
            <a:off x="6675120" y="1280160"/>
            <a:ext cx="5120640" cy="3833707"/>
          </a:xfrm>
          <a:prstGeom prst="rect">
            <a:avLst/>
          </a:prstGeom>
        </p:spPr>
      </p:pic>
      <p:sp>
        <p:nvSpPr>
          <p:cNvPr id="8" name="TextBox 7"/>
          <p:cNvSpPr txBox="1"/>
          <p:nvPr/>
        </p:nvSpPr>
        <p:spPr>
          <a:xfrm>
            <a:off x="6675120" y="5989320"/>
            <a:ext cx="5120640" cy="457200"/>
          </a:xfrm>
          <a:prstGeom prst="rect">
            <a:avLst/>
          </a:prstGeom>
          <a:noFill/>
        </p:spPr>
        <p:txBody>
          <a:bodyPr wrap="none">
            <a:spAutoFit/>
          </a:bodyPr>
          <a:lstStyle/>
          <a:p>
            <a:pPr algn="ctr">
              <a:defRPr sz="1300" i="1">
                <a:solidFill>
                  <a:srgbClr val="595959"/>
                </a:solidFill>
              </a:defRPr>
            </a:pPr>
            <a:r>
              <a:t>A task graph (left) mapped onto the machine graph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Inputs and decisions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graphicFrame>
        <p:nvGraphicFramePr>
          <p:cNvPr id="6" name="Table 5"/>
          <p:cNvGraphicFramePr>
            <a:graphicFrameLocks noGrp="1"/>
          </p:cNvGraphicFramePr>
          <p:nvPr/>
        </p:nvGraphicFramePr>
        <p:xfrm>
          <a:off x="822960" y="1371600"/>
          <a:ext cx="10515600" cy="3474720"/>
        </p:xfrm>
        <a:graphic>
          <a:graphicData uri="http://schemas.openxmlformats.org/drawingml/2006/table">
            <a:tbl>
              <a:tblPr firstRow="1" bandRow="1">
                <a:tableStyleId>{5C22544A-7EE6-4342-B048-85BDC9FD1C3A}</a:tableStyleId>
              </a:tblPr>
              <a:tblGrid>
                <a:gridCol w="2011680"/>
                <a:gridCol w="6217920"/>
                <a:gridCol w="2286000"/>
              </a:tblGrid>
              <a:tr h="579120">
                <a:tc>
                  <a:txBody>
                    <a:bodyPr wrap="square"/>
                    <a:lstStyle/>
                    <a:p>
                      <a:pPr>
                        <a:defRPr sz="1500" b="1">
                          <a:solidFill>
                            <a:srgbClr val="1A1A1A"/>
                          </a:solidFill>
                        </a:defRPr>
                      </a:pPr>
                      <a:r>
                        <a:t>Symbol</a:t>
                      </a:r>
                    </a:p>
                  </a:txBody>
                  <a:tcPr marT="50800" marB="50800" marL="101600" marR="101600">
                    <a:solidFill>
                      <a:srgbClr val="E8E8E8"/>
                    </a:solidFill>
                  </a:tcPr>
                </a:tc>
                <a:tc>
                  <a:txBody>
                    <a:bodyPr wrap="square"/>
                    <a:lstStyle/>
                    <a:p>
                      <a:pPr>
                        <a:defRPr sz="1500" b="1">
                          <a:solidFill>
                            <a:srgbClr val="1A1A1A"/>
                          </a:solidFill>
                        </a:defRPr>
                      </a:pPr>
                      <a:r>
                        <a:t>Meaning</a:t>
                      </a:r>
                    </a:p>
                  </a:txBody>
                  <a:tcPr marT="50800" marB="50800" marL="101600" marR="101600">
                    <a:solidFill>
                      <a:srgbClr val="E8E8E8"/>
                    </a:solidFill>
                  </a:tcPr>
                </a:tc>
                <a:tc>
                  <a:txBody>
                    <a:bodyPr wrap="square"/>
                    <a:lstStyle/>
                    <a:p>
                      <a:pPr>
                        <a:defRPr sz="1500" b="1">
                          <a:solidFill>
                            <a:srgbClr val="1A1A1A"/>
                          </a:solidFill>
                        </a:defRPr>
                      </a:pPr>
                      <a:r>
                        <a:t>Fixed input or decided?</a:t>
                      </a:r>
                    </a:p>
                  </a:txBody>
                  <a:tcPr marT="50800" marB="50800" marL="101600" marR="101600">
                    <a:solidFill>
                      <a:srgbClr val="E8E8E8"/>
                    </a:solidFill>
                  </a:tcPr>
                </a:tc>
              </a:tr>
              <a:tr h="579120">
                <a:tc>
                  <a:txBody>
                    <a:bodyPr wrap="square"/>
                    <a:lstStyle/>
                    <a:p>
                      <a:pPr>
                        <a:defRPr sz="1500" b="0">
                          <a:solidFill>
                            <a:srgbClr val="1A1A1A"/>
                          </a:solidFill>
                        </a:defRPr>
                      </a:pPr>
                      <a:r>
                        <a:t>T_i ,  A_i</a:t>
                      </a:r>
                    </a:p>
                  </a:txBody>
                  <a:tcPr marT="50800" marB="50800" marL="101600" marR="101600">
                    <a:solidFill>
                      <a:srgbClr val="FFFFFF"/>
                    </a:solidFill>
                  </a:tcPr>
                </a:tc>
                <a:tc>
                  <a:txBody>
                    <a:bodyPr wrap="square"/>
                    <a:lstStyle/>
                    <a:p>
                      <a:pPr>
                        <a:defRPr sz="1500" b="0">
                          <a:solidFill>
                            <a:srgbClr val="1A1A1A"/>
                          </a:solidFill>
                        </a:defRPr>
                      </a:pPr>
                      <a:r>
                        <a:t>task runtime, and accuracy at a full run</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D_ji</a:t>
                      </a:r>
                    </a:p>
                  </a:txBody>
                  <a:tcPr marT="50800" marB="50800" marL="101600" marR="101600">
                    <a:solidFill>
                      <a:srgbClr val="FFFFFF"/>
                    </a:solidFill>
                  </a:tcPr>
                </a:tc>
                <a:tc>
                  <a:txBody>
                    <a:bodyPr wrap="square"/>
                    <a:lstStyle/>
                    <a:p>
                      <a:pPr>
                        <a:defRPr sz="1500" b="0">
                          <a:solidFill>
                            <a:srgbClr val="1A1A1A"/>
                          </a:solidFill>
                        </a:defRPr>
                      </a:pPr>
                      <a:r>
                        <a:t>data size on each workflow edge</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B_ba</a:t>
                      </a:r>
                    </a:p>
                  </a:txBody>
                  <a:tcPr marT="50800" marB="50800" marL="101600" marR="101600">
                    <a:solidFill>
                      <a:srgbClr val="FFFFFF"/>
                    </a:solidFill>
                  </a:tcPr>
                </a:tc>
                <a:tc>
                  <a:txBody>
                    <a:bodyPr wrap="square"/>
                    <a:lstStyle/>
                    <a:p>
                      <a:pPr>
                        <a:defRPr sz="1500" b="0">
                          <a:solidFill>
                            <a:srgbClr val="1A1A1A"/>
                          </a:solidFill>
                        </a:defRPr>
                      </a:pPr>
                      <a:r>
                        <a:t>bandwidth on each machine link</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e_ia</a:t>
                      </a:r>
                    </a:p>
                  </a:txBody>
                  <a:tcPr marT="50800" marB="50800" marL="101600" marR="101600">
                    <a:solidFill>
                      <a:srgbClr val="FFFFFF"/>
                    </a:solidFill>
                  </a:tcPr>
                </a:tc>
                <a:tc>
                  <a:txBody>
                    <a:bodyPr wrap="square"/>
                    <a:lstStyle/>
                    <a:p>
                      <a:pPr>
                        <a:defRPr sz="1500" b="0">
                          <a:solidFill>
                            <a:srgbClr val="1A1A1A"/>
                          </a:solidFill>
                        </a:defRPr>
                      </a:pPr>
                      <a:r>
                        <a:t>which machine task i runs on</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r h="579120">
                <a:tc>
                  <a:txBody>
                    <a:bodyPr wrap="square"/>
                    <a:lstStyle/>
                    <a:p>
                      <a:pPr>
                        <a:defRPr sz="1500" b="0">
                          <a:solidFill>
                            <a:srgbClr val="1A1A1A"/>
                          </a:solidFill>
                        </a:defRPr>
                      </a:pPr>
                      <a:r>
                        <a:t>l_ia</a:t>
                      </a:r>
                    </a:p>
                  </a:txBody>
                  <a:tcPr marT="50800" marB="50800" marL="101600" marR="101600">
                    <a:solidFill>
                      <a:srgbClr val="FFFFFF"/>
                    </a:solidFill>
                  </a:tcPr>
                </a:tc>
                <a:tc>
                  <a:txBody>
                    <a:bodyPr wrap="square"/>
                    <a:lstStyle/>
                    <a:p>
                      <a:pPr>
                        <a:defRPr sz="1500" b="0">
                          <a:solidFill>
                            <a:srgbClr val="1A1A1A"/>
                          </a:solidFill>
                        </a:defRPr>
                      </a:pPr>
                      <a:r>
                        <a:t>what fraction of task i runs (0 to 1)</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data sizes and bandwidths are given; the only decisions are where each task runs and how much of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transfer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pic>
        <p:nvPicPr>
          <p:cNvPr id="6" name="Picture 5" descr="eq1.png"/>
          <p:cNvPicPr>
            <a:picLocks noChangeAspect="1"/>
          </p:cNvPicPr>
          <p:nvPr/>
        </p:nvPicPr>
        <p:blipFill>
          <a:blip r:embed="rId3"/>
          <a:stretch>
            <a:fillRect/>
          </a:stretch>
        </p:blipFill>
        <p:spPr>
          <a:xfrm>
            <a:off x="2011680" y="1554480"/>
            <a:ext cx="4634431" cy="402596"/>
          </a:xfrm>
          <a:prstGeom prst="rect">
            <a:avLst/>
          </a:prstGeom>
        </p:spPr>
      </p:pic>
      <p:pic>
        <p:nvPicPr>
          <p:cNvPr id="7" name="Picture 6" descr="eq2.png"/>
          <p:cNvPicPr>
            <a:picLocks noChangeAspect="1"/>
          </p:cNvPicPr>
          <p:nvPr/>
        </p:nvPicPr>
        <p:blipFill>
          <a:blip r:embed="rId4"/>
          <a:stretch>
            <a:fillRect/>
          </a:stretch>
        </p:blipFill>
        <p:spPr>
          <a:xfrm>
            <a:off x="2011680" y="2331720"/>
            <a:ext cx="5382437" cy="507605"/>
          </a:xfrm>
          <a:prstGeom prst="rect">
            <a:avLst/>
          </a:prstGeom>
        </p:spPr>
      </p:pic>
      <p:sp>
        <p:nvSpPr>
          <p:cNvPr id="8" name="TextBox 7"/>
          <p:cNvSpPr txBox="1"/>
          <p:nvPr/>
        </p:nvSpPr>
        <p:spPr>
          <a:xfrm>
            <a:off x="640080" y="3749039"/>
            <a:ext cx="10972800" cy="5029200"/>
          </a:xfrm>
          <a:prstGeom prst="rect">
            <a:avLst/>
          </a:prstGeom>
          <a:noFill/>
        </p:spPr>
        <p:txBody>
          <a:bodyPr wrap="square">
            <a:spAutoFit/>
          </a:bodyPr>
          <a:lstStyle/>
          <a:p>
            <a:pPr>
              <a:spcAft>
                <a:spcPts val="1000"/>
              </a:spcAft>
              <a:defRPr sz="2000">
                <a:solidFill>
                  <a:srgbClr val="1A1A1A"/>
                </a:solidFill>
              </a:defRPr>
            </a:pPr>
            <a:r>
              <a:t>•  Same node — the data never touches a link, so the transfer is free</a:t>
            </a:r>
          </a:p>
          <a:p>
            <a:pPr>
              <a:spcAft>
                <a:spcPts val="1000"/>
              </a:spcAft>
              <a:defRPr sz="2000">
                <a:solidFill>
                  <a:srgbClr val="1A1A1A"/>
                </a:solidFill>
              </a:defRPr>
            </a:pPr>
            <a:r>
              <a:t>•  Different nodes — the transfer costs data size over bandwidth, which can rival the task itself</a:t>
            </a:r>
          </a:p>
          <a:p>
            <a:pPr>
              <a:spcAft>
                <a:spcPts val="1000"/>
              </a:spcAft>
              <a:defRPr sz="2000">
                <a:solidFill>
                  <a:srgbClr val="1A1A1A"/>
                </a:solidFill>
              </a:defRPr>
            </a:pPr>
            <a:r>
              <a:t>•  This term is where D_ji and B_ba enter the optimization — and what a bandwidth-blind scheduler never sees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choose a machine and a fraction for every task so the workflow is feasible and its accuracy is maximal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formulation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pic>
        <p:nvPicPr>
          <p:cNvPr id="6" name="Picture 5" descr="eq3.png"/>
          <p:cNvPicPr>
            <a:picLocks noChangeAspect="1"/>
          </p:cNvPicPr>
          <p:nvPr/>
        </p:nvPicPr>
        <p:blipFill>
          <a:blip r:embed="rId3"/>
          <a:stretch>
            <a:fillRect/>
          </a:stretch>
        </p:blipFill>
        <p:spPr>
          <a:xfrm>
            <a:off x="822960" y="1234440"/>
            <a:ext cx="2549197" cy="558352"/>
          </a:xfrm>
          <a:prstGeom prst="rect">
            <a:avLst/>
          </a:prstGeom>
        </p:spPr>
      </p:pic>
      <p:sp>
        <p:nvSpPr>
          <p:cNvPr id="7" name="TextBox 6"/>
          <p:cNvSpPr txBox="1"/>
          <p:nvPr/>
        </p:nvSpPr>
        <p:spPr>
          <a:xfrm>
            <a:off x="822960" y="1965960"/>
            <a:ext cx="10972800" cy="1463040"/>
          </a:xfrm>
          <a:prstGeom prst="rect">
            <a:avLst/>
          </a:prstGeom>
          <a:noFill/>
        </p:spPr>
        <p:txBody>
          <a:bodyPr wrap="square">
            <a:spAutoFit/>
          </a:bodyPr>
          <a:lstStyle/>
          <a:p>
            <a:pPr>
              <a:defRPr sz="1500" b="0" i="0">
                <a:solidFill>
                  <a:srgbClr val="595959"/>
                </a:solidFill>
              </a:defRPr>
            </a:pPr>
            <a:r>
              <a:t>subject to</a:t>
            </a:r>
          </a:p>
        </p:txBody>
      </p:sp>
      <p:pic>
        <p:nvPicPr>
          <p:cNvPr id="8" name="Picture 7" descr="eq4.png"/>
          <p:cNvPicPr>
            <a:picLocks noChangeAspect="1"/>
          </p:cNvPicPr>
          <p:nvPr/>
        </p:nvPicPr>
        <p:blipFill>
          <a:blip r:embed="rId4"/>
          <a:stretch>
            <a:fillRect/>
          </a:stretch>
        </p:blipFill>
        <p:spPr>
          <a:xfrm>
            <a:off x="1005840" y="2331720"/>
            <a:ext cx="1012945" cy="453763"/>
          </a:xfrm>
          <a:prstGeom prst="rect">
            <a:avLst/>
          </a:prstGeom>
        </p:spPr>
      </p:pic>
      <p:sp>
        <p:nvSpPr>
          <p:cNvPr id="9" name="TextBox 8"/>
          <p:cNvSpPr txBox="1"/>
          <p:nvPr/>
        </p:nvSpPr>
        <p:spPr>
          <a:xfrm>
            <a:off x="7863840" y="2377439"/>
            <a:ext cx="3840480" cy="1463040"/>
          </a:xfrm>
          <a:prstGeom prst="rect">
            <a:avLst/>
          </a:prstGeom>
          <a:noFill/>
        </p:spPr>
        <p:txBody>
          <a:bodyPr wrap="square">
            <a:spAutoFit/>
          </a:bodyPr>
          <a:lstStyle/>
          <a:p>
            <a:pPr>
              <a:defRPr sz="1300" b="0" i="1">
                <a:solidFill>
                  <a:srgbClr val="595959"/>
                </a:solidFill>
              </a:defRPr>
            </a:pPr>
            <a:r>
              <a:t>one node per task</a:t>
            </a:r>
          </a:p>
        </p:txBody>
      </p:sp>
      <p:pic>
        <p:nvPicPr>
          <p:cNvPr id="10" name="Picture 9" descr="eq5.png"/>
          <p:cNvPicPr>
            <a:picLocks noChangeAspect="1"/>
          </p:cNvPicPr>
          <p:nvPr/>
        </p:nvPicPr>
        <p:blipFill>
          <a:blip r:embed="rId5"/>
          <a:stretch>
            <a:fillRect/>
          </a:stretch>
        </p:blipFill>
        <p:spPr>
          <a:xfrm>
            <a:off x="1005840" y="2843784"/>
            <a:ext cx="765372" cy="215404"/>
          </a:xfrm>
          <a:prstGeom prst="rect">
            <a:avLst/>
          </a:prstGeom>
        </p:spPr>
      </p:pic>
      <p:sp>
        <p:nvSpPr>
          <p:cNvPr id="11" name="TextBox 10"/>
          <p:cNvSpPr txBox="1"/>
          <p:nvPr/>
        </p:nvSpPr>
        <p:spPr>
          <a:xfrm>
            <a:off x="7863840" y="2889503"/>
            <a:ext cx="3840480" cy="1463040"/>
          </a:xfrm>
          <a:prstGeom prst="rect">
            <a:avLst/>
          </a:prstGeom>
          <a:noFill/>
        </p:spPr>
        <p:txBody>
          <a:bodyPr wrap="square">
            <a:spAutoFit/>
          </a:bodyPr>
          <a:lstStyle/>
          <a:p>
            <a:pPr>
              <a:defRPr sz="1300" b="0" i="1">
                <a:solidFill>
                  <a:srgbClr val="595959"/>
                </a:solidFill>
              </a:defRPr>
            </a:pPr>
            <a:r>
              <a:t>only eligible nodes</a:t>
            </a:r>
          </a:p>
        </p:txBody>
      </p:sp>
      <p:pic>
        <p:nvPicPr>
          <p:cNvPr id="12" name="Picture 11" descr="eq6.png"/>
          <p:cNvPicPr>
            <a:picLocks noChangeAspect="1"/>
          </p:cNvPicPr>
          <p:nvPr/>
        </p:nvPicPr>
        <p:blipFill>
          <a:blip r:embed="rId6"/>
          <a:stretch>
            <a:fillRect/>
          </a:stretch>
        </p:blipFill>
        <p:spPr>
          <a:xfrm>
            <a:off x="1005840" y="3355848"/>
            <a:ext cx="1078401" cy="215680"/>
          </a:xfrm>
          <a:prstGeom prst="rect">
            <a:avLst/>
          </a:prstGeom>
        </p:spPr>
      </p:pic>
      <p:sp>
        <p:nvSpPr>
          <p:cNvPr id="13" name="TextBox 12"/>
          <p:cNvSpPr txBox="1"/>
          <p:nvPr/>
        </p:nvSpPr>
        <p:spPr>
          <a:xfrm>
            <a:off x="7863840" y="3401568"/>
            <a:ext cx="3840480" cy="1463040"/>
          </a:xfrm>
          <a:prstGeom prst="rect">
            <a:avLst/>
          </a:prstGeom>
          <a:noFill/>
        </p:spPr>
        <p:txBody>
          <a:bodyPr wrap="square">
            <a:spAutoFit/>
          </a:bodyPr>
          <a:lstStyle/>
          <a:p>
            <a:pPr>
              <a:defRPr sz="1300" b="0" i="1">
                <a:solidFill>
                  <a:srgbClr val="595959"/>
                </a:solidFill>
              </a:defRPr>
            </a:pPr>
            <a:r>
              <a:t>runs only where placed</a:t>
            </a:r>
          </a:p>
        </p:txBody>
      </p:sp>
      <p:pic>
        <p:nvPicPr>
          <p:cNvPr id="14" name="Picture 13" descr="eq7.png"/>
          <p:cNvPicPr>
            <a:picLocks noChangeAspect="1"/>
          </p:cNvPicPr>
          <p:nvPr/>
        </p:nvPicPr>
        <p:blipFill>
          <a:blip r:embed="rId7"/>
          <a:stretch>
            <a:fillRect/>
          </a:stretch>
        </p:blipFill>
        <p:spPr>
          <a:xfrm>
            <a:off x="1005840" y="3867912"/>
            <a:ext cx="1952302" cy="452641"/>
          </a:xfrm>
          <a:prstGeom prst="rect">
            <a:avLst/>
          </a:prstGeom>
        </p:spPr>
      </p:pic>
      <p:sp>
        <p:nvSpPr>
          <p:cNvPr id="15" name="TextBox 14"/>
          <p:cNvSpPr txBox="1"/>
          <p:nvPr/>
        </p:nvSpPr>
        <p:spPr>
          <a:xfrm>
            <a:off x="7863840" y="3913632"/>
            <a:ext cx="3840480" cy="1463040"/>
          </a:xfrm>
          <a:prstGeom prst="rect">
            <a:avLst/>
          </a:prstGeom>
          <a:noFill/>
        </p:spPr>
        <p:txBody>
          <a:bodyPr wrap="square">
            <a:spAutoFit/>
          </a:bodyPr>
          <a:lstStyle/>
          <a:p>
            <a:pPr>
              <a:defRPr sz="1300" b="0" i="1">
                <a:solidFill>
                  <a:srgbClr val="595959"/>
                </a:solidFill>
              </a:defRPr>
            </a:pPr>
            <a:r>
              <a:t>starts only after inputs arrive</a:t>
            </a:r>
          </a:p>
        </p:txBody>
      </p:sp>
      <p:pic>
        <p:nvPicPr>
          <p:cNvPr id="16" name="Picture 15" descr="eq8.png"/>
          <p:cNvPicPr>
            <a:picLocks noChangeAspect="1"/>
          </p:cNvPicPr>
          <p:nvPr/>
        </p:nvPicPr>
        <p:blipFill>
          <a:blip r:embed="rId8"/>
          <a:stretch>
            <a:fillRect/>
          </a:stretch>
        </p:blipFill>
        <p:spPr>
          <a:xfrm>
            <a:off x="1005840" y="4379976"/>
            <a:ext cx="2205228" cy="452941"/>
          </a:xfrm>
          <a:prstGeom prst="rect">
            <a:avLst/>
          </a:prstGeom>
        </p:spPr>
      </p:pic>
      <p:sp>
        <p:nvSpPr>
          <p:cNvPr id="17" name="TextBox 16"/>
          <p:cNvSpPr txBox="1"/>
          <p:nvPr/>
        </p:nvSpPr>
        <p:spPr>
          <a:xfrm>
            <a:off x="7863840" y="4425696"/>
            <a:ext cx="3840480" cy="1463040"/>
          </a:xfrm>
          <a:prstGeom prst="rect">
            <a:avLst/>
          </a:prstGeom>
          <a:noFill/>
        </p:spPr>
        <p:txBody>
          <a:bodyPr wrap="square">
            <a:spAutoFit/>
          </a:bodyPr>
          <a:lstStyle/>
          <a:p>
            <a:pPr>
              <a:defRPr sz="1300" b="0" i="1">
                <a:solidFill>
                  <a:srgbClr val="595959"/>
                </a:solidFill>
              </a:defRPr>
            </a:pPr>
            <a:r>
              <a:t>completion time</a:t>
            </a:r>
          </a:p>
        </p:txBody>
      </p:sp>
      <p:pic>
        <p:nvPicPr>
          <p:cNvPr id="18" name="Picture 17" descr="eq9.png"/>
          <p:cNvPicPr>
            <a:picLocks noChangeAspect="1"/>
          </p:cNvPicPr>
          <p:nvPr/>
        </p:nvPicPr>
        <p:blipFill>
          <a:blip r:embed="rId9"/>
          <a:stretch>
            <a:fillRect/>
          </a:stretch>
        </p:blipFill>
        <p:spPr>
          <a:xfrm>
            <a:off x="1005840" y="4892040"/>
            <a:ext cx="823709" cy="210503"/>
          </a:xfrm>
          <a:prstGeom prst="rect">
            <a:avLst/>
          </a:prstGeom>
        </p:spPr>
      </p:pic>
      <p:sp>
        <p:nvSpPr>
          <p:cNvPr id="19" name="TextBox 18"/>
          <p:cNvSpPr txBox="1"/>
          <p:nvPr/>
        </p:nvSpPr>
        <p:spPr>
          <a:xfrm>
            <a:off x="7863840" y="4937759"/>
            <a:ext cx="3840480" cy="1463040"/>
          </a:xfrm>
          <a:prstGeom prst="rect">
            <a:avLst/>
          </a:prstGeom>
          <a:noFill/>
        </p:spPr>
        <p:txBody>
          <a:bodyPr wrap="square">
            <a:spAutoFit/>
          </a:bodyPr>
          <a:lstStyle/>
          <a:p>
            <a:pPr>
              <a:defRPr sz="1300" b="0" i="1">
                <a:solidFill>
                  <a:srgbClr val="595959"/>
                </a:solidFill>
              </a:defRPr>
            </a:pPr>
            <a:r>
              <a:t>deadline</a:t>
            </a:r>
          </a:p>
        </p:txBody>
      </p:sp>
      <p:pic>
        <p:nvPicPr>
          <p:cNvPr id="20" name="Picture 19" descr="eq10.png"/>
          <p:cNvPicPr>
            <a:picLocks noChangeAspect="1"/>
          </p:cNvPicPr>
          <p:nvPr/>
        </p:nvPicPr>
        <p:blipFill>
          <a:blip r:embed="rId10"/>
          <a:stretch>
            <a:fillRect/>
          </a:stretch>
        </p:blipFill>
        <p:spPr>
          <a:xfrm>
            <a:off x="1005840" y="5404104"/>
            <a:ext cx="1128944" cy="220282"/>
          </a:xfrm>
          <a:prstGeom prst="rect">
            <a:avLst/>
          </a:prstGeom>
        </p:spPr>
      </p:pic>
      <p:sp>
        <p:nvSpPr>
          <p:cNvPr id="21" name="TextBox 20"/>
          <p:cNvSpPr txBox="1"/>
          <p:nvPr/>
        </p:nvSpPr>
        <p:spPr>
          <a:xfrm>
            <a:off x="7863840" y="5449824"/>
            <a:ext cx="3840480" cy="1463040"/>
          </a:xfrm>
          <a:prstGeom prst="rect">
            <a:avLst/>
          </a:prstGeom>
          <a:noFill/>
        </p:spPr>
        <p:txBody>
          <a:bodyPr wrap="square">
            <a:spAutoFit/>
          </a:bodyPr>
          <a:lstStyle/>
          <a:p>
            <a:pPr>
              <a:defRPr sz="1300" b="0" i="1">
                <a:solidFill>
                  <a:srgbClr val="595959"/>
                </a:solidFill>
              </a:defRPr>
            </a:pPr>
            <a:r>
              <a:t>placement is binary</a:t>
            </a:r>
          </a:p>
        </p:txBody>
      </p:sp>
      <p:cxnSp>
        <p:nvCxnSpPr>
          <p:cNvPr id="22" name="Connector 21"/>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line M_ia ≥ y_j + Σ e_jb c_ji is where data size and bandwidth enter the optimization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repair only what the failure broke — done work is never redone and healthy placements never move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4.  Paper 1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1 delivered the model, the proofs, and four schedulers on one cost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graphicFrame>
        <p:nvGraphicFramePr>
          <p:cNvPr id="6" name="Table 5"/>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
        <p:nvSpPr>
          <p:cNvPr id="7" name="TextBox 6"/>
          <p:cNvSpPr txBox="1"/>
          <p:nvPr/>
        </p:nvSpPr>
        <p:spPr>
          <a:xfrm>
            <a:off x="731520" y="5486400"/>
            <a:ext cx="10972800" cy="1463040"/>
          </a:xfrm>
          <a:prstGeom prst="rect">
            <a:avLst/>
          </a:prstGeom>
          <a:noFill/>
        </p:spPr>
        <p:txBody>
          <a:bodyPr wrap="square">
            <a:spAutoFit/>
          </a:bodyPr>
          <a:lstStyle/>
          <a:p>
            <a:pPr>
              <a:defRPr sz="1300" b="0" i="1">
                <a:solidFill>
                  <a:srgbClr val="595959"/>
                </a:solidFill>
              </a:defRPr>
            </a:pPr>
            <a:r>
              <a:t>GA fitness — accuracy minus deadline penalties:</a:t>
            </a:r>
          </a:p>
        </p:txBody>
      </p:sp>
      <p:pic>
        <p:nvPicPr>
          <p:cNvPr id="8" name="Picture 7" descr="eq11.png"/>
          <p:cNvPicPr>
            <a:picLocks noChangeAspect="1"/>
          </p:cNvPicPr>
          <p:nvPr/>
        </p:nvPicPr>
        <p:blipFill>
          <a:blip r:embed="rId3"/>
          <a:stretch>
            <a:fillRect/>
          </a:stretch>
        </p:blipFill>
        <p:spPr>
          <a:xfrm>
            <a:off x="3291840" y="5440680"/>
            <a:ext cx="3817453" cy="45772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5.  Paper 2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2 made every score interpretable — a bound, a blind baseline, a failure model, and stated limits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The bound: run every task completely and ignore the links — the best score any schedule could report</a:t>
            </a:r>
          </a:p>
          <a:p>
            <a:pPr>
              <a:spcAft>
                <a:spcPts val="1000"/>
              </a:spcAft>
              <a:defRPr sz="1700">
                <a:solidFill>
                  <a:srgbClr val="595959"/>
                </a:solidFill>
              </a:defRPr>
            </a:pPr>
            <a:r>
              <a:t>      – no feasible schedule can beat it; every score is read against it</a:t>
            </a:r>
          </a:p>
          <a:p>
            <a:pPr>
              <a:spcAft>
                <a:spcPts val="1000"/>
              </a:spcAft>
              <a:defRPr sz="1900">
                <a:solidFill>
                  <a:srgbClr val="1A1A1A"/>
                </a:solidFill>
              </a:defRPr>
            </a:pPr>
            <a:r>
              <a:t>•  The blind baseline: prices computation but not the links</a:t>
            </a:r>
          </a:p>
          <a:p>
            <a:pPr>
              <a:spcAft>
                <a:spcPts val="1000"/>
              </a:spcAft>
              <a:defRPr sz="1700">
                <a:solidFill>
                  <a:srgbClr val="595959"/>
                </a:solidFill>
              </a:defRPr>
            </a:pPr>
            <a:r>
              <a:t>      – it reports bound-level scores on schedules that are actually infeasible</a:t>
            </a:r>
          </a:p>
          <a:p>
            <a:pPr>
              <a:spcAft>
                <a:spcPts val="1000"/>
              </a:spcAft>
              <a:defRPr sz="1900">
                <a:solidFill>
                  <a:srgbClr val="1A1A1A"/>
                </a:solidFill>
              </a:defRPr>
            </a:pPr>
            <a:r>
              <a:t>•  Together they frame the question the experiments answer: how close can each method get, and at what cost?</a:t>
            </a:r>
          </a:p>
        </p:txBody>
      </p:sp>
      <p:pic>
        <p:nvPicPr>
          <p:cNvPr id="7" name="Picture 6" descr="eq12.png"/>
          <p:cNvPicPr>
            <a:picLocks noChangeAspect="1"/>
          </p:cNvPicPr>
          <p:nvPr/>
        </p:nvPicPr>
        <p:blipFill>
          <a:blip r:embed="rId3"/>
          <a:stretch>
            <a:fillRect/>
          </a:stretch>
        </p:blipFill>
        <p:spPr>
          <a:xfrm>
            <a:off x="1097280" y="4892040"/>
            <a:ext cx="2711580" cy="489273"/>
          </a:xfrm>
          <a:prstGeom prst="rect">
            <a:avLst/>
          </a:prstGeom>
        </p:spPr>
      </p:pic>
      <p:pic>
        <p:nvPicPr>
          <p:cNvPr id="8" name="Picture 7" descr="eq13.png"/>
          <p:cNvPicPr>
            <a:picLocks noChangeAspect="1"/>
          </p:cNvPicPr>
          <p:nvPr/>
        </p:nvPicPr>
        <p:blipFill>
          <a:blip r:embed="rId4"/>
          <a:stretch>
            <a:fillRect/>
          </a:stretch>
        </p:blipFill>
        <p:spPr>
          <a:xfrm>
            <a:off x="6949440" y="4892040"/>
            <a:ext cx="2718144" cy="4896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sp>
        <p:nvSpPr>
          <p:cNvPr id="6" name="TextBox 5"/>
          <p:cNvSpPr txBox="1"/>
          <p:nvPr/>
        </p:nvSpPr>
        <p:spPr>
          <a:xfrm>
            <a:off x="640080" y="1371600"/>
            <a:ext cx="5303520" cy="5029200"/>
          </a:xfrm>
          <a:prstGeom prst="rect">
            <a:avLst/>
          </a:prstGeom>
          <a:noFill/>
        </p:spPr>
        <p:txBody>
          <a:bodyPr wrap="square">
            <a:spAutoFit/>
          </a:bodyPr>
          <a:lstStyle/>
          <a:p>
            <a:pPr>
              <a:spcAft>
                <a:spcPts val="1000"/>
              </a:spcAft>
              <a:defRPr sz="1900">
                <a:solidFill>
                  <a:srgbClr val="1A1A1A"/>
                </a:solidFill>
              </a:defRPr>
            </a:pPr>
            <a:r>
              <a:t>•  Every method prices transfers the same way, so the differences are algorithmic, not accounting</a:t>
            </a:r>
          </a:p>
          <a:p>
            <a:pPr>
              <a:spcAft>
                <a:spcPts val="1000"/>
              </a:spcAft>
              <a:defRPr sz="1900">
                <a:solidFill>
                  <a:srgbClr val="1A1A1A"/>
                </a:solidFill>
              </a:defRPr>
            </a:pPr>
            <a:r>
              <a:t>•  The exact solver is the benchmark</a:t>
            </a:r>
          </a:p>
          <a:p>
            <a:pPr>
              <a:spcAft>
                <a:spcPts val="1000"/>
              </a:spcAft>
              <a:defRPr sz="1900">
                <a:solidFill>
                  <a:srgbClr val="1A1A1A"/>
                </a:solidFill>
              </a:defRPr>
            </a:pPr>
            <a:r>
              <a:t>•  LP rounding relaxes the integer choices, samples a machine per task, and re-solves the fractions</a:t>
            </a:r>
          </a:p>
          <a:p>
            <a:pPr>
              <a:spcAft>
                <a:spcPts val="1000"/>
              </a:spcAft>
              <a:defRPr sz="1900">
                <a:solidFill>
                  <a:srgbClr val="1A1A1A"/>
                </a:solidFill>
              </a:defRPr>
            </a:pPr>
            <a:r>
              <a:t>•  The greedy places ready tasks by earliest finish; on a deadline miss it lowers the fraction and retries</a:t>
            </a:r>
          </a:p>
          <a:p>
            <a:pPr>
              <a:spcAft>
                <a:spcPts val="1000"/>
              </a:spcAft>
              <a:defRPr sz="1900">
                <a:solidFill>
                  <a:srgbClr val="1A1A1A"/>
                </a:solidFill>
              </a:defRPr>
            </a:pPr>
            <a:r>
              <a:t>•  The GA searches assignments and fractions as one chromosome</a:t>
            </a:r>
          </a:p>
        </p:txBody>
      </p:sp>
      <p:pic>
        <p:nvPicPr>
          <p:cNvPr id="7" name="Picture 6" descr="scheduling-pipeline.png"/>
          <p:cNvPicPr>
            <a:picLocks noChangeAspect="1"/>
          </p:cNvPicPr>
          <p:nvPr/>
        </p:nvPicPr>
        <p:blipFill>
          <a:blip r:embed="rId3"/>
          <a:stretch>
            <a:fillRect/>
          </a:stretch>
        </p:blipFill>
        <p:spPr>
          <a:xfrm>
            <a:off x="6400800" y="1554480"/>
            <a:ext cx="5486400" cy="3352800"/>
          </a:xfrm>
          <a:prstGeom prst="rect">
            <a:avLst/>
          </a:prstGeom>
        </p:spPr>
      </p:pic>
      <p:sp>
        <p:nvSpPr>
          <p:cNvPr id="8" name="TextBox 7"/>
          <p:cNvSpPr txBox="1"/>
          <p:nvPr/>
        </p:nvSpPr>
        <p:spPr>
          <a:xfrm>
            <a:off x="6400800" y="5760720"/>
            <a:ext cx="5486400" cy="457200"/>
          </a:xfrm>
          <a:prstGeom prst="rect">
            <a:avLst/>
          </a:prstGeom>
          <a:noFill/>
        </p:spPr>
        <p:txBody>
          <a:bodyPr wrap="none">
            <a:spAutoFit/>
          </a:bodyPr>
          <a:lstStyle/>
          <a:p>
            <a:pPr algn="ctr">
              <a:defRPr sz="1300" i="1">
                <a:solidFill>
                  <a:srgbClr val="595959"/>
                </a:solidFill>
              </a:defRPr>
            </a:pPr>
            <a:r>
              <a:t>The pipeline every method runs through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greedy scheduler, in code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6" name="Picture 5" descr="eq14.png"/>
          <p:cNvPicPr>
            <a:picLocks noChangeAspect="1"/>
          </p:cNvPicPr>
          <p:nvPr/>
        </p:nvPicPr>
        <p:blipFill>
          <a:blip r:embed="rId3"/>
          <a:stretch>
            <a:fillRect/>
          </a:stretch>
        </p:blipFill>
        <p:spPr>
          <a:xfrm>
            <a:off x="822960" y="1188720"/>
            <a:ext cx="6094308" cy="256217"/>
          </a:xfrm>
          <a:prstGeom prst="rect">
            <a:avLst/>
          </a:prstGeom>
        </p:spPr>
      </p:pic>
      <p:sp>
        <p:nvSpPr>
          <p:cNvPr id="7" name="TextBox 6"/>
          <p:cNvSpPr txBox="1"/>
          <p:nvPr/>
        </p:nvSpPr>
        <p:spPr>
          <a:xfrm>
            <a:off x="822960" y="1828800"/>
            <a:ext cx="10515600" cy="4389120"/>
          </a:xfrm>
          <a:prstGeom prst="rect">
            <a:avLst/>
          </a:prstGeom>
          <a:noFill/>
        </p:spPr>
        <p:txBody>
          <a:bodyPr wrap="square">
            <a:spAutoFit/>
          </a:bodyPr>
          <a:lstStyle/>
          <a:p>
            <a:pPr>
              <a:spcAft>
                <a:spcPts val="400"/>
              </a:spcAft>
              <a:defRPr sz="1500">
                <a:solidFill>
                  <a:srgbClr val="1A1A1A"/>
                </a:solidFill>
                <a:latin typeface="Menlo"/>
              </a:defRPr>
            </a:pPr>
            <a:r>
              <a:t>l ← 1</a:t>
            </a:r>
          </a:p>
          <a:p>
            <a:pPr>
              <a:spcAft>
                <a:spcPts val="400"/>
              </a:spcAft>
              <a:defRPr sz="1500">
                <a:solidFill>
                  <a:srgbClr val="1A1A1A"/>
                </a:solidFill>
                <a:latin typeface="Menlo"/>
              </a:defRPr>
            </a:pPr>
            <a:r>
              <a:t>repeat</a:t>
            </a:r>
          </a:p>
          <a:p>
            <a:pPr>
              <a:spcAft>
                <a:spcPts val="400"/>
              </a:spcAft>
              <a:defRPr sz="1500">
                <a:solidFill>
                  <a:srgbClr val="1A1A1A"/>
                </a:solidFill>
                <a:latin typeface="Menlo"/>
              </a:defRPr>
            </a:pPr>
            <a:r>
              <a:t>    R ← source tasks;  y ← ∞</a:t>
            </a:r>
          </a:p>
          <a:p>
            <a:pPr>
              <a:spcAft>
                <a:spcPts val="400"/>
              </a:spcAft>
              <a:defRPr sz="1500">
                <a:solidFill>
                  <a:srgbClr val="1A1A1A"/>
                </a:solidFill>
                <a:latin typeface="Menlo"/>
              </a:defRPr>
            </a:pPr>
            <a:r>
              <a:t>    while R ≠ ∅:</a:t>
            </a:r>
          </a:p>
          <a:p>
            <a:pPr>
              <a:spcAft>
                <a:spcPts val="400"/>
              </a:spcAft>
              <a:defRPr sz="1500">
                <a:solidFill>
                  <a:srgbClr val="1A1A1A"/>
                </a:solidFill>
                <a:latin typeface="Menlo"/>
              </a:defRPr>
            </a:pPr>
            <a:r>
              <a:t>        pick T_i ∈ R with max π_i</a:t>
            </a:r>
          </a:p>
          <a:p>
            <a:pPr>
              <a:spcAft>
                <a:spcPts val="400"/>
              </a:spcAft>
              <a:defRPr sz="1500">
                <a:solidFill>
                  <a:srgbClr val="1A1A1A"/>
                </a:solidFill>
                <a:latin typeface="Menlo"/>
              </a:defRPr>
            </a:pPr>
            <a:r>
              <a:t>        for each node a with P_ia = 1:</a:t>
            </a:r>
          </a:p>
          <a:p>
            <a:pPr>
              <a:spcAft>
                <a:spcPts val="400"/>
              </a:spcAft>
              <a:defRPr sz="1500">
                <a:solidFill>
                  <a:srgbClr val="1A1A1A"/>
                </a:solidFill>
                <a:latin typeface="Menlo"/>
              </a:defRPr>
            </a:pPr>
            <a:r>
              <a:t>            M_ia ← max over T_j ∈ in_i of ( y_j + Σ_b e_jb c_ji^ba )</a:t>
            </a:r>
          </a:p>
          <a:p>
            <a:pPr>
              <a:spcAft>
                <a:spcPts val="400"/>
              </a:spcAft>
              <a:defRPr sz="1500">
                <a:solidFill>
                  <a:srgbClr val="1A1A1A"/>
                </a:solidFill>
                <a:latin typeface="Menlo"/>
              </a:defRPr>
            </a:pPr>
            <a:r>
              <a:t>            y(a) ← M_ia + t_ia · l</a:t>
            </a:r>
          </a:p>
          <a:p>
            <a:pPr>
              <a:spcAft>
                <a:spcPts val="400"/>
              </a:spcAft>
              <a:defRPr sz="1500">
                <a:solidFill>
                  <a:srgbClr val="1A1A1A"/>
                </a:solidFill>
                <a:latin typeface="Menlo"/>
              </a:defRPr>
            </a:pPr>
            <a:r>
              <a:t>        place T_i on arg-min_a y(a); release successors</a:t>
            </a:r>
          </a:p>
          <a:p>
            <a:pPr>
              <a:spcAft>
                <a:spcPts val="400"/>
              </a:spcAft>
              <a:defRPr sz="1500">
                <a:solidFill>
                  <a:srgbClr val="1A1A1A"/>
                </a:solidFill>
                <a:latin typeface="Menlo"/>
              </a:defRPr>
            </a:pPr>
            <a:r>
              <a:t>    if makespan &gt; t_max:  l ← l - δ</a:t>
            </a:r>
          </a:p>
          <a:p>
            <a:pPr>
              <a:spcAft>
                <a:spcPts val="400"/>
              </a:spcAft>
              <a:defRPr sz="1500">
                <a:solidFill>
                  <a:srgbClr val="1A1A1A"/>
                </a:solidFill>
                <a:latin typeface="Menlo"/>
              </a:defRPr>
            </a:pPr>
            <a:r>
              <a:t>until makespan ≤ t_max  or  l &lt; l_min</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one dependency-ordered pass per fraction level — O(nm) per pass, which is why it scales to 1000 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graphicFrame>
        <p:nvGraphicFramePr>
          <p:cNvPr id="6" name="Table 5"/>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Experiments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6" name="Picture 5" descr="perf_slack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pic>
        <p:nvPicPr>
          <p:cNvPr id="6" name="Picture 5" descr="perf_nodes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pic>
        <p:nvPicPr>
          <p:cNvPr id="6" name="Picture 5" descr="perf_task_size_accuracy.png"/>
          <p:cNvPicPr>
            <a:picLocks noChangeAspect="1"/>
          </p:cNvPicPr>
          <p:nvPr/>
        </p:nvPicPr>
        <p:blipFill>
          <a:blip r:embed="rId3"/>
          <a:stretch>
            <a:fillRect/>
          </a:stretch>
        </p:blipFill>
        <p:spPr>
          <a:xfrm>
            <a:off x="640080" y="1097280"/>
            <a:ext cx="6126480" cy="2505894"/>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a:t>
            </a:r>
          </a:p>
          <a:p>
            <a:pPr>
              <a:spcAft>
                <a:spcPts val="1000"/>
              </a:spcAft>
              <a:defRPr sz="1600">
                <a:solidFill>
                  <a:srgbClr val="1A1A1A"/>
                </a:solidFill>
              </a:defRPr>
            </a:pPr>
            <a:r>
              <a:t>•  The right panel prices the run: greedy answers in 0.15 s, rounding needs ~93 s, and the GA takes ~159 s for a worse score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pic>
        <p:nvPicPr>
          <p:cNvPr id="6" name="Picture 5" descr="perf_failure_accuracy.png"/>
          <p:cNvPicPr>
            <a:picLocks noChangeAspect="1"/>
          </p:cNvPicPr>
          <p:nvPr/>
        </p:nvPicPr>
        <p:blipFill>
          <a:blip r:embed="rId3"/>
          <a:stretch>
            <a:fillRect/>
          </a:stretch>
        </p:blipFill>
        <p:spPr>
          <a:xfrm>
            <a:off x="640080" y="1097280"/>
            <a:ext cx="6126480" cy="2503540"/>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pic>
        <p:nvPicPr>
          <p:cNvPr id="6" name="Picture 5" descr="perf_bandwidth_accuracy.png"/>
          <p:cNvPicPr>
            <a:picLocks noChangeAspect="1"/>
          </p:cNvPicPr>
          <p:nvPr/>
        </p:nvPicPr>
        <p:blipFill>
          <a:blip r:embed="rId3"/>
          <a:stretch>
            <a:fillRect/>
          </a:stretch>
        </p:blipFill>
        <p:spPr>
          <a:xfrm>
            <a:off x="640080" y="1097280"/>
            <a:ext cx="6126480" cy="2502365"/>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graphicFrame>
        <p:nvGraphicFramePr>
          <p:cNvPr id="6" name="Table 5"/>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6.  Paper 3 — the proposed research</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node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6" name="TextBox 5"/>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7" name="TextBox 6"/>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6" name="TextBox 5"/>
          <p:cNvSpPr txBox="1"/>
          <p:nvPr/>
        </p:nvSpPr>
        <p:spPr>
          <a:xfrm>
            <a:off x="640080" y="1371600"/>
            <a:ext cx="6035040" cy="5029200"/>
          </a:xfrm>
          <a:prstGeom prst="rect">
            <a:avLst/>
          </a:prstGeom>
          <a:noFill/>
        </p:spPr>
        <p:txBody>
          <a:bodyPr wrap="square">
            <a:spAutoFit/>
          </a:bodyPr>
          <a:lstStyle/>
          <a:p>
            <a:pPr>
              <a:spcAft>
                <a:spcPts val="1000"/>
              </a:spcAft>
              <a:defRPr sz="1800">
                <a:solidFill>
                  <a:srgbClr val="1A1A1A"/>
                </a:solidFill>
              </a:defRPr>
            </a:pPr>
            <a:r>
              <a:t>•  A machine dies with work still queued or running on it</a:t>
            </a:r>
          </a:p>
          <a:p>
            <a:pPr>
              <a:spcAft>
                <a:spcPts val="1000"/>
              </a:spcAft>
              <a:defRPr sz="1800">
                <a:solidFill>
                  <a:srgbClr val="1A1A1A"/>
                </a:solidFill>
              </a:defRPr>
            </a:pPr>
            <a:r>
              <a:t>•  The stranded tasks must move — that part is mandatory</a:t>
            </a:r>
          </a:p>
          <a:p>
            <a:pPr>
              <a:spcAft>
                <a:spcPts val="1000"/>
              </a:spcAft>
              <a:defRPr sz="1800">
                <a:solidFill>
                  <a:srgbClr val="1A1A1A"/>
                </a:solidFill>
              </a:defRPr>
            </a:pPr>
            <a:r>
              <a:t>•  But some neighbors may have to move too:</a:t>
            </a:r>
          </a:p>
          <a:p>
            <a:pPr>
              <a:spcAft>
                <a:spcPts val="1000"/>
              </a:spcAft>
              <a:defRPr sz="1600">
                <a:solidFill>
                  <a:srgbClr val="595959"/>
                </a:solidFill>
              </a:defRPr>
            </a:pPr>
            <a:r>
              <a:t>      – a task whose input now crosses a path too slow to serve it in time</a:t>
            </a:r>
          </a:p>
          <a:p>
            <a:pPr>
              <a:spcAft>
                <a:spcPts val="1000"/>
              </a:spcAft>
              <a:defRPr sz="1600">
                <a:solidFill>
                  <a:srgbClr val="595959"/>
                </a:solidFill>
              </a:defRPr>
            </a:pPr>
            <a:r>
              <a:t>      – a task that can no longer finish by the deadline if it stays</a:t>
            </a:r>
          </a:p>
          <a:p>
            <a:pPr>
              <a:spcAft>
                <a:spcPts val="1000"/>
              </a:spcAft>
              <a:defRPr sz="1800">
                <a:solidFill>
                  <a:srgbClr val="1A1A1A"/>
                </a:solidFill>
              </a:defRPr>
            </a:pPr>
            <a:r>
              <a:t>•  The invariant throughout: completed work never restarts, and tasks that are fine never move</a:t>
            </a:r>
          </a:p>
        </p:txBody>
      </p:sp>
      <p:sp>
        <p:nvSpPr>
          <p:cNvPr id="7" name="Rounded Rectangle 6"/>
          <p:cNvSpPr/>
          <p:nvPr/>
        </p:nvSpPr>
        <p:spPr>
          <a:xfrm>
            <a:off x="7132320" y="146304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Workflow runs under the initial schedule</a:t>
            </a:r>
          </a:p>
        </p:txBody>
      </p:sp>
      <p:cxnSp>
        <p:nvCxnSpPr>
          <p:cNvPr id="8" name="Connector 7"/>
          <p:cNvCxnSpPr/>
          <p:nvPr/>
        </p:nvCxnSpPr>
        <p:spPr>
          <a:xfrm>
            <a:off x="9235440" y="233172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132320" y="274320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A1A1A"/>
                </a:solidFill>
              </a:defRPr>
            </a:pPr>
            <a:r>
              <a:t>A node fails — its unfinished tasks are stranded</a:t>
            </a:r>
          </a:p>
        </p:txBody>
      </p:sp>
      <p:cxnSp>
        <p:nvCxnSpPr>
          <p:cNvPr id="10" name="Connector 9"/>
          <p:cNvCxnSpPr/>
          <p:nvPr/>
        </p:nvCxnSpPr>
        <p:spPr>
          <a:xfrm>
            <a:off x="9235440" y="361188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32320" y="402336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Repair only the affected region, then resume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Recovery cost = added makespan + tasks moved + data re-shipped</a:t>
            </a:r>
          </a:p>
          <a:p>
            <a:pPr>
              <a:spcAft>
                <a:spcPts val="1000"/>
              </a:spcAft>
              <a:defRPr sz="1900">
                <a:solidFill>
                  <a:srgbClr val="1A1A1A"/>
                </a:solidFill>
              </a:defRPr>
            </a:pPr>
            <a:r>
              <a:t>•  Added makespan — how much later the workflow finishes</a:t>
            </a:r>
          </a:p>
          <a:p>
            <a:pPr>
              <a:spcAft>
                <a:spcPts val="1000"/>
              </a:spcAft>
              <a:defRPr sz="1900">
                <a:solidFill>
                  <a:srgbClr val="1A1A1A"/>
                </a:solidFill>
              </a:defRPr>
            </a:pPr>
            <a:r>
              <a:t>•  Tasks moved — how many placements had to change</a:t>
            </a:r>
          </a:p>
          <a:p>
            <a:pPr>
              <a:spcAft>
                <a:spcPts val="1000"/>
              </a:spcAft>
              <a:defRPr sz="1900">
                <a:solidFill>
                  <a:srgbClr val="1A1A1A"/>
                </a:solidFill>
              </a:defRPr>
            </a:pPr>
            <a:r>
              <a:t>•  Data re-shipped — the bytes that must travel to the new machines</a:t>
            </a:r>
          </a:p>
          <a:p>
            <a:pPr>
              <a:spcAft>
                <a:spcPts val="1000"/>
              </a:spcAft>
              <a:defRPr sz="1900">
                <a:solidFill>
                  <a:srgbClr val="1A1A1A"/>
                </a:solidFill>
              </a:defRPr>
            </a:pPr>
            <a:r>
              <a:t>•  Minimized subject to the deadline and the accuracy</a:t>
            </a:r>
          </a:p>
          <a:p>
            <a:pPr>
              <a:spcAft>
                <a:spcPts val="1000"/>
              </a:spcAft>
              <a:defRPr sz="1700">
                <a:solidFill>
                  <a:srgbClr val="595959"/>
                </a:solidFill>
              </a:defRPr>
            </a:pPr>
            <a:r>
              <a:t>      – each term is measured separately in the evaluation</a:t>
            </a:r>
          </a:p>
        </p:txBody>
      </p:sp>
      <p:pic>
        <p:nvPicPr>
          <p:cNvPr id="7" name="Picture 6" descr="eq15.png"/>
          <p:cNvPicPr>
            <a:picLocks noChangeAspect="1"/>
          </p:cNvPicPr>
          <p:nvPr/>
        </p:nvPicPr>
        <p:blipFill>
          <a:blip r:embed="rId3"/>
          <a:stretch>
            <a:fillRect/>
          </a:stretch>
        </p:blipFill>
        <p:spPr>
          <a:xfrm>
            <a:off x="1097280" y="5029200"/>
            <a:ext cx="8272712" cy="25609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1.  Build the initial partition with any paper-1 scheduler — that part is already done</a:t>
            </a:r>
          </a:p>
          <a:p>
            <a:pPr>
              <a:spcAft>
                <a:spcPts val="1000"/>
              </a:spcAft>
              <a:defRPr sz="1800">
                <a:solidFill>
                  <a:srgbClr val="1A1A1A"/>
                </a:solidFill>
              </a:defRPr>
            </a:pPr>
            <a:r>
              <a:t>•  2.  Detect the failure and mark the tasks stranded on the failed node</a:t>
            </a:r>
          </a:p>
          <a:p>
            <a:pPr>
              <a:spcAft>
                <a:spcPts val="1000"/>
              </a:spcAft>
              <a:defRPr sz="1800">
                <a:solidFill>
                  <a:srgbClr val="1A1A1A"/>
                </a:solidFill>
              </a:defRPr>
            </a:pPr>
            <a:r>
              <a:t>•  3.  Grow the affected region: stranded tasks, plus any neighbor that fails a stay-test</a:t>
            </a:r>
          </a:p>
          <a:p>
            <a:pPr>
              <a:spcAft>
                <a:spcPts val="1000"/>
              </a:spcAft>
              <a:defRPr sz="1800">
                <a:solidFill>
                  <a:srgbClr val="1A1A1A"/>
                </a:solidFill>
              </a:defRPr>
            </a:pPr>
            <a:r>
              <a:t>•  4.  Choose replacement nodes by spare capacity and by distance to the parents and children</a:t>
            </a:r>
          </a:p>
          <a:p>
            <a:pPr>
              <a:spcAft>
                <a:spcPts val="1000"/>
              </a:spcAft>
              <a:defRPr sz="1800">
                <a:solidFill>
                  <a:srgbClr val="1A1A1A"/>
                </a:solidFill>
              </a:defRPr>
            </a:pPr>
            <a:r>
              <a:t>•  5.  Repartition only that region, under the recovery cost model</a:t>
            </a:r>
          </a:p>
          <a:p>
            <a:pPr>
              <a:spcAft>
                <a:spcPts val="1000"/>
              </a:spcAft>
              <a:defRPr sz="1800">
                <a:solidFill>
                  <a:srgbClr val="1A1A1A"/>
                </a:solidFill>
              </a:defRPr>
            </a:pPr>
            <a:r>
              <a:t>•  6.  Update only the communication paths that actually changed</a:t>
            </a:r>
          </a:p>
          <a:p>
            <a:pPr>
              <a:spcAft>
                <a:spcPts val="1000"/>
              </a:spcAft>
              <a:defRPr sz="1800">
                <a:solidFill>
                  <a:srgbClr val="1A1A1A"/>
                </a:solidFill>
              </a:defRPr>
            </a:pPr>
            <a:r>
              <a:t>•  7.  Resume the workflow from the last good point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only the affected region is re-planned — the rest of the schedule runs untouched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 — then grow the region only while a neighbor fails a stay-test:</a:t>
            </a:r>
          </a:p>
        </p:txBody>
      </p:sp>
      <p:sp>
        <p:nvSpPr>
          <p:cNvPr id="7" name="TextBox 6"/>
          <p:cNvSpPr txBox="1"/>
          <p:nvPr/>
        </p:nvSpPr>
        <p:spPr>
          <a:xfrm>
            <a:off x="1005840" y="1828800"/>
            <a:ext cx="10515600" cy="2011680"/>
          </a:xfrm>
          <a:prstGeom prst="rect">
            <a:avLst/>
          </a:prstGeom>
          <a:noFill/>
        </p:spPr>
        <p:txBody>
          <a:bodyPr wrap="square">
            <a:spAutoFit/>
          </a:bodyPr>
          <a:lstStyle/>
          <a:p>
            <a:pPr>
              <a:spcAft>
                <a:spcPts val="400"/>
              </a:spcAft>
              <a:defRPr sz="1400">
                <a:solidFill>
                  <a:srgbClr val="1A1A1A"/>
                </a:solidFill>
                <a:latin typeface="Menlo"/>
              </a:defRPr>
            </a:pPr>
            <a:r>
              <a:t>R ← {unfinished tasks on the failed node}</a:t>
            </a:r>
          </a:p>
          <a:p>
            <a:pPr>
              <a:spcAft>
                <a:spcPts val="400"/>
              </a:spcAft>
              <a:defRPr sz="1400">
                <a:solidFill>
                  <a:srgbClr val="1A1A1A"/>
                </a:solidFill>
                <a:latin typeface="Menlo"/>
              </a:defRPr>
            </a:pPr>
            <a:r>
              <a:t>repeat</a:t>
            </a:r>
          </a:p>
          <a:p>
            <a:pPr>
              <a:spcAft>
                <a:spcPts val="400"/>
              </a:spcAft>
              <a:defRPr sz="1400">
                <a:solidFill>
                  <a:srgbClr val="1A1A1A"/>
                </a:solidFill>
                <a:latin typeface="Menlo"/>
              </a:defRPr>
            </a:pPr>
            <a:r>
              <a:t>    for each neighbor T_i of R:</a:t>
            </a:r>
          </a:p>
          <a:p>
            <a:pPr>
              <a:spcAft>
                <a:spcPts val="400"/>
              </a:spcAft>
              <a:defRPr sz="1400">
                <a:solidFill>
                  <a:srgbClr val="1A1A1A"/>
                </a:solidFill>
                <a:latin typeface="Menlo"/>
              </a:defRPr>
            </a:pPr>
            <a:r>
              <a:t>        if staying misses the deadline        → admit T_i</a:t>
            </a:r>
          </a:p>
          <a:p>
            <a:pPr>
              <a:spcAft>
                <a:spcPts val="400"/>
              </a:spcAft>
              <a:defRPr sz="1400">
                <a:solidFill>
                  <a:srgbClr val="1A1A1A"/>
                </a:solidFill>
                <a:latin typeface="Menlo"/>
              </a:defRPr>
            </a:pPr>
            <a:r>
              <a:t>        if its input can’t arrive in time    → admit T_i</a:t>
            </a:r>
          </a:p>
          <a:p>
            <a:pPr>
              <a:spcAft>
                <a:spcPts val="400"/>
              </a:spcAft>
              <a:defRPr sz="1400">
                <a:solidFill>
                  <a:srgbClr val="1A1A1A"/>
                </a:solidFill>
                <a:latin typeface="Menlo"/>
              </a:defRPr>
            </a:pPr>
            <a:r>
              <a:t>until no neighbor fails a test  or  |R| = cap</a:t>
            </a:r>
          </a:p>
        </p:txBody>
      </p:sp>
      <p:sp>
        <p:nvSpPr>
          <p:cNvPr id="8" name="TextBox 7"/>
          <p:cNvSpPr txBox="1"/>
          <p:nvPr/>
        </p:nvSpPr>
        <p:spPr>
          <a:xfrm>
            <a:off x="640080" y="4206240"/>
            <a:ext cx="10972800" cy="5029200"/>
          </a:xfrm>
          <a:prstGeom prst="rect">
            <a:avLst/>
          </a:prstGeom>
          <a:noFill/>
        </p:spPr>
        <p:txBody>
          <a:bodyPr wrap="square">
            <a:spAutoFit/>
          </a:bodyPr>
          <a:lstStyle/>
          <a:p>
            <a:pPr>
              <a:spcAft>
                <a:spcPts val="1000"/>
              </a:spcAft>
              <a:defRPr sz="1900">
                <a:solidFill>
                  <a:srgbClr val="1A1A1A"/>
                </a:solidFill>
              </a:defRPr>
            </a:pPr>
            <a:r>
              <a:t>•  The tasks that stayed put become fixed anchors — their output arrival times enter the repair as constants</a:t>
            </a:r>
          </a:p>
          <a:p>
            <a:pPr>
              <a:spcAft>
                <a:spcPts val="1000"/>
              </a:spcAft>
              <a:defRPr sz="1900">
                <a:solidFill>
                  <a:srgbClr val="1A1A1A"/>
                </a:solidFill>
              </a:defRPr>
            </a:pPr>
            <a:r>
              <a:t>•  The minimality of R is the claim the experiments verify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node failure maps to the smallest affected region; only that region is repartitioned; only its paths update; the workflow resumes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novelty is the coupling: a failure in one graph becomes a small, well-defined repair in the other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7.  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Evaluation setup: baselines and metrics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graphicFrame>
        <p:nvGraphicFramePr>
          <p:cNvPr id="6" name="Table 5"/>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Factors and hypotheses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48</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What I will vary:</a:t>
            </a:r>
          </a:p>
          <a:p>
            <a:pPr>
              <a:spcAft>
                <a:spcPts val="1000"/>
              </a:spcAft>
              <a:defRPr sz="1600">
                <a:solidFill>
                  <a:srgbClr val="595959"/>
                </a:solidFill>
              </a:defRPr>
            </a:pPr>
            <a:r>
              <a:t>      – where the failure hits — a node on the critical path versus a peripheral one</a:t>
            </a:r>
          </a:p>
          <a:p>
            <a:pPr>
              <a:spcAft>
                <a:spcPts val="1000"/>
              </a:spcAft>
              <a:defRPr sz="1600">
                <a:solidFill>
                  <a:srgbClr val="595959"/>
                </a:solidFill>
              </a:defRPr>
            </a:pPr>
            <a:r>
              <a:t>      – how many nodes fail — one versus several at once</a:t>
            </a:r>
          </a:p>
          <a:p>
            <a:pPr>
              <a:spcAft>
                <a:spcPts val="1000"/>
              </a:spcAft>
              <a:defRPr sz="1600">
                <a:solidFill>
                  <a:srgbClr val="595959"/>
                </a:solidFill>
              </a:defRPr>
            </a:pPr>
            <a:r>
              <a:t>      – when it happens — how much deadline slack is left</a:t>
            </a:r>
          </a:p>
          <a:p>
            <a:pPr>
              <a:spcAft>
                <a:spcPts val="1000"/>
              </a:spcAft>
              <a:defRPr sz="1800">
                <a:solidFill>
                  <a:srgbClr val="1A1A1A"/>
                </a:solidFill>
              </a:defRPr>
            </a:pPr>
            <a:r>
              <a:t>•  Scale: workflows of 10–1,000 tasks on federations of 2–10 nodes, as in paper 2</a:t>
            </a:r>
          </a:p>
          <a:p>
            <a:pPr>
              <a:spcAft>
                <a:spcPts val="1000"/>
              </a:spcAft>
              <a:defRPr sz="1800">
                <a:solidFill>
                  <a:srgbClr val="1A1A1A"/>
                </a:solidFill>
              </a:defRPr>
            </a:pPr>
            <a:r>
              <a:t>•  Three falsifiable hypotheses:</a:t>
            </a:r>
          </a:p>
          <a:p>
            <a:pPr>
              <a:spcAft>
                <a:spcPts val="1000"/>
              </a:spcAft>
              <a:defRPr sz="1600">
                <a:solidFill>
                  <a:srgbClr val="595959"/>
                </a:solidFill>
              </a:defRPr>
            </a:pPr>
            <a:r>
              <a:t>      – H1 – recovery time grows with the affected region, not with the whole workflow</a:t>
            </a:r>
          </a:p>
          <a:p>
            <a:pPr>
              <a:spcAft>
                <a:spcPts val="1000"/>
              </a:spcAft>
              <a:defRPr sz="1600">
                <a:solidFill>
                  <a:srgbClr val="595959"/>
                </a:solidFill>
              </a:defRPr>
            </a:pPr>
            <a:r>
              <a:t>      – H2 – tasks moved and data re-shipped stay far below the baselines at equal feasibility</a:t>
            </a:r>
          </a:p>
          <a:p>
            <a:pPr>
              <a:spcAft>
                <a:spcPts val="1000"/>
              </a:spcAft>
              <a:defRPr sz="1600">
                <a:solidFill>
                  <a:srgbClr val="595959"/>
                </a:solidFill>
              </a:defRPr>
            </a:pPr>
            <a:r>
              <a:t>      – H3 – the repair stays near the exact solver's quality on small cases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49</a:t>
            </a:r>
          </a:p>
        </p:txBody>
      </p:sp>
      <p:graphicFrame>
        <p:nvGraphicFramePr>
          <p:cNvPr id="6" name="Table 5"/>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grow until it covers most of the workflow</a:t>
            </a:r>
          </a:p>
          <a:p>
            <a:pPr>
              <a:spcAft>
                <a:spcPts val="1000"/>
              </a:spcAft>
              <a:defRPr sz="1600">
                <a:solidFill>
                  <a:srgbClr val="595959"/>
                </a:solidFill>
              </a:defRPr>
            </a:pPr>
            <a:r>
              <a:t>      – then it is no better than repartitioning everything — the size cap prevents this, and the sensitivity study shows when it happens</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The region repair might fall short of the exact solver's quality</a:t>
            </a:r>
          </a:p>
          <a:p>
            <a:pPr>
              <a:spcAft>
                <a:spcPts val="1000"/>
              </a:spcAft>
              <a:defRPr sz="1600">
                <a:solidFill>
                  <a:srgbClr val="595959"/>
                </a:solidFill>
              </a:defRPr>
            </a:pPr>
            <a:r>
              <a:t>      – hybrid plan: greedy repair at scale, exact repair on small regions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CONCLUSION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Done — Papers 1 and 2: a proved, data-aware formulation, four schedulers on one cost model, and a reproducible platform</a:t>
            </a:r>
          </a:p>
          <a:p>
            <a:pPr>
              <a:spcAft>
                <a:spcPts val="1000"/>
              </a:spcAft>
              <a:defRPr sz="1800">
                <a:solidFill>
                  <a:srgbClr val="1A1A1A"/>
                </a:solidFill>
              </a:defRPr>
            </a:pPr>
            <a:r>
              <a:t>•  Proposed — RQ1: a boundary rule that finds the smallest part of the workflow a failure actually breaks</a:t>
            </a:r>
          </a:p>
          <a:p>
            <a:pPr>
              <a:spcAft>
                <a:spcPts val="1000"/>
              </a:spcAft>
              <a:defRPr sz="1800">
                <a:solidFill>
                  <a:srgbClr val="1A1A1A"/>
                </a:solidFill>
              </a:defRPr>
            </a:pPr>
            <a:r>
              <a:t>•  Proposed — RQ2: repartitioning that repairs only that region, under a recovery cost model</a:t>
            </a:r>
          </a:p>
          <a:p>
            <a:pPr>
              <a:spcAft>
                <a:spcPts val="1000"/>
              </a:spcAft>
              <a:defRPr sz="1800">
                <a:solidFill>
                  <a:srgbClr val="1A1A1A"/>
                </a:solidFill>
              </a:defRPr>
            </a:pPr>
            <a:r>
              <a:t>•  Proposed — RQ3: incremental updates to the communication paths, instead of recomputing them</a:t>
            </a:r>
          </a:p>
          <a:p>
            <a:pPr>
              <a:spcAft>
                <a:spcPts val="1000"/>
              </a:spcAft>
              <a:defRPr sz="1800">
                <a:solidFill>
                  <a:srgbClr val="1A1A1A"/>
                </a:solidFill>
              </a:defRPr>
            </a:pPr>
            <a:r>
              <a:t>•  Expected outcome: recovery that is faster and less disturbing than repartitioning everything, at near-reference quality</a:t>
            </a:r>
          </a:p>
          <a:p>
            <a:pPr>
              <a:spcAft>
                <a:spcPts val="400"/>
              </a:spcAft>
            </a:pPr>
          </a:p>
          <a:p>
            <a:pPr>
              <a:spcAft>
                <a:spcPts val="1000"/>
              </a:spcAft>
              <a:defRPr sz="1800">
                <a:solidFill>
                  <a:srgbClr val="1A1A1A"/>
                </a:solidFill>
              </a:defRPr>
            </a:pPr>
            <a:r>
              <a:t>•  Paper 1 placed the workflow; Paper 2 priced its data and its approximation; Paper 3 keeps it alive when the infrastructure fails.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