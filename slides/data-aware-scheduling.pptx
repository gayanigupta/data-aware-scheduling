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The talk has three parts: the problem and why it matters, the two papers that are already done, and the third piece of research I am proposing.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outline. The first half sets up the problem and the related work. The second half is the completed work and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scenario is a disaster 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last year, built the model and four schedulers for it. The second hardened it: it made the model data-aware, added an accuracy bound to score against, and stress-tested the whole thing. The third, which is what I am proposing today, asks what happens when a resource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by their upward rank and place each one where it will finish earliest. It is a very good algorithm, and the family around it — CPOP, PEFT, the cloud workflow work of Abrishami and of Yu and Buyya — refines the same idea. But all of them share three assumptions that do not hold here: tasks always run completely, transfers are just static edge weights, and the plan is fixed before execution starts.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the things that make fog hard: small capacities, heterogeneous machines, eligibility. Surveys like Mouradian's catalog the placement policies. What the literature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there is a whole graph literature on updating shortest paths incrementally after a graph change. None of it couples a node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And the last column — repairing only the affected region when a resource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let me pin the problem down — both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 a rounding scheme, a greedy, and a genetic algorithm —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I will show the schedulers,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MILP is the reference. LP rounding relaxes the integer choices, samples a machine per task, and re-solves the fractions. The greedy places ready tasks by earliest finish and retries with a smaller fraction when the deadline is missed. The genetic algorithm searches assignments and fractions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sweeps,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experiment: 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model was built for. Degrade every link down to five percent of nominal. The blind baseline reports bound-level scores at every level —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LP reaches a hundred thousand rows at a thousand tasks. The GA runs on one fixed budget. And the failure model is retry-once-in-place — no replication, no checkpointing, no migration.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I want to repartition and reschedule only the affected part — not the whole workflow — while keeping the recovery time, the moved tasks, and the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a recovery cost model, update only the affected communication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Minimality of that region is the claim we verify — I expect it to grow with failure location and remaining slack.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added makespan, tasks moved, bytes re-shipped.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 the naive upper bound on disturbance; greedy rescue — the cheapest possible repair; no repair at all — the quality floor; and the exact solver on small cases —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quarters: build, solve, evaluate, write. The deliverables land on the public repository, and the paper targets IPDPS or CCGrid.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554480"/>
            <a:ext cx="10698480" cy="237744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2000">
                <a:solidFill>
                  <a:srgbClr val="1A1A1A"/>
                </a:solidFill>
              </a:defRPr>
            </a:pPr>
            <a:r>
              <a:t>•  The setting and why it matters</a:t>
            </a:r>
          </a:p>
          <a:p>
            <a:pPr>
              <a:spcAft>
                <a:spcPts val="1000"/>
              </a:spcAft>
              <a:defRPr sz="2000">
                <a:solidFill>
                  <a:srgbClr val="1A1A1A"/>
                </a:solidFill>
              </a:defRPr>
            </a:pPr>
            <a:r>
              <a:t>•  What is already known, and the gap</a:t>
            </a:r>
          </a:p>
          <a:p>
            <a:pPr>
              <a:spcAft>
                <a:spcPts val="1000"/>
              </a:spcAft>
              <a:defRPr sz="2000">
                <a:solidFill>
                  <a:srgbClr val="1A1A1A"/>
                </a:solidFill>
              </a:defRPr>
            </a:pPr>
            <a:r>
              <a:t>•  The problem, stated precisely</a:t>
            </a:r>
          </a:p>
          <a:p>
            <a:pPr>
              <a:spcAft>
                <a:spcPts val="1000"/>
              </a:spcAft>
              <a:defRPr sz="2000">
                <a:solidFill>
                  <a:srgbClr val="1A1A1A"/>
                </a:solidFill>
              </a:defRPr>
            </a:pPr>
            <a:r>
              <a:t>•  Paper 1 – task allocation across federated fog (published, IEEE Cloud Summit 2025)</a:t>
            </a:r>
          </a:p>
          <a:p>
            <a:pPr>
              <a:spcAft>
                <a:spcPts val="1000"/>
              </a:spcAft>
              <a:defRPr sz="2000">
                <a:solidFill>
                  <a:srgbClr val="1A1A1A"/>
                </a:solidFill>
              </a:defRPr>
            </a:pPr>
            <a:r>
              <a:t>•  Paper 2 – data-aware scheduling with approximation (in revision, CCGrid 2027)</a:t>
            </a:r>
          </a:p>
          <a:p>
            <a:pPr>
              <a:spcAft>
                <a:spcPts val="1000"/>
              </a:spcAft>
              <a:defRPr sz="2000">
                <a:solidFill>
                  <a:srgbClr val="1A1A1A"/>
                </a:solidFill>
              </a:defRPr>
            </a:pPr>
            <a:r>
              <a:t>•  Paper 3 – what I am proposing: partial repartitioning after a resource fails</a:t>
            </a:r>
          </a:p>
          <a:p>
            <a:pPr>
              <a:spcAft>
                <a:spcPts val="1000"/>
              </a:spcAft>
              <a:defRPr sz="2000">
                <a:solidFill>
                  <a:srgbClr val="1A1A1A"/>
                </a:solidFill>
              </a:defRPr>
            </a:pPr>
            <a:r>
              <a:t>•  How I will evaluate it, the timeline, and what it contributes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The setting</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5" name="TextBox 4"/>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Nearby fog sites keep fast, stable links to each other even when the cloud uplink is gone</a:t>
            </a:r>
          </a:p>
          <a:p>
            <a:pPr>
              <a:spcAft>
                <a:spcPts val="1000"/>
              </a:spcAft>
              <a:defRPr sz="2000">
                <a:solidFill>
                  <a:srgbClr val="1A1A1A"/>
                </a:solidFill>
              </a:defRPr>
            </a:pPr>
            <a:r>
              <a:t>•  One site is rarely enough for the whole workflow; federating them creates a small local cloud</a:t>
            </a:r>
          </a:p>
          <a:p>
            <a:pPr>
              <a:spcAft>
                <a:spcPts val="1000"/>
              </a:spcAft>
              <a:defRPr sz="2000">
                <a:solidFill>
                  <a:srgbClr val="1A1A1A"/>
                </a:solidFill>
              </a:defRPr>
            </a:pPr>
            <a:r>
              <a:t>•  But now every task can run in many places, and wherever it runs, its input has to travel there first</a:t>
            </a:r>
          </a:p>
        </p:txBody>
      </p:sp>
      <p:pic>
        <p:nvPicPr>
          <p:cNvPr id="6" name="Picture 5"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7" name="TextBox 6"/>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resource fails mid-workflow</a:t>
            </a:r>
          </a:p>
          <a:p>
            <a:pPr>
              <a:spcAft>
                <a:spcPts val="1000"/>
              </a:spcAft>
              <a:defRPr sz="1800">
                <a:solidFill>
                  <a:srgbClr val="595959"/>
                </a:solidFill>
              </a:defRPr>
            </a:pPr>
            <a:r>
              <a:t>      – this proposal; the target is IPDPS or CCGrid 2028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What is already known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is the reference algorithm: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But all of them assume tasks run completely, transfers are static edge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graphicFrame>
        <p:nvGraphicFramePr>
          <p:cNvPr id="5" name="Table 4"/>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6" name="TextBox 5"/>
          <p:cNvSpPr txBox="1"/>
          <p:nvPr/>
        </p:nvSpPr>
        <p:spPr>
          <a:xfrm>
            <a:off x="640080" y="5120640"/>
            <a:ext cx="10972800" cy="1097280"/>
          </a:xfrm>
          <a:prstGeom prst="rect">
            <a:avLst/>
          </a:prstGeom>
          <a:noFill/>
        </p:spPr>
        <p:txBody>
          <a:bodyPr wrap="square">
            <a:spAutoFit/>
          </a:bodyPr>
          <a:lstStyle/>
          <a:p>
            <a:pPr>
              <a:defRPr sz="1900" b="1" i="0">
                <a:solidFill>
                  <a:srgbClr val="1A1A1A"/>
                </a:solidFill>
              </a:defRPr>
            </a:pPr>
            <a:r>
              <a:t>Nobody couples a resource failure to the smallest affected region of the workflow graph.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The problem, stated precisely</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The problem is NP-hard even on parallel machines, so the exact solver is a reference, not the product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1</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a unique assignment, respected precedence, a held deadline, and an optimum that is the maximum-accuracy feasible schedule</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2</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pic>
        <p:nvPicPr>
          <p:cNvPr id="5" name="Picture 4" descr="scheduling-pipeline.png"/>
          <p:cNvPicPr>
            <a:picLocks noChangeAspect="1"/>
          </p:cNvPicPr>
          <p:nvPr/>
        </p:nvPicPr>
        <p:blipFill>
          <a:blip r:embed="rId3"/>
          <a:stretch>
            <a:fillRect/>
          </a:stretch>
        </p:blipFill>
        <p:spPr>
          <a:xfrm>
            <a:off x="640080" y="1188720"/>
            <a:ext cx="6035040" cy="3688080"/>
          </a:xfrm>
          <a:prstGeom prst="rect">
            <a:avLst/>
          </a:prstGeom>
        </p:spPr>
      </p:pic>
      <p:sp>
        <p:nvSpPr>
          <p:cNvPr id="6" name="TextBox 5"/>
          <p:cNvSpPr txBox="1"/>
          <p:nvPr/>
        </p:nvSpPr>
        <p:spPr>
          <a:xfrm>
            <a:off x="7040880" y="1371600"/>
            <a:ext cx="4754880" cy="5029200"/>
          </a:xfrm>
          <a:prstGeom prst="rect">
            <a:avLst/>
          </a:prstGeom>
          <a:noFill/>
        </p:spPr>
        <p:txBody>
          <a:bodyPr wrap="square">
            <a:spAutoFit/>
          </a:bodyPr>
          <a:lstStyle/>
          <a:p>
            <a:pPr>
              <a:spcAft>
                <a:spcPts val="1000"/>
              </a:spcAft>
              <a:defRPr sz="1700">
                <a:solidFill>
                  <a:srgbClr val="1A1A1A"/>
                </a:solidFill>
              </a:defRPr>
            </a:pPr>
            <a:r>
              <a:t>•  The exact solver is the benchmark</a:t>
            </a:r>
          </a:p>
          <a:p>
            <a:pPr>
              <a:spcAft>
                <a:spcPts val="1000"/>
              </a:spcAft>
              <a:defRPr sz="1700">
                <a:solidFill>
                  <a:srgbClr val="1A1A1A"/>
                </a:solidFill>
              </a:defRPr>
            </a:pPr>
            <a:r>
              <a:t>•  LP rounding relaxes, samples a machine per task, re-solves the fractions</a:t>
            </a:r>
          </a:p>
          <a:p>
            <a:pPr>
              <a:spcAft>
                <a:spcPts val="1000"/>
              </a:spcAft>
              <a:defRPr sz="1700">
                <a:solidFill>
                  <a:srgbClr val="1A1A1A"/>
                </a:solidFill>
              </a:defRPr>
            </a:pPr>
            <a:r>
              <a:t>•  The greedy places ready tasks by earliest finish; on a deadline miss it lowers the fraction and retries</a:t>
            </a:r>
          </a:p>
          <a:p>
            <a:pPr>
              <a:spcAft>
                <a:spcPts val="1000"/>
              </a:spcAft>
              <a:defRPr sz="1700">
                <a:solidFill>
                  <a:srgbClr val="1A1A1A"/>
                </a:solidFill>
              </a:defRPr>
            </a:pPr>
            <a:r>
              <a:t>•  The GA searches assignments and fractions as one chromosome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graphicFrame>
        <p:nvGraphicFramePr>
          <p:cNvPr id="5" name="Table 4"/>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Sweeps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Deadline slack</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pic>
        <p:nvPicPr>
          <p:cNvPr id="5" name="Picture 4" descr="perf_slack_accuracy.png"/>
          <p:cNvPicPr>
            <a:picLocks noChangeAspect="1"/>
          </p:cNvPicPr>
          <p:nvPr/>
        </p:nvPicPr>
        <p:blipFill>
          <a:blip r:embed="rId3"/>
          <a:stretch>
            <a:fillRect/>
          </a:stretch>
        </p:blipFill>
        <p:spPr>
          <a:xfrm>
            <a:off x="640080" y="1097280"/>
            <a:ext cx="6126480" cy="450918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Federation size</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pic>
        <p:nvPicPr>
          <p:cNvPr id="5" name="Picture 4" descr="perf_nodes_accuracy.png"/>
          <p:cNvPicPr>
            <a:picLocks noChangeAspect="1"/>
          </p:cNvPicPr>
          <p:nvPr/>
        </p:nvPicPr>
        <p:blipFill>
          <a:blip r:embed="rId3"/>
          <a:stretch>
            <a:fillRect/>
          </a:stretch>
        </p:blipFill>
        <p:spPr>
          <a:xfrm>
            <a:off x="640080" y="1097280"/>
            <a:ext cx="6126480" cy="450476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Workflow size</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pic>
        <p:nvPicPr>
          <p:cNvPr id="5" name="Picture 4" descr="perf_task_size_accuracy.png"/>
          <p:cNvPicPr>
            <a:picLocks noChangeAspect="1"/>
          </p:cNvPicPr>
          <p:nvPr/>
        </p:nvPicPr>
        <p:blipFill>
          <a:blip r:embed="rId3"/>
          <a:stretch>
            <a:fillRect/>
          </a:stretch>
        </p:blipFill>
        <p:spPr>
          <a:xfrm>
            <a:off x="640080" y="1097280"/>
            <a:ext cx="6126480" cy="450476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 in 0.15 s</a:t>
            </a:r>
          </a:p>
          <a:p>
            <a:pPr>
              <a:spcAft>
                <a:spcPts val="1000"/>
              </a:spcAft>
              <a:defRPr sz="1600">
                <a:solidFill>
                  <a:srgbClr val="1A1A1A"/>
                </a:solidFill>
              </a:defRPr>
            </a:pPr>
            <a:r>
              <a:t>•  Rounding needs ~93 s per re-solve; the GA drops to 1.10 in ~159 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Task failures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pic>
        <p:nvPicPr>
          <p:cNvPr id="5" name="Picture 4" descr="perf_failure_accuracy.png"/>
          <p:cNvPicPr>
            <a:picLocks noChangeAspect="1"/>
          </p:cNvPicPr>
          <p:nvPr/>
        </p:nvPicPr>
        <p:blipFill>
          <a:blip r:embed="rId3"/>
          <a:stretch>
            <a:fillRect/>
          </a:stretch>
        </p:blipFill>
        <p:spPr>
          <a:xfrm>
            <a:off x="640080" y="1097280"/>
            <a:ext cx="6126480" cy="2357547"/>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and keeps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Link degradation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pic>
        <p:nvPicPr>
          <p:cNvPr id="5" name="Picture 4" descr="perf_bandwidth_accuracy.png"/>
          <p:cNvPicPr>
            <a:picLocks noChangeAspect="1"/>
          </p:cNvPicPr>
          <p:nvPr/>
        </p:nvPicPr>
        <p:blipFill>
          <a:blip r:embed="rId3"/>
          <a:stretch>
            <a:fillRect/>
          </a:stretch>
        </p:blipFill>
        <p:spPr>
          <a:xfrm>
            <a:off x="640080" y="1097280"/>
            <a:ext cx="6126480" cy="2353197"/>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graphicFrame>
        <p:nvGraphicFramePr>
          <p:cNvPr id="5" name="Table 4"/>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6" name="Connector 5"/>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10¹⁴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3 — the proposal</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resource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sp>
        <p:nvSpPr>
          <p:cNvPr id="5" name="TextBox 4"/>
          <p:cNvSpPr txBox="1"/>
          <p:nvPr/>
        </p:nvSpPr>
        <p:spPr>
          <a:xfrm>
            <a:off x="640080" y="1280160"/>
            <a:ext cx="10972800" cy="109728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6" name="TextBox 5"/>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A machine dies with work still queued or running on it</a:t>
            </a:r>
          </a:p>
          <a:p>
            <a:pPr>
              <a:spcAft>
                <a:spcPts val="1000"/>
              </a:spcAft>
              <a:defRPr sz="2000">
                <a:solidFill>
                  <a:srgbClr val="1A1A1A"/>
                </a:solidFill>
              </a:defRPr>
            </a:pPr>
            <a:r>
              <a:t>•  The stranded tasks must move — that part is mandatory</a:t>
            </a:r>
          </a:p>
          <a:p>
            <a:pPr>
              <a:spcAft>
                <a:spcPts val="1000"/>
              </a:spcAft>
              <a:defRPr sz="2000">
                <a:solidFill>
                  <a:srgbClr val="1A1A1A"/>
                </a:solidFill>
              </a:defRPr>
            </a:pPr>
            <a:r>
              <a:t>•  But some neighbors may have to move too:</a:t>
            </a:r>
          </a:p>
          <a:p>
            <a:pPr>
              <a:spcAft>
                <a:spcPts val="1000"/>
              </a:spcAft>
              <a:defRPr sz="1800">
                <a:solidFill>
                  <a:srgbClr val="595959"/>
                </a:solidFill>
              </a:defRPr>
            </a:pPr>
            <a:r>
              <a:t>      – a task whose input now crosses a path too slow to serve it in time</a:t>
            </a:r>
          </a:p>
          <a:p>
            <a:pPr>
              <a:spcAft>
                <a:spcPts val="1000"/>
              </a:spcAft>
              <a:defRPr sz="1800">
                <a:solidFill>
                  <a:srgbClr val="595959"/>
                </a:solidFill>
              </a:defRPr>
            </a:pPr>
            <a:r>
              <a:t>      – a task that can no longer finish by the deadline if it stays</a:t>
            </a:r>
          </a:p>
          <a:p>
            <a:pPr>
              <a:spcAft>
                <a:spcPts val="1000"/>
              </a:spcAft>
              <a:defRPr sz="2000">
                <a:solidFill>
                  <a:srgbClr val="1A1A1A"/>
                </a:solidFill>
              </a:defRPr>
            </a:pPr>
            <a:r>
              <a:t>•  The invariant throughout: completed work never restarts, and tasks that are fine never move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1.  Make the initial partition (any paper-1 scheduler)</a:t>
            </a:r>
          </a:p>
          <a:p>
            <a:pPr>
              <a:spcAft>
                <a:spcPts val="1000"/>
              </a:spcAft>
              <a:defRPr sz="2000">
                <a:solidFill>
                  <a:srgbClr val="1A1A1A"/>
                </a:solidFill>
              </a:defRPr>
            </a:pPr>
            <a:r>
              <a:t>•  2.  Detect the failure</a:t>
            </a:r>
          </a:p>
          <a:p>
            <a:pPr>
              <a:spcAft>
                <a:spcPts val="1000"/>
              </a:spcAft>
              <a:defRPr sz="2000">
                <a:solidFill>
                  <a:srgbClr val="1A1A1A"/>
                </a:solidFill>
              </a:defRPr>
            </a:pPr>
            <a:r>
              <a:t>•  3.  Isolate the affected region — stranded tasks plus neighbors that fail a stay-test</a:t>
            </a:r>
          </a:p>
          <a:p>
            <a:pPr>
              <a:spcAft>
                <a:spcPts val="1000"/>
              </a:spcAft>
              <a:defRPr sz="2000">
                <a:solidFill>
                  <a:srgbClr val="1A1A1A"/>
                </a:solidFill>
              </a:defRPr>
            </a:pPr>
            <a:r>
              <a:t>•  4.  Pick replacement machines by capacity and distance to where the parents and children live</a:t>
            </a:r>
          </a:p>
          <a:p>
            <a:pPr>
              <a:spcAft>
                <a:spcPts val="1000"/>
              </a:spcAft>
              <a:defRPr sz="2000">
                <a:solidFill>
                  <a:srgbClr val="1A1A1A"/>
                </a:solidFill>
              </a:defRPr>
            </a:pPr>
            <a:r>
              <a:t>•  5.  Repartition only that region under the recovery cost model</a:t>
            </a:r>
          </a:p>
          <a:p>
            <a:pPr>
              <a:spcAft>
                <a:spcPts val="1000"/>
              </a:spcAft>
              <a:defRPr sz="2000">
                <a:solidFill>
                  <a:srgbClr val="1A1A1A"/>
                </a:solidFill>
              </a:defRPr>
            </a:pPr>
            <a:r>
              <a:t>•  6.  Update only the affected communication paths</a:t>
            </a:r>
          </a:p>
          <a:p>
            <a:pPr>
              <a:spcAft>
                <a:spcPts val="1000"/>
              </a:spcAft>
              <a:defRPr sz="2000">
                <a:solidFill>
                  <a:srgbClr val="1A1A1A"/>
                </a:solidFill>
              </a:defRPr>
            </a:pPr>
            <a:r>
              <a:t>•  7.  Resume from the last good point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a:t>
            </a:r>
          </a:p>
          <a:p>
            <a:pPr>
              <a:spcAft>
                <a:spcPts val="1000"/>
              </a:spcAft>
              <a:defRPr sz="2000">
                <a:solidFill>
                  <a:srgbClr val="1A1A1A"/>
                </a:solidFill>
              </a:defRPr>
            </a:pPr>
            <a:r>
              <a:t>•  Then admit a neighbor only while it fails a stay-test:</a:t>
            </a:r>
          </a:p>
          <a:p>
            <a:pPr>
              <a:spcAft>
                <a:spcPts val="1000"/>
              </a:spcAft>
              <a:defRPr sz="1800">
                <a:solidFill>
                  <a:srgbClr val="595959"/>
                </a:solidFill>
              </a:defRPr>
            </a:pPr>
            <a:r>
              <a:t>      – deadline test – staying pushes its finish time past the remaining slack</a:t>
            </a:r>
          </a:p>
          <a:p>
            <a:pPr>
              <a:spcAft>
                <a:spcPts val="1000"/>
              </a:spcAft>
              <a:defRPr sz="1800">
                <a:solidFill>
                  <a:srgbClr val="595959"/>
                </a:solidFill>
              </a:defRPr>
            </a:pPr>
            <a:r>
              <a:t>      – locality test – staying strands its input on a path too slow to serve it in time</a:t>
            </a:r>
          </a:p>
          <a:p>
            <a:pPr>
              <a:spcAft>
                <a:spcPts val="1000"/>
              </a:spcAft>
              <a:defRPr sz="2000">
                <a:solidFill>
                  <a:srgbClr val="1A1A1A"/>
                </a:solidFill>
              </a:defRPr>
            </a:pPr>
            <a:r>
              <a:t>•  Stop when no neighbor fails, or at a size cap</a:t>
            </a:r>
          </a:p>
          <a:p>
            <a:pPr>
              <a:spcAft>
                <a:spcPts val="1000"/>
              </a:spcAft>
              <a:defRPr sz="2000">
                <a:solidFill>
                  <a:srgbClr val="1A1A1A"/>
                </a:solidFill>
              </a:defRPr>
            </a:pPr>
            <a:r>
              <a:t>•  The tasks that stayed put become fixed anchors the repair must respect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The objective minimizes added makespan plus tasks moved plus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machine failure maps to the smallest affected region; only that region is repartitioned; only its paths update; the workflow resumes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Baselines and metrics</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graphicFrame>
        <p:nvGraphicFramePr>
          <p:cNvPr id="5" name="Table 4"/>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6" name="Connector 5"/>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What I will vary, and what I expect</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Failure injection:</a:t>
            </a:r>
          </a:p>
          <a:p>
            <a:pPr>
              <a:spcAft>
                <a:spcPts val="1000"/>
              </a:spcAft>
              <a:defRPr sz="1600">
                <a:solidFill>
                  <a:srgbClr val="595959"/>
                </a:solidFill>
              </a:defRPr>
            </a:pPr>
            <a:r>
              <a:t>      – where – a machine on the critical path vs. a peripheral one</a:t>
            </a:r>
          </a:p>
          <a:p>
            <a:pPr>
              <a:spcAft>
                <a:spcPts val="1000"/>
              </a:spcAft>
              <a:defRPr sz="1600">
                <a:solidFill>
                  <a:srgbClr val="595959"/>
                </a:solidFill>
              </a:defRPr>
            </a:pPr>
            <a:r>
              <a:t>      – how many – one machine vs. several at once</a:t>
            </a:r>
          </a:p>
          <a:p>
            <a:pPr>
              <a:spcAft>
                <a:spcPts val="1000"/>
              </a:spcAft>
              <a:defRPr sz="1600">
                <a:solidFill>
                  <a:srgbClr val="595959"/>
                </a:solidFill>
              </a:defRPr>
            </a:pPr>
            <a:r>
              <a:t>      – when – how much deadline slack is left</a:t>
            </a:r>
          </a:p>
          <a:p>
            <a:pPr>
              <a:spcAft>
                <a:spcPts val="1000"/>
              </a:spcAft>
              <a:defRPr sz="1800">
                <a:solidFill>
                  <a:srgbClr val="1A1A1A"/>
                </a:solidFill>
              </a:defRPr>
            </a:pPr>
            <a:r>
              <a:t>•  Scale: workflows of 10–1000 tasks, federations of 2–10 machines</a:t>
            </a:r>
          </a:p>
          <a:p>
            <a:pPr>
              <a:spcAft>
                <a:spcPts val="1000"/>
              </a:spcAft>
              <a:defRPr sz="1800">
                <a:solidFill>
                  <a:srgbClr val="1A1A1A"/>
                </a:solidFill>
              </a:defRPr>
            </a:pPr>
            <a:r>
              <a:t>•  Hypotheses:</a:t>
            </a:r>
          </a:p>
          <a:p>
            <a:pPr>
              <a:spcAft>
                <a:spcPts val="1000"/>
              </a:spcAft>
              <a:defRPr sz="1600">
                <a:solidFill>
                  <a:srgbClr val="595959"/>
                </a:solidFill>
              </a:defRPr>
            </a:pPr>
            <a:r>
              <a:t>      – H1 – recovery time grows with the region, not the whole workflow</a:t>
            </a:r>
          </a:p>
          <a:p>
            <a:pPr>
              <a:spcAft>
                <a:spcPts val="1000"/>
              </a:spcAft>
              <a:defRPr sz="1600">
                <a:solidFill>
                  <a:srgbClr val="595959"/>
                </a:solidFill>
              </a:defRPr>
            </a:pPr>
            <a:r>
              <a:t>      – H2 – tasks moved and data re-shipped are far below the baselines at equal feasibility</a:t>
            </a:r>
          </a:p>
          <a:p>
            <a:pPr>
              <a:spcAft>
                <a:spcPts val="1000"/>
              </a:spcAft>
              <a:defRPr sz="1600">
                <a:solidFill>
                  <a:srgbClr val="595959"/>
                </a:solidFill>
              </a:defRPr>
            </a:pPr>
            <a:r>
              <a:t>      – H3 – repair quality stays near the exact reference on small cases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Twelve-month plan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graphicFrame>
        <p:nvGraphicFramePr>
          <p:cNvPr id="5" name="Table 4"/>
          <p:cNvGraphicFramePr>
            <a:graphicFrameLocks noGrp="1"/>
          </p:cNvGraphicFramePr>
          <p:nvPr/>
        </p:nvGraphicFramePr>
        <p:xfrm>
          <a:off x="822960" y="1280160"/>
          <a:ext cx="10515600" cy="4023360"/>
        </p:xfrm>
        <a:graphic>
          <a:graphicData uri="http://schemas.openxmlformats.org/drawingml/2006/table">
            <a:tbl>
              <a:tblPr firstRow="1" bandRow="1">
                <a:tableStyleId>{5C22544A-7EE6-4342-B048-85BDC9FD1C3A}</a:tableStyleId>
              </a:tblPr>
              <a:tblGrid>
                <a:gridCol w="1280160"/>
                <a:gridCol w="6400800"/>
                <a:gridCol w="2834640"/>
              </a:tblGrid>
              <a:tr h="804672">
                <a:tc>
                  <a:txBody>
                    <a:bodyPr wrap="square"/>
                    <a:lstStyle/>
                    <a:p>
                      <a:pPr>
                        <a:defRPr sz="1400" b="1">
                          <a:solidFill>
                            <a:srgbClr val="1A1A1A"/>
                          </a:solidFill>
                        </a:defRPr>
                      </a:pPr>
                      <a:r>
                        <a:t>Months</a:t>
                      </a:r>
                    </a:p>
                  </a:txBody>
                  <a:tcPr marT="50800" marB="50800" marL="101600" marR="101600">
                    <a:solidFill>
                      <a:srgbClr val="E8E8E8"/>
                    </a:solidFill>
                  </a:tcPr>
                </a:tc>
                <a:tc>
                  <a:txBody>
                    <a:bodyPr wrap="square"/>
                    <a:lstStyle/>
                    <a:p>
                      <a:pPr>
                        <a:defRPr sz="1400" b="1">
                          <a:solidFill>
                            <a:srgbClr val="1A1A1A"/>
                          </a:solidFill>
                        </a:defRPr>
                      </a:pPr>
                      <a:r>
                        <a:t>Milestone</a:t>
                      </a:r>
                    </a:p>
                  </a:txBody>
                  <a:tcPr marT="50800" marB="50800" marL="101600" marR="101600">
                    <a:solidFill>
                      <a:srgbClr val="E8E8E8"/>
                    </a:solidFill>
                  </a:tcPr>
                </a:tc>
                <a:tc>
                  <a:txBody>
                    <a:bodyPr wrap="square"/>
                    <a:lstStyle/>
                    <a:p>
                      <a:pPr>
                        <a:defRPr sz="1400" b="1">
                          <a:solidFill>
                            <a:srgbClr val="1A1A1A"/>
                          </a:solidFill>
                        </a:defRPr>
                      </a:pPr>
                      <a:r>
                        <a:t>Deliverable</a:t>
                      </a:r>
                    </a:p>
                  </a:txBody>
                  <a:tcPr marT="50800" marB="50800" marL="101600" marR="101600">
                    <a:solidFill>
                      <a:srgbClr val="E8E8E8"/>
                    </a:solidFill>
                  </a:tcPr>
                </a:tc>
              </a:tr>
              <a:tr h="804672">
                <a:tc>
                  <a:txBody>
                    <a:bodyPr wrap="square"/>
                    <a:lstStyle/>
                    <a:p>
                      <a:pPr>
                        <a:defRPr sz="1400" b="0">
                          <a:solidFill>
                            <a:srgbClr val="1A1A1A"/>
                          </a:solidFill>
                        </a:defRPr>
                      </a:pPr>
                      <a:r>
                        <a:t>1–3</a:t>
                      </a:r>
                    </a:p>
                  </a:txBody>
                  <a:tcPr marT="50800" marB="50800" marL="101600" marR="101600">
                    <a:solidFill>
                      <a:srgbClr val="FFFFFF"/>
                    </a:solidFill>
                  </a:tcPr>
                </a:tc>
                <a:tc>
                  <a:txBody>
                    <a:bodyPr wrap="square"/>
                    <a:lstStyle/>
                    <a:p>
                      <a:pPr>
                        <a:defRPr sz="1400" b="0">
                          <a:solidFill>
                            <a:srgbClr val="1A1A1A"/>
                          </a:solidFill>
                        </a:defRPr>
                      </a:pPr>
                      <a:r>
                        <a:t>Extend the simulator to machine failures; the boundary rule and region extraction; the complete-repartition baseline</a:t>
                      </a:r>
                    </a:p>
                  </a:txBody>
                  <a:tcPr marT="50800" marB="50800" marL="101600" marR="101600">
                    <a:solidFill>
                      <a:srgbClr val="FFFFFF"/>
                    </a:solidFill>
                  </a:tcPr>
                </a:tc>
                <a:tc>
                  <a:txBody>
                    <a:bodyPr wrap="square"/>
                    <a:lstStyle/>
                    <a:p>
                      <a:pPr>
                        <a:defRPr sz="1400" b="0">
                          <a:solidFill>
                            <a:srgbClr val="1A1A1A"/>
                          </a:solidFill>
                        </a:defRPr>
                      </a:pPr>
                      <a:r>
                        <a:t>RQ1 done; baseline working</a:t>
                      </a:r>
                    </a:p>
                  </a:txBody>
                  <a:tcPr marT="50800" marB="50800" marL="101600" marR="101600">
                    <a:solidFill>
                      <a:srgbClr val="FFFFFF"/>
                    </a:solidFill>
                  </a:tcPr>
                </a:tc>
              </a:tr>
              <a:tr h="804672">
                <a:tc>
                  <a:txBody>
                    <a:bodyPr wrap="square"/>
                    <a:lstStyle/>
                    <a:p>
                      <a:pPr>
                        <a:defRPr sz="1400" b="0">
                          <a:solidFill>
                            <a:srgbClr val="1A1A1A"/>
                          </a:solidFill>
                        </a:defRPr>
                      </a:pPr>
                      <a:r>
                        <a:t>4–6</a:t>
                      </a:r>
                    </a:p>
                  </a:txBody>
                  <a:tcPr marT="50800" marB="50800" marL="101600" marR="101600">
                    <a:solidFill>
                      <a:srgbClr val="FFFFFF"/>
                    </a:solidFill>
                  </a:tcPr>
                </a:tc>
                <a:tc>
                  <a:txBody>
                    <a:bodyPr wrap="square"/>
                    <a:lstStyle/>
                    <a:p>
                      <a:pPr>
                        <a:defRPr sz="1400" b="0">
                          <a:solidFill>
                            <a:srgbClr val="1A1A1A"/>
                          </a:solidFill>
                        </a:defRPr>
                      </a:pPr>
                      <a:r>
                        <a:t>The repartition algorithm and replacement selection; incremental path updates</a:t>
                      </a:r>
                    </a:p>
                  </a:txBody>
                  <a:tcPr marT="50800" marB="50800" marL="101600" marR="101600">
                    <a:solidFill>
                      <a:srgbClr val="FFFFFF"/>
                    </a:solidFill>
                  </a:tcPr>
                </a:tc>
                <a:tc>
                  <a:txBody>
                    <a:bodyPr wrap="square"/>
                    <a:lstStyle/>
                    <a:p>
                      <a:pPr>
                        <a:defRPr sz="1400" b="0">
                          <a:solidFill>
                            <a:srgbClr val="1A1A1A"/>
                          </a:solidFill>
                        </a:defRPr>
                      </a:pPr>
                      <a:r>
                        <a:t>RQ2 and RQ3 done</a:t>
                      </a:r>
                    </a:p>
                  </a:txBody>
                  <a:tcPr marT="50800" marB="50800" marL="101600" marR="101600">
                    <a:solidFill>
                      <a:srgbClr val="FFFFFF"/>
                    </a:solidFill>
                  </a:tcPr>
                </a:tc>
              </a:tr>
              <a:tr h="804672">
                <a:tc>
                  <a:txBody>
                    <a:bodyPr wrap="square"/>
                    <a:lstStyle/>
                    <a:p>
                      <a:pPr>
                        <a:defRPr sz="1400" b="0">
                          <a:solidFill>
                            <a:srgbClr val="1A1A1A"/>
                          </a:solidFill>
                        </a:defRPr>
                      </a:pPr>
                      <a:r>
                        <a:t>7–9</a:t>
                      </a:r>
                    </a:p>
                  </a:txBody>
                  <a:tcPr marT="50800" marB="50800" marL="101600" marR="101600">
                    <a:solidFill>
                      <a:srgbClr val="FFFFFF"/>
                    </a:solidFill>
                  </a:tcPr>
                </a:tc>
                <a:tc>
                  <a:txBody>
                    <a:bodyPr wrap="square"/>
                    <a:lstStyle/>
                    <a:p>
                      <a:pPr>
                        <a:defRPr sz="1400" b="0">
                          <a:solidFill>
                            <a:srgbClr val="1A1A1A"/>
                          </a:solidFill>
                        </a:defRPr>
                      </a:pPr>
                      <a:r>
                        <a:t>Full baseline comparison; exact reference on small cases; boundary sensitivity</a:t>
                      </a:r>
                    </a:p>
                  </a:txBody>
                  <a:tcPr marT="50800" marB="50800" marL="101600" marR="101600">
                    <a:solidFill>
                      <a:srgbClr val="FFFFFF"/>
                    </a:solidFill>
                  </a:tcPr>
                </a:tc>
                <a:tc>
                  <a:txBody>
                    <a:bodyPr wrap="square"/>
                    <a:lstStyle/>
                    <a:p>
                      <a:pPr>
                        <a:defRPr sz="1400" b="0">
                          <a:solidFill>
                            <a:srgbClr val="1A1A1A"/>
                          </a:solidFill>
                        </a:defRPr>
                      </a:pPr>
                      <a:r>
                        <a:t>H1–H3 tested</a:t>
                      </a:r>
                    </a:p>
                  </a:txBody>
                  <a:tcPr marT="50800" marB="50800" marL="101600" marR="101600">
                    <a:solidFill>
                      <a:srgbClr val="FFFFFF"/>
                    </a:solidFill>
                  </a:tcPr>
                </a:tc>
              </a:tr>
              <a:tr h="804672">
                <a:tc>
                  <a:txBody>
                    <a:bodyPr wrap="square"/>
                    <a:lstStyle/>
                    <a:p>
                      <a:pPr>
                        <a:defRPr sz="1400" b="0">
                          <a:solidFill>
                            <a:srgbClr val="1A1A1A"/>
                          </a:solidFill>
                        </a:defRPr>
                      </a:pPr>
                      <a:r>
                        <a:t>10–12</a:t>
                      </a:r>
                    </a:p>
                  </a:txBody>
                  <a:tcPr marT="50800" marB="50800" marL="101600" marR="101600">
                    <a:solidFill>
                      <a:srgbClr val="FFFFFF"/>
                    </a:solidFill>
                  </a:tcPr>
                </a:tc>
                <a:tc>
                  <a:txBody>
                    <a:bodyPr wrap="square"/>
                    <a:lstStyle/>
                    <a:p>
                      <a:pPr>
                        <a:defRPr sz="1400" b="0">
                          <a:solidFill>
                            <a:srgbClr val="1A1A1A"/>
                          </a:solidFill>
                        </a:defRPr>
                      </a:pPr>
                      <a:r>
                        <a:t>Write the paper; release the code publicly; submit</a:t>
                      </a:r>
                    </a:p>
                  </a:txBody>
                  <a:tcPr marT="50800" marB="50800" marL="101600" marR="101600">
                    <a:solidFill>
                      <a:srgbClr val="FFFFFF"/>
                    </a:solidFill>
                  </a:tcPr>
                </a:tc>
                <a:tc>
                  <a:txBody>
                    <a:bodyPr wrap="square"/>
                    <a:lstStyle/>
                    <a:p>
                      <a:pPr>
                        <a:defRPr sz="1400" b="0">
                          <a:solidFill>
                            <a:srgbClr val="1A1A1A"/>
                          </a:solidFill>
                        </a:defRPr>
                      </a:pPr>
                      <a:r>
                        <a:t>Paper and artifact</a:t>
                      </a:r>
                    </a:p>
                  </a:txBody>
                  <a:tcPr marT="50800" marB="50800" marL="101600" marR="101600">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degenerate into 'repartition everything'</a:t>
            </a:r>
          </a:p>
          <a:p>
            <a:pPr>
              <a:spcAft>
                <a:spcPts val="1000"/>
              </a:spcAft>
              <a:defRPr sz="1600">
                <a:solidFill>
                  <a:srgbClr val="595959"/>
                </a:solidFill>
              </a:defRPr>
            </a:pPr>
            <a:r>
              <a:t>      – the size cap is enforced, and the sensitivity study measures it against failure location and slack</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Region repair might trail the exact solver's quality</a:t>
            </a:r>
          </a:p>
          <a:p>
            <a:pPr>
              <a:spcAft>
                <a:spcPts val="1000"/>
              </a:spcAft>
              <a:defRPr sz="1600">
                <a:solidFill>
                  <a:srgbClr val="595959"/>
                </a:solidFill>
              </a:defRPr>
            </a:pPr>
            <a:r>
              <a:t>      – hybrid strategy: greedy repair at scale, exact repair where the region is small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3" name="Connector 2"/>
          <p:cNvCxnSpPr/>
          <p:nvPr/>
        </p:nvCxnSpPr>
        <p:spPr>
          <a:xfrm>
            <a:off x="502920" y="960120"/>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Already done: a proved, data-aware formulation, four schedulers on one cost model, and a reproducible platform (Papers 1 and 2)</a:t>
            </a:r>
          </a:p>
          <a:p>
            <a:pPr>
              <a:spcAft>
                <a:spcPts val="1000"/>
              </a:spcAft>
              <a:defRPr sz="1900">
                <a:solidFill>
                  <a:srgbClr val="1A1A1A"/>
                </a:solidFill>
              </a:defRPr>
            </a:pPr>
            <a:r>
              <a:t>•  Proposed: a boundary rule for the smallest affected region (RQ1)</a:t>
            </a:r>
          </a:p>
          <a:p>
            <a:pPr>
              <a:spcAft>
                <a:spcPts val="1000"/>
              </a:spcAft>
              <a:defRPr sz="1900">
                <a:solidFill>
                  <a:srgbClr val="1A1A1A"/>
                </a:solidFill>
              </a:defRPr>
            </a:pPr>
            <a:r>
              <a:t>•  Proposed: minimal-region repartitioning under a recovery cost model (RQ2)</a:t>
            </a:r>
          </a:p>
          <a:p>
            <a:pPr>
              <a:spcAft>
                <a:spcPts val="1000"/>
              </a:spcAft>
              <a:defRPr sz="1900">
                <a:solidFill>
                  <a:srgbClr val="1A1A1A"/>
                </a:solidFill>
              </a:defRPr>
            </a:pPr>
            <a:r>
              <a:t>•  Proposed: incremental path updates for workflow recovery (RQ3)</a:t>
            </a:r>
          </a:p>
          <a:p>
            <a:pPr>
              <a:spcAft>
                <a:spcPts val="1000"/>
              </a:spcAft>
              <a:defRPr sz="1900">
                <a:solidFill>
                  <a:srgbClr val="1A1A1A"/>
                </a:solidFill>
              </a:defRPr>
            </a:pPr>
            <a:r>
              <a:t>•  Expected outcome: recovery that is faster and less disturbing than a complete repartition, at near-reference quality</a:t>
            </a:r>
          </a:p>
          <a:p>
            <a:pPr>
              <a:spcAft>
                <a:spcPts val="400"/>
              </a:spcAft>
            </a:pPr>
          </a:p>
          <a:p>
            <a:pPr>
              <a:spcAft>
                <a:spcPts val="1000"/>
              </a:spcAft>
              <a:defRPr sz="1900">
                <a:solidFill>
                  <a:srgbClr val="1A1A1A"/>
                </a:solidFill>
              </a:defRPr>
            </a:pPr>
            <a:r>
              <a:t>•  Paper 1 placed the workflow; Paper 2 priced its data and approximation; Paper 3 keeps it alive when the infrastructure fails.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